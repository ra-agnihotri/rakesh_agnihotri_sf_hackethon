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4F4D71-06F4-43B3-91E5-1DD22C7CDD02}" v="1" dt="2026-09-24T13:28:57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nihotri, Rakesh" userId="8dd44590-97b5-4aa1-98f2-be1463d72c91" providerId="ADAL" clId="{5C3C4490-F9DE-4D5F-98C8-97C272C52062}"/>
    <pc:docChg chg="custSel addSld modSld">
      <pc:chgData name="Agnihotri, Rakesh" userId="8dd44590-97b5-4aa1-98f2-be1463d72c91" providerId="ADAL" clId="{5C3C4490-F9DE-4D5F-98C8-97C272C52062}" dt="2026-09-24T13:28:57.514" v="20" actId="27636"/>
      <pc:docMkLst>
        <pc:docMk/>
      </pc:docMkLst>
      <pc:sldChg chg="modSp mod">
        <pc:chgData name="Agnihotri, Rakesh" userId="8dd44590-97b5-4aa1-98f2-be1463d72c91" providerId="ADAL" clId="{5C3C4490-F9DE-4D5F-98C8-97C272C52062}" dt="2026-09-24T13:28:57.490" v="12" actId="27636"/>
        <pc:sldMkLst>
          <pc:docMk/>
          <pc:sldMk cId="0" sldId="256"/>
        </pc:sldMkLst>
        <pc:spChg chg="mod">
          <ac:chgData name="Agnihotri, Rakesh" userId="8dd44590-97b5-4aa1-98f2-be1463d72c91" providerId="ADAL" clId="{5C3C4490-F9DE-4D5F-98C8-97C272C52062}" dt="2026-09-24T13:28:57.490" v="12" actId="2763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Agnihotri, Rakesh" userId="8dd44590-97b5-4aa1-98f2-be1463d72c91" providerId="ADAL" clId="{5C3C4490-F9DE-4D5F-98C8-97C272C52062}" dt="2026-09-24T13:28:57.498" v="15" actId="27636"/>
        <pc:sldMkLst>
          <pc:docMk/>
          <pc:sldMk cId="0" sldId="257"/>
        </pc:sldMkLst>
        <pc:spChg chg="mod">
          <ac:chgData name="Agnihotri, Rakesh" userId="8dd44590-97b5-4aa1-98f2-be1463d72c91" providerId="ADAL" clId="{5C3C4490-F9DE-4D5F-98C8-97C272C52062}" dt="2026-09-24T13:28:57.497" v="13" actId="276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gnihotri, Rakesh" userId="8dd44590-97b5-4aa1-98f2-be1463d72c91" providerId="ADAL" clId="{5C3C4490-F9DE-4D5F-98C8-97C272C52062}" dt="2026-09-24T13:28:57.498" v="15" actId="2763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Agnihotri, Rakesh" userId="8dd44590-97b5-4aa1-98f2-be1463d72c91" providerId="ADAL" clId="{5C3C4490-F9DE-4D5F-98C8-97C272C52062}" dt="2026-09-24T13:28:57.498" v="14" actId="27636"/>
          <ac:spMkLst>
            <pc:docMk/>
            <pc:sldMk cId="0" sldId="257"/>
            <ac:spMk id="25" creationId="{00000000-0000-0000-0000-000000000000}"/>
          </ac:spMkLst>
        </pc:spChg>
      </pc:sldChg>
      <pc:sldChg chg="addSp delSp modSp mod">
        <pc:chgData name="Agnihotri, Rakesh" userId="8dd44590-97b5-4aa1-98f2-be1463d72c91" providerId="ADAL" clId="{5C3C4490-F9DE-4D5F-98C8-97C272C52062}" dt="2026-09-24T13:28:57.507" v="19" actId="27636"/>
        <pc:sldMkLst>
          <pc:docMk/>
          <pc:sldMk cId="0" sldId="258"/>
        </pc:sldMkLst>
        <pc:spChg chg="mod">
          <ac:chgData name="Agnihotri, Rakesh" userId="8dd44590-97b5-4aa1-98f2-be1463d72c91" providerId="ADAL" clId="{5C3C4490-F9DE-4D5F-98C8-97C272C52062}" dt="2026-09-24T13:28:57.503" v="16" actId="276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gnihotri, Rakesh" userId="8dd44590-97b5-4aa1-98f2-be1463d72c91" providerId="ADAL" clId="{5C3C4490-F9DE-4D5F-98C8-97C272C52062}" dt="2026-09-24T13:28:57.506" v="18" actId="2763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gnihotri, Rakesh" userId="8dd44590-97b5-4aa1-98f2-be1463d72c91" providerId="ADAL" clId="{5C3C4490-F9DE-4D5F-98C8-97C272C52062}" dt="2026-09-24T13:28:57.505" v="17" actId="2763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gnihotri, Rakesh" userId="8dd44590-97b5-4aa1-98f2-be1463d72c91" providerId="ADAL" clId="{5C3C4490-F9DE-4D5F-98C8-97C272C52062}" dt="2026-09-24T13:28:57.507" v="19" actId="27636"/>
          <ac:spMkLst>
            <pc:docMk/>
            <pc:sldMk cId="0" sldId="258"/>
            <ac:spMk id="22" creationId="{00000000-0000-0000-0000-000000000000}"/>
          </ac:spMkLst>
        </pc:spChg>
        <pc:picChg chg="add del mod">
          <ac:chgData name="Agnihotri, Rakesh" userId="8dd44590-97b5-4aa1-98f2-be1463d72c91" providerId="ADAL" clId="{5C3C4490-F9DE-4D5F-98C8-97C272C52062}" dt="2026-09-24T12:14:22.384" v="9" actId="478"/>
          <ac:picMkLst>
            <pc:docMk/>
            <pc:sldMk cId="0" sldId="258"/>
            <ac:picMk id="30" creationId="{6A1CA0F4-9F60-B0FD-209C-964809E51C3B}"/>
          </ac:picMkLst>
        </pc:picChg>
      </pc:sldChg>
      <pc:sldChg chg="modSp mod">
        <pc:chgData name="Agnihotri, Rakesh" userId="8dd44590-97b5-4aa1-98f2-be1463d72c91" providerId="ADAL" clId="{5C3C4490-F9DE-4D5F-98C8-97C272C52062}" dt="2026-09-24T13:28:57.514" v="20" actId="27636"/>
        <pc:sldMkLst>
          <pc:docMk/>
          <pc:sldMk cId="0" sldId="259"/>
        </pc:sldMkLst>
        <pc:spChg chg="mod">
          <ac:chgData name="Agnihotri, Rakesh" userId="8dd44590-97b5-4aa1-98f2-be1463d72c91" providerId="ADAL" clId="{5C3C4490-F9DE-4D5F-98C8-97C272C52062}" dt="2026-09-24T13:28:57.514" v="20" actId="27636"/>
          <ac:spMkLst>
            <pc:docMk/>
            <pc:sldMk cId="0" sldId="259"/>
            <ac:spMk id="21" creationId="{00000000-0000-0000-0000-000000000000}"/>
          </ac:spMkLst>
        </pc:spChg>
      </pc:sldChg>
      <pc:sldChg chg="modSp mod">
        <pc:chgData name="Agnihotri, Rakesh" userId="8dd44590-97b5-4aa1-98f2-be1463d72c91" providerId="ADAL" clId="{5C3C4490-F9DE-4D5F-98C8-97C272C52062}" dt="2026-09-24T13:28:57.481" v="11" actId="27636"/>
        <pc:sldMkLst>
          <pc:docMk/>
          <pc:sldMk cId="0" sldId="261"/>
        </pc:sldMkLst>
        <pc:spChg chg="mod">
          <ac:chgData name="Agnihotri, Rakesh" userId="8dd44590-97b5-4aa1-98f2-be1463d72c91" providerId="ADAL" clId="{5C3C4490-F9DE-4D5F-98C8-97C272C52062}" dt="2026-09-24T13:28:57.481" v="11" actId="27636"/>
          <ac:spMkLst>
            <pc:docMk/>
            <pc:sldMk cId="0" sldId="261"/>
            <ac:spMk id="30" creationId="{00000000-0000-0000-0000-000000000000}"/>
          </ac:spMkLst>
        </pc:spChg>
      </pc:sldChg>
      <pc:sldChg chg="add">
        <pc:chgData name="Agnihotri, Rakesh" userId="8dd44590-97b5-4aa1-98f2-be1463d72c91" providerId="ADAL" clId="{5C3C4490-F9DE-4D5F-98C8-97C272C52062}" dt="2026-09-24T13:28:57.352" v="10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SOLUTION_ARCHITECTURE.md and TECHNICAL_ARCHITECTURE.md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SOLUTION_ARCHITECTURE.md: sections 2, 3, 7 and 9; TECHNICAL_ARCHITECTURE.md: section 1.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SOLUTION_ARCHITECTURE.md: section 4; TECHNICAL_ARCHITECTURE.md: sections 3, 5 and 6.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SOLUTION_ARCHITECTURE.md: section 5; TECHNICAL_ARCHITECTURE.md: section 7.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SOLUTION_ARCHITECTURE.md: section 6; TECHNICAL_ARCHITECTURE.md: sections 9 and 10.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reference slide: Multilingual voice 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SOLUTION_ARCHITECTURE.md: sections 7 and 8.
- TECHNICAL_ARCHITECTURE.md: sections 8 and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C2F3"/>
          </a:solidFill>
          <a:ln w="12700">
            <a:solidFill>
              <a:srgbClr val="25C2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9A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AI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644652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9A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Overview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C2F3"/>
          </a:solidFill>
          <a:ln w="12700">
            <a:solidFill>
              <a:srgbClr val="25C2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94B0"/>
                </a:solidFill>
              </a:rPr>
              <a:t>INSURANCE AI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894B0"/>
                </a:solidFill>
              </a:rPr>
              <a:t>CAPGEMINI • SNOWFLAKE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894B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6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E95B7F1F5CA3_01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4">
              <a:alpha val="72000"/>
            </a:srgbClr>
          </a:solidFill>
          <a:ln w="12700">
            <a:solidFill>
              <a:srgbClr val="020A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02920" y="502920"/>
            <a:ext cx="5623560" cy="5440680"/>
          </a:xfrm>
          <a:prstGeom prst="roundRect">
            <a:avLst>
              <a:gd name="adj" fmla="val 1345"/>
            </a:avLst>
          </a:prstGeom>
          <a:solidFill>
            <a:srgbClr val="061426">
              <a:alpha val="90000"/>
            </a:srgbClr>
          </a:solidFill>
          <a:ln w="15240">
            <a:solidFill>
              <a:srgbClr val="25C2F3">
                <a:alpha val="4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2296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C2F3"/>
                </a:solidFill>
              </a:rPr>
              <a:t>INSURANCE AI HUB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13258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AI-native insurance intelligence, built on Snowflake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822960" y="26334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DF6FF"/>
                </a:solidFill>
              </a:rPr>
              <a:t>Solution &amp; Technical 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2186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AB1C8"/>
                </a:solidFill>
              </a:rPr>
              <a:t>Conversational analytics • Multi-agent orchestration • Governed data • Real-time automation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224528"/>
            <a:ext cx="1225296" cy="329184"/>
          </a:xfrm>
          <a:prstGeom prst="roundRect">
            <a:avLst>
              <a:gd name="adj" fmla="val 22222"/>
            </a:avLst>
          </a:prstGeom>
          <a:solidFill>
            <a:srgbClr val="25C2F3">
              <a:alpha val="18000"/>
            </a:srgbClr>
          </a:solidFill>
          <a:ln w="12700">
            <a:solidFill>
              <a:srgbClr val="25C2F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96112" y="428853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 Agents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57984" y="4224528"/>
            <a:ext cx="1389888" cy="329184"/>
          </a:xfrm>
          <a:prstGeom prst="roundRect">
            <a:avLst>
              <a:gd name="adj" fmla="val 22222"/>
            </a:avLst>
          </a:prstGeom>
          <a:solidFill>
            <a:srgbClr val="8B7CFF">
              <a:alpha val="18000"/>
            </a:srgbClr>
          </a:solidFill>
          <a:ln w="12700">
            <a:solidFill>
              <a:srgbClr val="8B7C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231136" y="428853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 Semantic Views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0" y="4224528"/>
            <a:ext cx="1389888" cy="329184"/>
          </a:xfrm>
          <a:prstGeom prst="roundRect">
            <a:avLst>
              <a:gd name="adj" fmla="val 22222"/>
            </a:avLst>
          </a:prstGeom>
          <a:solidFill>
            <a:srgbClr val="44D6A2">
              <a:alpha val="18000"/>
            </a:srgbClr>
          </a:solidFill>
          <a:ln w="12700">
            <a:solidFill>
              <a:srgbClr val="44D6A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730752" y="428853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14-page UI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2960" y="4956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B1C8"/>
                </a:solidFill>
              </a:rPr>
              <a:t>Executive architecture narrative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5303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F6FF"/>
                </a:solidFill>
              </a:rPr>
              <a:t>24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5C2F3"/>
                </a:solidFill>
              </a:rPr>
              <a:t>01 • PLATFORM BLUEPRINT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End-to-end solution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B1C8"/>
                </a:solidFill>
              </a:rPr>
              <a:t>A governed intelligence stack connecting business experiences to Snowflake-native AI and data services.</a:t>
            </a:r>
            <a:endParaRPr lang="en-US" sz="1200" dirty="0"/>
          </a:p>
        </p:txBody>
      </p:sp>
      <p:pic>
        <p:nvPicPr>
          <p:cNvPr id="5" name="Image 0" descr="/mnt/data/generated_image_E95B7F1F5CA3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1627632"/>
            <a:ext cx="678942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645920"/>
            <a:ext cx="3127248" cy="4507992"/>
          </a:xfrm>
          <a:prstGeom prst="roundRect">
            <a:avLst>
              <a:gd name="adj" fmla="val 1754"/>
            </a:avLst>
          </a:prstGeom>
          <a:solidFill>
            <a:srgbClr val="0B213B">
              <a:alpha val="96000"/>
            </a:srgbClr>
          </a:solidFill>
          <a:ln w="1270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869680" y="1947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Architecture at a glance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851392" y="2523744"/>
            <a:ext cx="164592" cy="164592"/>
          </a:xfrm>
          <a:prstGeom prst="ellipse">
            <a:avLst/>
          </a:prstGeom>
          <a:solidFill>
            <a:srgbClr val="25C2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125712" y="25054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F6FF"/>
                </a:solidFill>
              </a:rPr>
              <a:t>Experience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85832" y="250545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9AB1C8"/>
                </a:solidFill>
              </a:rPr>
              <a:t>React dashboard + CoWork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851392" y="3072384"/>
            <a:ext cx="164592" cy="164592"/>
          </a:xfrm>
          <a:prstGeom prst="ellipse">
            <a:avLst/>
          </a:prstGeom>
          <a:solidFill>
            <a:srgbClr val="8B7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125712" y="30540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F6FF"/>
                </a:solidFill>
              </a:rPr>
              <a:t>Intelligence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085832" y="30540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9AB1C8"/>
                </a:solidFill>
              </a:rPr>
              <a:t>5 Cortex Agents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851392" y="3621024"/>
            <a:ext cx="164592" cy="164592"/>
          </a:xfrm>
          <a:prstGeom prst="ellipse">
            <a:avLst/>
          </a:prstGeom>
          <a:solidFill>
            <a:srgbClr val="44D6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125712" y="36027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F6FF"/>
                </a:solidFill>
              </a:rPr>
              <a:t>Grounding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085832" y="36027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9AB1C8"/>
                </a:solidFill>
              </a:rPr>
              <a:t>5 semantic views + RAG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851392" y="4169664"/>
            <a:ext cx="164592" cy="164592"/>
          </a:xfrm>
          <a:prstGeom prst="ellipse">
            <a:avLst/>
          </a:prstGeom>
          <a:solidFill>
            <a:srgbClr val="FFBD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125712" y="4151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F6FF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085832" y="41513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9AB1C8"/>
                </a:solidFill>
              </a:rPr>
              <a:t>Analytics, documents, DQ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851392" y="4718304"/>
            <a:ext cx="164592" cy="164592"/>
          </a:xfrm>
          <a:prstGeom prst="ellipse">
            <a:avLst/>
          </a:prstGeom>
          <a:solidFill>
            <a:srgbClr val="25C2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9125712" y="470001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F6FF"/>
                </a:solidFill>
              </a:rPr>
              <a:t>Automation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085832" y="47000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9AB1C8"/>
                </a:solidFill>
              </a:rPr>
              <a:t>Streams, tasks, alert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851392" y="5266944"/>
            <a:ext cx="164592" cy="164592"/>
          </a:xfrm>
          <a:prstGeom prst="ellipse">
            <a:avLst/>
          </a:prstGeom>
          <a:solidFill>
            <a:srgbClr val="44D6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9125712" y="52486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DF6FF"/>
                </a:solidFill>
              </a:rPr>
              <a:t>Guardrails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085832" y="524865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9AB1C8"/>
                </a:solidFill>
              </a:rPr>
              <a:t>RBAC, masking, cost controls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851392" y="5623560"/>
            <a:ext cx="2487168" cy="347472"/>
          </a:xfrm>
          <a:prstGeom prst="roundRect">
            <a:avLst>
              <a:gd name="adj" fmla="val 13158"/>
            </a:avLst>
          </a:prstGeom>
          <a:solidFill>
            <a:srgbClr val="25C2F3">
              <a:alpha val="22000"/>
            </a:srgbClr>
          </a:solidFill>
          <a:ln w="12700">
            <a:solidFill>
              <a:srgbClr val="25C2F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8979408" y="5715000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Single governed Snowflake platform</a:t>
            </a:r>
            <a:endParaRPr lang="en-US" sz="9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5C2F3"/>
                </a:solidFill>
              </a:rPr>
              <a:t>02 • INTELLIGENT ORCHESTRATION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Multi-agent routing and grounded response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B1C8"/>
                </a:solidFill>
              </a:rPr>
              <a:t>Natural-language requests are routed to the right analytical, search, visualization or enterprise action tool.</a:t>
            </a:r>
            <a:endParaRPr lang="en-US" sz="1200" dirty="0"/>
          </a:p>
        </p:txBody>
      </p:sp>
      <p:pic>
        <p:nvPicPr>
          <p:cNvPr id="5" name="Image 0" descr="/mnt/data/generated_image_E95B7F1F5CA3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572768"/>
            <a:ext cx="692658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600200"/>
            <a:ext cx="3246120" cy="4572000"/>
          </a:xfrm>
          <a:prstGeom prst="roundRect">
            <a:avLst>
              <a:gd name="adj" fmla="val 1690"/>
            </a:avLst>
          </a:prstGeom>
          <a:solidFill>
            <a:srgbClr val="0B213B">
              <a:alpha val="97000"/>
            </a:srgbClr>
          </a:solidFill>
          <a:ln w="1270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77824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Routing logic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741664" y="2340864"/>
            <a:ext cx="256032" cy="256032"/>
          </a:xfrm>
          <a:prstGeom prst="ellipse">
            <a:avLst/>
          </a:prstGeom>
          <a:solidFill>
            <a:srgbClr val="25C2F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426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25712" y="23591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F6FF"/>
                </a:solidFill>
              </a:rPr>
              <a:t>Operations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131552" y="23591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AB1C8"/>
                </a:solidFill>
              </a:rPr>
              <a:t>customers, claims, billing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8741664" y="2889504"/>
            <a:ext cx="256032" cy="256032"/>
          </a:xfrm>
          <a:prstGeom prst="ellipse">
            <a:avLst/>
          </a:prstGeom>
          <a:solidFill>
            <a:srgbClr val="44D6A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426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25712" y="29077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F6FF"/>
                </a:solidFill>
              </a:rPr>
              <a:t>Data quality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131552" y="2907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AB1C8"/>
                </a:solidFill>
              </a:rPr>
              <a:t>scores, rules, root cause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741664" y="3438144"/>
            <a:ext cx="256032" cy="256032"/>
          </a:xfrm>
          <a:prstGeom prst="ellipse">
            <a:avLst/>
          </a:prstGeom>
          <a:solidFill>
            <a:srgbClr val="8B7C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426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25712" y="34564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F6FF"/>
                </a:solidFill>
              </a:rPr>
              <a:t>Documents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131552" y="3456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AB1C8"/>
                </a:solidFill>
              </a:rPr>
              <a:t>policy search via RAG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8741664" y="3986784"/>
            <a:ext cx="256032" cy="256032"/>
          </a:xfrm>
          <a:prstGeom prst="ellipse">
            <a:avLst/>
          </a:prstGeom>
          <a:solidFill>
            <a:srgbClr val="FFBD5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426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25712" y="40050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F6FF"/>
                </a:solidFill>
              </a:rPr>
              <a:t>Market &amp; pricing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131552" y="4005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AB1C8"/>
                </a:solidFill>
              </a:rPr>
              <a:t>trends, benchmarks, scenarios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8741664" y="4535424"/>
            <a:ext cx="256032" cy="256032"/>
          </a:xfrm>
          <a:prstGeom prst="ellipse">
            <a:avLst/>
          </a:prstGeom>
          <a:solidFill>
            <a:srgbClr val="25C2F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426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25712" y="455371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F6FF"/>
                </a:solidFill>
              </a:rPr>
              <a:t>Product matching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131552" y="4553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AB1C8"/>
                </a:solidFill>
              </a:rPr>
              <a:t>eligibility + recommendations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8741664" y="5084064"/>
            <a:ext cx="256032" cy="256032"/>
          </a:xfrm>
          <a:prstGeom prst="ellipse">
            <a:avLst/>
          </a:prstGeom>
          <a:solidFill>
            <a:srgbClr val="44D6A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426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125712" y="51023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F6FF"/>
                </a:solidFill>
              </a:rPr>
              <a:t>Actions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131552" y="51023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AB1C8"/>
                </a:solidFill>
              </a:rPr>
              <a:t>charts and Jira via MCP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8778240" y="57150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C2F3"/>
                </a:solidFill>
              </a:rPr>
              <a:t>Outcome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555480" y="5669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Grounded answer with source citations and tool trace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5C2F3"/>
                </a:solidFill>
              </a:rPr>
              <a:t>03 • EVENT-DRIVEN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Data flow, CDC automation and operational signals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B1C8"/>
                </a:solidFill>
              </a:rPr>
              <a:t>Batch and real-time change events drive fraud flagging, data-quality scoring, alerts and auditable outcomes.</a:t>
            </a:r>
            <a:endParaRPr lang="en-US" sz="1200" dirty="0"/>
          </a:p>
        </p:txBody>
      </p:sp>
      <p:pic>
        <p:nvPicPr>
          <p:cNvPr id="5" name="Image 0" descr="/mnt/data/generated_image_E95B7F1F5CA3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1581912"/>
            <a:ext cx="692658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33688" y="1600200"/>
            <a:ext cx="2743200" cy="4572000"/>
          </a:xfrm>
          <a:prstGeom prst="roundRect">
            <a:avLst>
              <a:gd name="adj" fmla="val 2000"/>
            </a:avLst>
          </a:prstGeom>
          <a:solidFill>
            <a:srgbClr val="0B213B">
              <a:alpha val="98000"/>
            </a:srgbClr>
          </a:solidFill>
          <a:ln w="1270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217152" y="1874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Automation controls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217152" y="2395728"/>
            <a:ext cx="2148840" cy="621792"/>
          </a:xfrm>
          <a:prstGeom prst="roundRect">
            <a:avLst>
              <a:gd name="adj" fmla="val 7353"/>
            </a:avLst>
          </a:prstGeom>
          <a:solidFill>
            <a:srgbClr val="25C2F3">
              <a:alpha val="14000"/>
            </a:srgbClr>
          </a:solidFill>
          <a:ln w="12700">
            <a:solidFill>
              <a:srgbClr val="25C2F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390888" y="24871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streams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03536" y="247802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AB1C8"/>
                </a:solidFill>
              </a:rPr>
              <a:t>Claims, document chunks, DQ results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9217152" y="3182112"/>
            <a:ext cx="2148840" cy="621792"/>
          </a:xfrm>
          <a:prstGeom prst="roundRect">
            <a:avLst>
              <a:gd name="adj" fmla="val 7353"/>
            </a:avLst>
          </a:prstGeom>
          <a:solidFill>
            <a:srgbClr val="8B7CFF">
              <a:alpha val="14000"/>
            </a:srgbClr>
          </a:solidFill>
          <a:ln w="12700">
            <a:solidFill>
              <a:srgbClr val="8B7C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390888" y="32735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tasks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03536" y="326440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AB1C8"/>
                </a:solidFill>
              </a:rPr>
              <a:t>1 scheduled + 2 triggered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9217152" y="3968496"/>
            <a:ext cx="2148840" cy="621792"/>
          </a:xfrm>
          <a:prstGeom prst="roundRect">
            <a:avLst>
              <a:gd name="adj" fmla="val 7353"/>
            </a:avLst>
          </a:prstGeom>
          <a:solidFill>
            <a:srgbClr val="FFBD59">
              <a:alpha val="14000"/>
            </a:srgbClr>
          </a:solidFill>
          <a:ln w="12700">
            <a:solidFill>
              <a:srgbClr val="FFBD5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390888" y="405993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alert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03536" y="405079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AB1C8"/>
                </a:solidFill>
              </a:rPr>
              <a:t>DQ score threshold below 70%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9217152" y="4754880"/>
            <a:ext cx="2148840" cy="621792"/>
          </a:xfrm>
          <a:prstGeom prst="roundRect">
            <a:avLst>
              <a:gd name="adj" fmla="val 7353"/>
            </a:avLst>
          </a:prstGeom>
          <a:solidFill>
            <a:srgbClr val="44D6A2">
              <a:alpha val="14000"/>
            </a:srgbClr>
          </a:solidFill>
          <a:ln w="12700">
            <a:solidFill>
              <a:srgbClr val="44D6A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390888" y="48463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 trail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03536" y="483717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AB1C8"/>
                </a:solidFill>
              </a:rPr>
              <a:t>Agent and automation events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9217152" y="5623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C2F3"/>
                </a:solidFill>
              </a:rPr>
              <a:t>Operating model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131552" y="55961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DDF6FF"/>
                </a:solidFill>
              </a:rPr>
              <a:t>Detect → score → escalate → log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5C2F3"/>
                </a:solidFill>
              </a:rPr>
              <a:t>04 • TRUST BY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Security, governance and cost-control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B1C8"/>
                </a:solidFill>
              </a:rPr>
              <a:t>Protection is embedded across identity, role hierarchy, sensitive fields, monitoring and platform consumption.</a:t>
            </a:r>
            <a:endParaRPr lang="en-US" sz="1200" dirty="0"/>
          </a:p>
        </p:txBody>
      </p:sp>
      <p:pic>
        <p:nvPicPr>
          <p:cNvPr id="5" name="Image 0" descr="/mnt/data/generated_image_E95B7F1F5CA3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591056"/>
            <a:ext cx="6830568" cy="45537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22792" y="1618488"/>
            <a:ext cx="3044952" cy="4526280"/>
          </a:xfrm>
          <a:prstGeom prst="roundRect">
            <a:avLst>
              <a:gd name="adj" fmla="val 1802"/>
            </a:avLst>
          </a:prstGeom>
          <a:solidFill>
            <a:srgbClr val="0B213B">
              <a:alpha val="98000"/>
            </a:srgbClr>
          </a:solidFill>
          <a:ln w="1270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924544" y="18836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Control framework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42832" y="23957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C2F3"/>
                </a:solidFill>
              </a:rPr>
              <a:t>Access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765792" y="2395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F6FF"/>
                </a:solidFill>
              </a:rPr>
              <a:t>6 database roles + hierarchy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8942832" y="2752344"/>
            <a:ext cx="2304288" cy="1"/>
          </a:xfrm>
          <a:prstGeom prst="line">
            <a:avLst/>
          </a:prstGeom>
          <a:noFill/>
          <a:ln w="1016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42832" y="30083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6A2"/>
                </a:solidFill>
              </a:rPr>
              <a:t>Protection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765792" y="30083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F6FF"/>
                </a:solidFill>
              </a:rPr>
              <a:t>3 masking policies + PII tags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8942832" y="3364992"/>
            <a:ext cx="2304288" cy="1"/>
          </a:xfrm>
          <a:prstGeom prst="line">
            <a:avLst/>
          </a:prstGeom>
          <a:noFill/>
          <a:ln w="1016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42832" y="36210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7CFF"/>
                </a:solidFill>
              </a:rPr>
              <a:t>Monitoring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765792" y="36210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F6FF"/>
                </a:solidFill>
              </a:rPr>
              <a:t>Audit logging + DQ alerts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8942832" y="3977640"/>
            <a:ext cx="2304288" cy="1"/>
          </a:xfrm>
          <a:prstGeom prst="line">
            <a:avLst/>
          </a:prstGeom>
          <a:noFill/>
          <a:ln w="1016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942832" y="42336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D59"/>
                </a:solidFill>
              </a:rPr>
              <a:t>Cost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765792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F6FF"/>
                </a:solidFill>
              </a:rPr>
              <a:t>500-credit monitor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8942832" y="4590288"/>
            <a:ext cx="2304288" cy="1"/>
          </a:xfrm>
          <a:prstGeom prst="line">
            <a:avLst/>
          </a:prstGeom>
          <a:noFill/>
          <a:ln w="1016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942832" y="4846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6A2"/>
                </a:solidFill>
              </a:rPr>
              <a:t>Budget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765792" y="4846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F6FF"/>
                </a:solidFill>
              </a:rPr>
              <a:t>1,000-credit monthly cap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8942832" y="5202936"/>
            <a:ext cx="2304288" cy="1"/>
          </a:xfrm>
          <a:prstGeom prst="line">
            <a:avLst/>
          </a:prstGeom>
          <a:noFill/>
          <a:ln w="1016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8924544" y="5577840"/>
            <a:ext cx="2359152" cy="402336"/>
          </a:xfrm>
          <a:prstGeom prst="roundRect">
            <a:avLst>
              <a:gd name="adj" fmla="val 11364"/>
            </a:avLst>
          </a:prstGeom>
          <a:solidFill>
            <a:srgbClr val="44D6A2">
              <a:alpha val="18000"/>
            </a:srgbClr>
          </a:solidFill>
          <a:ln w="12700">
            <a:solidFill>
              <a:srgbClr val="44D6A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9070848" y="5696712"/>
            <a:ext cx="2057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Least privilege • masked by default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25C2F3"/>
                </a:solidFill>
              </a:rPr>
              <a:t>05 • NEW CROSS-PLATFORM CAPABILITY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Multilingual voice experience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13385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1C8"/>
                </a:solidFill>
              </a:rPr>
              <a:t>Every page supports voice input, instant transcription and automatic translation before agent processing.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1627632"/>
            <a:ext cx="475488" cy="475488"/>
          </a:xfrm>
          <a:prstGeom prst="ellipse">
            <a:avLst/>
          </a:prstGeom>
          <a:solidFill>
            <a:srgbClr val="25C2F3"/>
          </a:solidFill>
          <a:ln w="12700">
            <a:solidFill>
              <a:srgbClr val="25C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17465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258568"/>
            <a:ext cx="1664208" cy="1993392"/>
          </a:xfrm>
          <a:prstGeom prst="roundRect">
            <a:avLst>
              <a:gd name="adj" fmla="val 2747"/>
            </a:avLst>
          </a:prstGeom>
          <a:solidFill>
            <a:srgbClr val="0B213B"/>
          </a:solidFill>
          <a:ln w="15240">
            <a:solidFill>
              <a:srgbClr val="25C2F3"/>
            </a:solidFill>
            <a:prstDash val="solid"/>
          </a:ln>
          <a:effectLst>
            <a:outerShdw blurRad="1270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5C2F3"/>
                </a:solidFill>
              </a:rPr>
              <a:t>Speak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12648" y="2615184"/>
            <a:ext cx="14447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DF6FF"/>
                </a:solidFill>
              </a:rPr>
              <a:t>Tap the microphone and ask a question in any language.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03704" y="3127248"/>
            <a:ext cx="164592" cy="228600"/>
          </a:xfrm>
          <a:prstGeom prst="chevron">
            <a:avLst/>
          </a:prstGeom>
          <a:solidFill>
            <a:srgbClr val="25C2F3"/>
          </a:solidFill>
          <a:ln w="12700">
            <a:solidFill>
              <a:srgbClr val="25C2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035808" y="1627632"/>
            <a:ext cx="475488" cy="47548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35808" y="17465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41448" y="2258568"/>
            <a:ext cx="1664208" cy="1993392"/>
          </a:xfrm>
          <a:prstGeom prst="roundRect">
            <a:avLst>
              <a:gd name="adj" fmla="val 2747"/>
            </a:avLst>
          </a:prstGeom>
          <a:solidFill>
            <a:srgbClr val="0B213B"/>
          </a:solidFill>
          <a:ln w="15240">
            <a:solidFill>
              <a:srgbClr val="2F80ED"/>
            </a:solidFill>
            <a:prstDash val="solid"/>
          </a:ln>
          <a:effectLst>
            <a:outerShdw blurRad="1270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51176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F80ED"/>
                </a:solidFill>
              </a:rPr>
              <a:t>Transcribe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551176" y="2615184"/>
            <a:ext cx="14447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DF6FF"/>
                </a:solidFill>
              </a:rPr>
              <a:t>Web Speech API converts speech into text instantly.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42232" y="3127248"/>
            <a:ext cx="164592" cy="22860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974336" y="1627632"/>
            <a:ext cx="475488" cy="475488"/>
          </a:xfrm>
          <a:prstGeom prst="ellipse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74336" y="17465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79976" y="2258568"/>
            <a:ext cx="1664208" cy="1993392"/>
          </a:xfrm>
          <a:prstGeom prst="roundRect">
            <a:avLst>
              <a:gd name="adj" fmla="val 2747"/>
            </a:avLst>
          </a:prstGeom>
          <a:solidFill>
            <a:srgbClr val="0B213B"/>
          </a:solidFill>
          <a:ln w="15240">
            <a:solidFill>
              <a:srgbClr val="8B7CFF"/>
            </a:solidFill>
            <a:prstDash val="solid"/>
          </a:ln>
          <a:effectLst>
            <a:outerShdw blurRad="1270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89704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8B7CFF"/>
                </a:solidFill>
              </a:rPr>
              <a:t>Detect + Translate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489704" y="2615184"/>
            <a:ext cx="14447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DF6FF"/>
                </a:solidFill>
              </a:rPr>
              <a:t>Cortex AI Translate detects non-English input and converts it to English.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3127248"/>
            <a:ext cx="164592" cy="228600"/>
          </a:xfrm>
          <a:prstGeom prst="chevron">
            <a:avLst/>
          </a:prstGeom>
          <a:solidFill>
            <a:srgbClr val="8B7CFF"/>
          </a:solidFill>
          <a:ln w="12700">
            <a:solidFill>
              <a:srgbClr val="8B7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912864" y="162763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912864" y="17465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18504" y="2258568"/>
            <a:ext cx="1664208" cy="1993392"/>
          </a:xfrm>
          <a:prstGeom prst="roundRect">
            <a:avLst>
              <a:gd name="adj" fmla="val 2747"/>
            </a:avLst>
          </a:prstGeom>
          <a:solidFill>
            <a:srgbClr val="0B213B"/>
          </a:solidFill>
          <a:ln w="15240">
            <a:solidFill>
              <a:srgbClr val="F59E0B"/>
            </a:solidFill>
            <a:prstDash val="solid"/>
          </a:ln>
          <a:effectLst>
            <a:outerShdw blurRad="1270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28232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59E0B"/>
                </a:solidFill>
              </a:rPr>
              <a:t>Review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428232" y="2615184"/>
            <a:ext cx="14447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DF6FF"/>
                </a:solidFill>
              </a:rPr>
              <a:t>Translated text appears in the input field before sending.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19288" y="3127248"/>
            <a:ext cx="164592" cy="22860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851392" y="1627632"/>
            <a:ext cx="475488" cy="475488"/>
          </a:xfrm>
          <a:prstGeom prst="ellipse">
            <a:avLst/>
          </a:prstGeom>
          <a:solidFill>
            <a:srgbClr val="21B37A"/>
          </a:solidFill>
          <a:ln w="12700">
            <a:solidFill>
              <a:srgbClr val="21B3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851392" y="17465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57032" y="2258568"/>
            <a:ext cx="1664208" cy="1993392"/>
          </a:xfrm>
          <a:prstGeom prst="roundRect">
            <a:avLst>
              <a:gd name="adj" fmla="val 2747"/>
            </a:avLst>
          </a:prstGeom>
          <a:solidFill>
            <a:srgbClr val="0B213B"/>
          </a:solidFill>
          <a:ln w="15240">
            <a:solidFill>
              <a:srgbClr val="21B37A"/>
            </a:solidFill>
            <a:prstDash val="solid"/>
          </a:ln>
          <a:effectLst>
            <a:outerShdw blurRad="1270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366760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B37A"/>
                </a:solidFill>
              </a:rPr>
              <a:t>Confirm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366760" y="2615184"/>
            <a:ext cx="14447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DF6FF"/>
                </a:solidFill>
              </a:rPr>
              <a:t>A compact indicator shows the detected original language.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957816" y="3127248"/>
            <a:ext cx="164592" cy="228600"/>
          </a:xfrm>
          <a:prstGeom prst="chevron">
            <a:avLst/>
          </a:prstGeom>
          <a:solidFill>
            <a:srgbClr val="21B37A"/>
          </a:solidFill>
          <a:ln w="12700">
            <a:solidFill>
              <a:srgbClr val="21B3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789920" y="1627632"/>
            <a:ext cx="475488" cy="475488"/>
          </a:xfrm>
          <a:prstGeom prst="ellipse">
            <a:avLst/>
          </a:prstGeom>
          <a:solidFill>
            <a:srgbClr val="F25D62"/>
          </a:solidFill>
          <a:ln w="12700">
            <a:solidFill>
              <a:srgbClr val="F25D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789920" y="17465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195560" y="2258568"/>
            <a:ext cx="1664208" cy="1993392"/>
          </a:xfrm>
          <a:prstGeom prst="roundRect">
            <a:avLst>
              <a:gd name="adj" fmla="val 2747"/>
            </a:avLst>
          </a:prstGeom>
          <a:solidFill>
            <a:srgbClr val="0B213B"/>
          </a:solidFill>
          <a:ln w="15240">
            <a:solidFill>
              <a:srgbClr val="F25D62"/>
            </a:solidFill>
            <a:prstDash val="solid"/>
          </a:ln>
          <a:effectLst>
            <a:outerShdw blurRad="1270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305288" y="23591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25D62"/>
                </a:solidFill>
              </a:rPr>
              <a:t>Understand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10305288" y="2615184"/>
            <a:ext cx="144475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DF6FF"/>
                </a:solidFill>
              </a:rPr>
              <a:t>The agent receives a consistent English prompt and preserves intent.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553712"/>
            <a:ext cx="11183112" cy="960120"/>
          </a:xfrm>
          <a:prstGeom prst="roundRect">
            <a:avLst>
              <a:gd name="adj" fmla="val 4762"/>
            </a:avLst>
          </a:prstGeom>
          <a:solidFill>
            <a:srgbClr val="102B49"/>
          </a:solidFill>
          <a:ln w="13970">
            <a:solidFill>
              <a:srgbClr val="25C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49808" y="47365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5C2F3"/>
                </a:solidFill>
              </a:rPr>
              <a:t>AVAILABLE ACROSS ALL 7 PAGES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9808" y="5047488"/>
            <a:ext cx="1353312" cy="310896"/>
          </a:xfrm>
          <a:prstGeom prst="roundRect">
            <a:avLst>
              <a:gd name="adj" fmla="val 8824"/>
            </a:avLst>
          </a:prstGeom>
          <a:solidFill>
            <a:srgbClr val="0B213B"/>
          </a:solidFill>
          <a:ln w="12700">
            <a:solidFill>
              <a:srgbClr val="3155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86384" y="513892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DDF6FF"/>
                </a:solidFill>
              </a:rPr>
              <a:t>AI Assistant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2304288" y="5047488"/>
            <a:ext cx="1353312" cy="310896"/>
          </a:xfrm>
          <a:prstGeom prst="roundRect">
            <a:avLst>
              <a:gd name="adj" fmla="val 8824"/>
            </a:avLst>
          </a:prstGeom>
          <a:solidFill>
            <a:srgbClr val="0B213B"/>
          </a:solidFill>
          <a:ln w="12700">
            <a:solidFill>
              <a:srgbClr val="3155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340864" y="513892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DDF6FF"/>
                </a:solidFill>
              </a:rPr>
              <a:t>Knowledge Hub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3858768" y="5047488"/>
            <a:ext cx="1353312" cy="310896"/>
          </a:xfrm>
          <a:prstGeom prst="roundRect">
            <a:avLst>
              <a:gd name="adj" fmla="val 8824"/>
            </a:avLst>
          </a:prstGeom>
          <a:solidFill>
            <a:srgbClr val="0B213B"/>
          </a:solidFill>
          <a:ln w="12700">
            <a:solidFill>
              <a:srgbClr val="3155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895344" y="513892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DDF6FF"/>
                </a:solidFill>
              </a:rPr>
              <a:t>Data Explorer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413248" y="5047488"/>
            <a:ext cx="1353312" cy="310896"/>
          </a:xfrm>
          <a:prstGeom prst="roundRect">
            <a:avLst>
              <a:gd name="adj" fmla="val 8824"/>
            </a:avLst>
          </a:prstGeom>
          <a:solidFill>
            <a:srgbClr val="0B213B"/>
          </a:solidFill>
          <a:ln w="12700">
            <a:solidFill>
              <a:srgbClr val="3155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449824" y="513892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DDF6FF"/>
                </a:solidFill>
              </a:rPr>
              <a:t>Claims Agent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6967728" y="5047488"/>
            <a:ext cx="1353312" cy="310896"/>
          </a:xfrm>
          <a:prstGeom prst="roundRect">
            <a:avLst>
              <a:gd name="adj" fmla="val 8824"/>
            </a:avLst>
          </a:prstGeom>
          <a:solidFill>
            <a:srgbClr val="0B213B"/>
          </a:solidFill>
          <a:ln w="12700">
            <a:solidFill>
              <a:srgbClr val="3155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004304" y="513892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DDF6FF"/>
                </a:solidFill>
              </a:rPr>
              <a:t>Fraud Agent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522208" y="5047488"/>
            <a:ext cx="1353312" cy="310896"/>
          </a:xfrm>
          <a:prstGeom prst="roundRect">
            <a:avLst>
              <a:gd name="adj" fmla="val 8824"/>
            </a:avLst>
          </a:prstGeom>
          <a:solidFill>
            <a:srgbClr val="0B213B"/>
          </a:solidFill>
          <a:ln w="12700">
            <a:solidFill>
              <a:srgbClr val="3155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558784" y="513892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DDF6FF"/>
                </a:solidFill>
              </a:rPr>
              <a:t>Pricing Agent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10076688" y="5047488"/>
            <a:ext cx="1353312" cy="310896"/>
          </a:xfrm>
          <a:prstGeom prst="roundRect">
            <a:avLst>
              <a:gd name="adj" fmla="val 8824"/>
            </a:avLst>
          </a:prstGeom>
          <a:solidFill>
            <a:srgbClr val="0B213B"/>
          </a:solidFill>
          <a:ln w="12700">
            <a:solidFill>
              <a:srgbClr val="3155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10113264" y="5138928"/>
            <a:ext cx="1280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DDF6FF"/>
                </a:solidFill>
              </a:rPr>
              <a:t>Product Agent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02920" y="5705856"/>
            <a:ext cx="11183112" cy="384048"/>
          </a:xfrm>
          <a:prstGeom prst="roundRect">
            <a:avLst>
              <a:gd name="adj" fmla="val 7143"/>
            </a:avLst>
          </a:prstGeom>
          <a:solidFill>
            <a:srgbClr val="25C2F3">
              <a:alpha val="17000"/>
            </a:srgbClr>
          </a:solidFill>
          <a:ln w="12700">
            <a:solidFill>
              <a:srgbClr val="25C2F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85800" y="5824728"/>
            <a:ext cx="10817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FFFFF"/>
                </a:solidFill>
              </a:rPr>
              <a:t>VOICE IN, INTELLIGENCE OUT — IN ANY LANGUAGE</a:t>
            </a:r>
            <a:endParaRPr lang="en-US" sz="95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894B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25C2F3"/>
                </a:solidFill>
              </a:rPr>
              <a:t>05 • DELIVERY BLUEPRINT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Deployment, operations and executive value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B1C8"/>
                </a:solidFill>
              </a:rPr>
              <a:t>A repeatable release path from source control to governed Snowflake services and business-facing experiences.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828800" cy="1078992"/>
          </a:xfrm>
          <a:prstGeom prst="roundRect">
            <a:avLst>
              <a:gd name="adj" fmla="val 5085"/>
            </a:avLst>
          </a:prstGeom>
          <a:solidFill>
            <a:srgbClr val="102B49"/>
          </a:solidFill>
          <a:ln w="15240">
            <a:solidFill>
              <a:srgbClr val="31557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58952" y="20756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C2F3"/>
                </a:solidFill>
              </a:rPr>
              <a:t>SOURCE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0664" y="243230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repository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2258568"/>
            <a:ext cx="256032" cy="274320"/>
          </a:xfrm>
          <a:prstGeom prst="chevron">
            <a:avLst/>
          </a:prstGeom>
          <a:solidFill>
            <a:srgbClr val="8B7CFF">
              <a:alpha val="82000"/>
            </a:srgbClr>
          </a:solidFill>
          <a:ln w="12700">
            <a:solidFill>
              <a:srgbClr val="8B7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88920" y="1874520"/>
            <a:ext cx="1828800" cy="1078992"/>
          </a:xfrm>
          <a:prstGeom prst="roundRect">
            <a:avLst>
              <a:gd name="adj" fmla="val 5085"/>
            </a:avLst>
          </a:prstGeom>
          <a:solidFill>
            <a:srgbClr val="102B49"/>
          </a:solidFill>
          <a:ln w="15240">
            <a:solidFill>
              <a:srgbClr val="31557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53512" y="20756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C2F3"/>
                </a:solidFill>
              </a:rPr>
              <a:t>BUILD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35224" y="243230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258568"/>
            <a:ext cx="256032" cy="274320"/>
          </a:xfrm>
          <a:prstGeom prst="chevron">
            <a:avLst/>
          </a:prstGeom>
          <a:solidFill>
            <a:srgbClr val="8B7CFF">
              <a:alpha val="82000"/>
            </a:srgbClr>
          </a:solidFill>
          <a:ln w="12700">
            <a:solidFill>
              <a:srgbClr val="8B7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983480" y="1874520"/>
            <a:ext cx="1828800" cy="1078992"/>
          </a:xfrm>
          <a:prstGeom prst="roundRect">
            <a:avLst>
              <a:gd name="adj" fmla="val 5085"/>
            </a:avLst>
          </a:prstGeom>
          <a:solidFill>
            <a:srgbClr val="102B49"/>
          </a:solidFill>
          <a:ln w="15240">
            <a:solidFill>
              <a:srgbClr val="31557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48072" y="20756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C2F3"/>
                </a:solidFill>
              </a:rPr>
              <a:t>DEPLOY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9784" y="243230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SnowSQL + Cortex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2258568"/>
            <a:ext cx="256032" cy="274320"/>
          </a:xfrm>
          <a:prstGeom prst="chevron">
            <a:avLst/>
          </a:prstGeom>
          <a:solidFill>
            <a:srgbClr val="8B7CFF">
              <a:alpha val="82000"/>
            </a:srgbClr>
          </a:solidFill>
          <a:ln w="12700">
            <a:solidFill>
              <a:srgbClr val="8B7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178040" y="1874520"/>
            <a:ext cx="1828800" cy="1078992"/>
          </a:xfrm>
          <a:prstGeom prst="roundRect">
            <a:avLst>
              <a:gd name="adj" fmla="val 5085"/>
            </a:avLst>
          </a:prstGeom>
          <a:solidFill>
            <a:srgbClr val="102B49"/>
          </a:solidFill>
          <a:ln w="15240">
            <a:solidFill>
              <a:srgbClr val="31557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42632" y="20756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C2F3"/>
                </a:solidFill>
              </a:rPr>
              <a:t>VALIDATE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24344" y="243230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 jobs + checks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2258568"/>
            <a:ext cx="256032" cy="274320"/>
          </a:xfrm>
          <a:prstGeom prst="chevron">
            <a:avLst/>
          </a:prstGeom>
          <a:solidFill>
            <a:srgbClr val="8B7CFF">
              <a:alpha val="82000"/>
            </a:srgbClr>
          </a:solidFill>
          <a:ln w="12700">
            <a:solidFill>
              <a:srgbClr val="8B7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372600" y="1874520"/>
            <a:ext cx="1828800" cy="1078992"/>
          </a:xfrm>
          <a:prstGeom prst="roundRect">
            <a:avLst>
              <a:gd name="adj" fmla="val 5085"/>
            </a:avLst>
          </a:prstGeom>
          <a:solidFill>
            <a:srgbClr val="25C2F3">
              <a:alpha val="82000"/>
            </a:srgbClr>
          </a:solidFill>
          <a:ln w="15240">
            <a:solidFill>
              <a:srgbClr val="25C2F3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537192" y="20756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426"/>
                </a:solidFill>
              </a:rPr>
              <a:t>OPERATE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18904" y="2432304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1426"/>
                </a:solidFill>
              </a:rPr>
              <a:t>Dashboard + agents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3456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Operational readiness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21792" y="3904488"/>
            <a:ext cx="5614416" cy="512064"/>
          </a:xfrm>
          <a:prstGeom prst="roundRect">
            <a:avLst>
              <a:gd name="adj" fmla="val 7143"/>
            </a:avLst>
          </a:prstGeom>
          <a:solidFill>
            <a:srgbClr val="0B213B"/>
          </a:solidFill>
          <a:ln w="1270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2960" y="39959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C2F3"/>
                </a:solidFill>
              </a:rPr>
              <a:t>Deployment options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57400" y="3986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DF6FF"/>
                </a:solidFill>
              </a:rPr>
              <a:t>Automated script • manual SQL • CI/CD • Cortex project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21792" y="4535424"/>
            <a:ext cx="5614416" cy="512064"/>
          </a:xfrm>
          <a:prstGeom prst="roundRect">
            <a:avLst>
              <a:gd name="adj" fmla="val 7143"/>
            </a:avLst>
          </a:prstGeom>
          <a:solidFill>
            <a:srgbClr val="0B213B"/>
          </a:solidFill>
          <a:ln w="1270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2960" y="46268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7CFF"/>
                </a:solidFill>
              </a:rPr>
              <a:t>Rollback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57400" y="4617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DF6FF"/>
                </a:solidFill>
              </a:rPr>
              <a:t>Dependency-aware teardown for agents, search, semantic views and governance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21792" y="5166360"/>
            <a:ext cx="5614416" cy="512064"/>
          </a:xfrm>
          <a:prstGeom prst="roundRect">
            <a:avLst>
              <a:gd name="adj" fmla="val 7143"/>
            </a:avLst>
          </a:prstGeom>
          <a:solidFill>
            <a:srgbClr val="0B213B"/>
          </a:solidFill>
          <a:ln w="12700">
            <a:solidFill>
              <a:srgbClr val="274B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2960" y="52578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6A2"/>
                </a:solidFill>
              </a:rPr>
              <a:t>Runtime resilience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057400" y="5248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DF6FF"/>
                </a:solidFill>
              </a:rPr>
              <a:t>Retry, polling, SSE fallback and 30-minute inactivity timeout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6656832" y="3456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this enables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675120" y="3886200"/>
            <a:ext cx="182880" cy="182880"/>
          </a:xfrm>
          <a:prstGeom prst="ellipse">
            <a:avLst/>
          </a:prstGeom>
          <a:solidFill>
            <a:srgbClr val="25C2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67728" y="385876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F6FF"/>
                </a:solidFill>
              </a:rPr>
              <a:t>Faster insight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11312" y="3858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9AB1C8"/>
                </a:solidFill>
              </a:rPr>
              <a:t>Natural-language access across six domains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675120" y="4389120"/>
            <a:ext cx="182880" cy="182880"/>
          </a:xfrm>
          <a:prstGeom prst="ellipse">
            <a:avLst/>
          </a:prstGeom>
          <a:solidFill>
            <a:srgbClr val="44D6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967728" y="436168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F6FF"/>
                </a:solidFill>
              </a:rPr>
              <a:t>Trusted decisions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11312" y="4361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9AB1C8"/>
                </a:solidFill>
              </a:rPr>
              <a:t>Semantic grounding, VQRs and citations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6675120" y="4892040"/>
            <a:ext cx="182880" cy="182880"/>
          </a:xfrm>
          <a:prstGeom prst="ellipse">
            <a:avLst/>
          </a:prstGeom>
          <a:solidFill>
            <a:srgbClr val="FFBD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67728" y="48646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F6FF"/>
                </a:solidFill>
              </a:rPr>
              <a:t>Actionable operations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211312" y="48646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9AB1C8"/>
                </a:solidFill>
              </a:rPr>
              <a:t>Alerts, visualizations and Jira workflows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675120" y="5394960"/>
            <a:ext cx="182880" cy="182880"/>
          </a:xfrm>
          <a:prstGeom prst="ellipse">
            <a:avLst/>
          </a:prstGeom>
          <a:solidFill>
            <a:srgbClr val="8B7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967728" y="536752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DF6FF"/>
                </a:solidFill>
              </a:rPr>
              <a:t>Controlled scale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211312" y="53675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9AB1C8"/>
                </a:solidFill>
              </a:rPr>
              <a:t>Governance and spend guardrails built in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6656832" y="5806440"/>
            <a:ext cx="4800600" cy="347472"/>
          </a:xfrm>
          <a:prstGeom prst="roundRect">
            <a:avLst>
              <a:gd name="adj" fmla="val 13158"/>
            </a:avLst>
          </a:prstGeom>
          <a:solidFill>
            <a:srgbClr val="25C2F3">
              <a:alpha val="20000"/>
            </a:srgbClr>
          </a:solidFill>
          <a:ln w="12700">
            <a:solidFill>
              <a:srgbClr val="25C2F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885432" y="5897880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One governed platform: insight → decision → action</a:t>
            </a:r>
            <a:endParaRPr lang="en-US" sz="10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803</Words>
  <Application>Microsoft Office PowerPoint</Application>
  <PresentationFormat>Widescreen</PresentationFormat>
  <Paragraphs>159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AI Hub — Architecture Overview</dc:title>
  <dc:subject>Insurance AI Hub Solution and Technical Architecture</dc:subject>
  <dc:creator>Agnihotri, Rakesh</dc:creator>
  <cp:lastModifiedBy>Agnihotri, Rakesh</cp:lastModifiedBy>
  <cp:revision>2</cp:revision>
  <dcterms:created xsi:type="dcterms:W3CDTF">2026-09-24T11:58:41Z</dcterms:created>
  <dcterms:modified xsi:type="dcterms:W3CDTF">2026-09-24T13:29:07Z</dcterms:modified>
</cp:coreProperties>
</file>