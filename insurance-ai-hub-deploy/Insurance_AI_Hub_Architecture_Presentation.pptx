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746"/>
        </a:solidFill>
        <a:effectLst/>
      </p:bgPr>
    </p:bg>
    <p:spTree>
      <p:nvGrpSpPr>
        <p:cNvPr id="1" name=""/>
        <p:cNvGrpSpPr/>
        <p:nvPr/>
      </p:nvGrpSpPr>
      <p:grpSpPr/>
      <p:sp>
        <p:nvSpPr>
          <p:cNvPr id="2" name="Rectangle 1"/>
          <p:cNvSpPr/>
          <p:nvPr/>
        </p:nvSpPr>
        <p:spPr>
          <a:xfrm>
            <a:off x="0" y="2560320"/>
            <a:ext cx="12191695"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22960"/>
            <a:ext cx="10058400" cy="457200"/>
          </a:xfrm>
          <a:prstGeom prst="rect">
            <a:avLst/>
          </a:prstGeom>
          <a:noFill/>
        </p:spPr>
        <p:txBody>
          <a:bodyPr wrap="square">
            <a:spAutoFit/>
          </a:bodyPr>
          <a:lstStyle/>
          <a:p>
            <a:pPr algn="l">
              <a:defRPr sz="1600" b="1">
                <a:solidFill>
                  <a:srgbClr val="29B5E8"/>
                </a:solidFill>
                <a:latin typeface="Calibri"/>
              </a:defRPr>
            </a:pPr>
            <a:r>
              <a:t>SOLUTION ARCHITECTURE DEEP DIVE</a:t>
            </a:r>
          </a:p>
        </p:txBody>
      </p:sp>
      <p:sp>
        <p:nvSpPr>
          <p:cNvPr id="4" name="TextBox 3"/>
          <p:cNvSpPr txBox="1"/>
          <p:nvPr/>
        </p:nvSpPr>
        <p:spPr>
          <a:xfrm>
            <a:off x="731520" y="1280160"/>
            <a:ext cx="10058400" cy="731520"/>
          </a:xfrm>
          <a:prstGeom prst="rect">
            <a:avLst/>
          </a:prstGeom>
          <a:noFill/>
        </p:spPr>
        <p:txBody>
          <a:bodyPr wrap="square">
            <a:spAutoFit/>
          </a:bodyPr>
          <a:lstStyle/>
          <a:p>
            <a:pPr algn="l">
              <a:defRPr sz="4400" b="1">
                <a:solidFill>
                  <a:srgbClr val="FFFFFF"/>
                </a:solidFill>
                <a:latin typeface="Calibri"/>
              </a:defRPr>
            </a:pPr>
            <a:r>
              <a:t>Insurance AI Hub</a:t>
            </a:r>
          </a:p>
        </p:txBody>
      </p:sp>
      <p:sp>
        <p:nvSpPr>
          <p:cNvPr id="5" name="TextBox 4"/>
          <p:cNvSpPr txBox="1"/>
          <p:nvPr/>
        </p:nvSpPr>
        <p:spPr>
          <a:xfrm>
            <a:off x="731520" y="2011680"/>
            <a:ext cx="10058400" cy="457200"/>
          </a:xfrm>
          <a:prstGeom prst="rect">
            <a:avLst/>
          </a:prstGeom>
          <a:noFill/>
        </p:spPr>
        <p:txBody>
          <a:bodyPr wrap="square">
            <a:spAutoFit/>
          </a:bodyPr>
          <a:lstStyle/>
          <a:p>
            <a:pPr algn="l">
              <a:defRPr sz="2000" b="0">
                <a:solidFill>
                  <a:srgbClr val="29B5E8"/>
                </a:solidFill>
                <a:latin typeface="Calibri"/>
              </a:defRPr>
            </a:pPr>
            <a:r>
              <a:t>Snowflake-Native Intelligent Insurance Platform</a:t>
            </a:r>
          </a:p>
        </p:txBody>
      </p:sp>
      <p:sp>
        <p:nvSpPr>
          <p:cNvPr id="6" name="TextBox 5"/>
          <p:cNvSpPr txBox="1"/>
          <p:nvPr/>
        </p:nvSpPr>
        <p:spPr>
          <a:xfrm>
            <a:off x="731520" y="3017520"/>
            <a:ext cx="10058400" cy="365760"/>
          </a:xfrm>
          <a:prstGeom prst="rect">
            <a:avLst/>
          </a:prstGeom>
          <a:noFill/>
        </p:spPr>
        <p:txBody>
          <a:bodyPr wrap="square">
            <a:spAutoFit/>
          </a:bodyPr>
          <a:lstStyle/>
          <a:p>
            <a:pPr algn="l">
              <a:defRPr sz="1400" b="0">
                <a:solidFill>
                  <a:srgbClr val="8A94A6"/>
                </a:solidFill>
                <a:latin typeface="Calibri"/>
              </a:defRPr>
            </a:pPr>
            <a:r>
              <a:t>Component Connectivity  │  Data Flow Architecture  │  Agent Orchestration  │  MCP Integration</a:t>
            </a:r>
          </a:p>
        </p:txBody>
      </p:sp>
      <p:sp>
        <p:nvSpPr>
          <p:cNvPr id="7" name="TextBox 6"/>
          <p:cNvSpPr txBox="1"/>
          <p:nvPr/>
        </p:nvSpPr>
        <p:spPr>
          <a:xfrm>
            <a:off x="731520" y="3931920"/>
            <a:ext cx="1645920" cy="365760"/>
          </a:xfrm>
          <a:prstGeom prst="rect">
            <a:avLst/>
          </a:prstGeom>
          <a:noFill/>
        </p:spPr>
        <p:txBody>
          <a:bodyPr wrap="square">
            <a:spAutoFit/>
          </a:bodyPr>
          <a:lstStyle/>
          <a:p>
            <a:pPr algn="ctr">
              <a:defRPr sz="3000" b="1">
                <a:solidFill>
                  <a:srgbClr val="29B5E8"/>
                </a:solidFill>
                <a:latin typeface="Calibri"/>
              </a:defRPr>
            </a:pPr>
            <a:r>
              <a:t>18</a:t>
            </a:r>
          </a:p>
        </p:txBody>
      </p:sp>
      <p:sp>
        <p:nvSpPr>
          <p:cNvPr id="8" name="TextBox 7"/>
          <p:cNvSpPr txBox="1"/>
          <p:nvPr/>
        </p:nvSpPr>
        <p:spPr>
          <a:xfrm>
            <a:off x="731520" y="4434840"/>
            <a:ext cx="1645920" cy="274320"/>
          </a:xfrm>
          <a:prstGeom prst="rect">
            <a:avLst/>
          </a:prstGeom>
          <a:noFill/>
        </p:spPr>
        <p:txBody>
          <a:bodyPr wrap="square">
            <a:spAutoFit/>
          </a:bodyPr>
          <a:lstStyle/>
          <a:p>
            <a:pPr algn="ctr">
              <a:defRPr sz="1100" b="0">
                <a:solidFill>
                  <a:srgbClr val="8A94A6"/>
                </a:solidFill>
                <a:latin typeface="Calibri"/>
              </a:defRPr>
            </a:pPr>
            <a:r>
              <a:t>Tables</a:t>
            </a:r>
          </a:p>
        </p:txBody>
      </p:sp>
      <p:sp>
        <p:nvSpPr>
          <p:cNvPr id="9" name="TextBox 8"/>
          <p:cNvSpPr txBox="1"/>
          <p:nvPr/>
        </p:nvSpPr>
        <p:spPr>
          <a:xfrm>
            <a:off x="2606039" y="3931920"/>
            <a:ext cx="1645920" cy="365760"/>
          </a:xfrm>
          <a:prstGeom prst="rect">
            <a:avLst/>
          </a:prstGeom>
          <a:noFill/>
        </p:spPr>
        <p:txBody>
          <a:bodyPr wrap="square">
            <a:spAutoFit/>
          </a:bodyPr>
          <a:lstStyle/>
          <a:p>
            <a:pPr algn="ctr">
              <a:defRPr sz="3000" b="1">
                <a:solidFill>
                  <a:srgbClr val="29B5E8"/>
                </a:solidFill>
                <a:latin typeface="Calibri"/>
              </a:defRPr>
            </a:pPr>
            <a:r>
              <a:t>5</a:t>
            </a:r>
          </a:p>
        </p:txBody>
      </p:sp>
      <p:sp>
        <p:nvSpPr>
          <p:cNvPr id="10" name="TextBox 9"/>
          <p:cNvSpPr txBox="1"/>
          <p:nvPr/>
        </p:nvSpPr>
        <p:spPr>
          <a:xfrm>
            <a:off x="2606039" y="4434840"/>
            <a:ext cx="1645920" cy="274320"/>
          </a:xfrm>
          <a:prstGeom prst="rect">
            <a:avLst/>
          </a:prstGeom>
          <a:noFill/>
        </p:spPr>
        <p:txBody>
          <a:bodyPr wrap="square">
            <a:spAutoFit/>
          </a:bodyPr>
          <a:lstStyle/>
          <a:p>
            <a:pPr algn="ctr">
              <a:defRPr sz="1100" b="0">
                <a:solidFill>
                  <a:srgbClr val="8A94A6"/>
                </a:solidFill>
                <a:latin typeface="Calibri"/>
              </a:defRPr>
            </a:pPr>
            <a:r>
              <a:t>Semantic Views</a:t>
            </a:r>
          </a:p>
        </p:txBody>
      </p:sp>
      <p:sp>
        <p:nvSpPr>
          <p:cNvPr id="11" name="TextBox 10"/>
          <p:cNvSpPr txBox="1"/>
          <p:nvPr/>
        </p:nvSpPr>
        <p:spPr>
          <a:xfrm>
            <a:off x="4480559" y="3931920"/>
            <a:ext cx="1645920" cy="365760"/>
          </a:xfrm>
          <a:prstGeom prst="rect">
            <a:avLst/>
          </a:prstGeom>
          <a:noFill/>
        </p:spPr>
        <p:txBody>
          <a:bodyPr wrap="square">
            <a:spAutoFit/>
          </a:bodyPr>
          <a:lstStyle/>
          <a:p>
            <a:pPr algn="ctr">
              <a:defRPr sz="3000" b="1">
                <a:solidFill>
                  <a:srgbClr val="29B5E8"/>
                </a:solidFill>
                <a:latin typeface="Calibri"/>
              </a:defRPr>
            </a:pPr>
            <a:r>
              <a:t>5</a:t>
            </a:r>
          </a:p>
        </p:txBody>
      </p:sp>
      <p:sp>
        <p:nvSpPr>
          <p:cNvPr id="12" name="TextBox 11"/>
          <p:cNvSpPr txBox="1"/>
          <p:nvPr/>
        </p:nvSpPr>
        <p:spPr>
          <a:xfrm>
            <a:off x="4480559" y="4434840"/>
            <a:ext cx="1645920" cy="274320"/>
          </a:xfrm>
          <a:prstGeom prst="rect">
            <a:avLst/>
          </a:prstGeom>
          <a:noFill/>
        </p:spPr>
        <p:txBody>
          <a:bodyPr wrap="square">
            <a:spAutoFit/>
          </a:bodyPr>
          <a:lstStyle/>
          <a:p>
            <a:pPr algn="ctr">
              <a:defRPr sz="1100" b="0">
                <a:solidFill>
                  <a:srgbClr val="8A94A6"/>
                </a:solidFill>
                <a:latin typeface="Calibri"/>
              </a:defRPr>
            </a:pPr>
            <a:r>
              <a:t>Cortex Agents</a:t>
            </a:r>
          </a:p>
        </p:txBody>
      </p:sp>
      <p:sp>
        <p:nvSpPr>
          <p:cNvPr id="13" name="TextBox 12"/>
          <p:cNvSpPr txBox="1"/>
          <p:nvPr/>
        </p:nvSpPr>
        <p:spPr>
          <a:xfrm>
            <a:off x="6355079" y="3931920"/>
            <a:ext cx="1645920" cy="365760"/>
          </a:xfrm>
          <a:prstGeom prst="rect">
            <a:avLst/>
          </a:prstGeom>
          <a:noFill/>
        </p:spPr>
        <p:txBody>
          <a:bodyPr wrap="square">
            <a:spAutoFit/>
          </a:bodyPr>
          <a:lstStyle/>
          <a:p>
            <a:pPr algn="ctr">
              <a:defRPr sz="3000" b="1">
                <a:solidFill>
                  <a:srgbClr val="29B5E8"/>
                </a:solidFill>
                <a:latin typeface="Calibri"/>
              </a:defRPr>
            </a:pPr>
            <a:r>
              <a:t>25+</a:t>
            </a:r>
          </a:p>
        </p:txBody>
      </p:sp>
      <p:sp>
        <p:nvSpPr>
          <p:cNvPr id="14" name="TextBox 13"/>
          <p:cNvSpPr txBox="1"/>
          <p:nvPr/>
        </p:nvSpPr>
        <p:spPr>
          <a:xfrm>
            <a:off x="6355079" y="4434840"/>
            <a:ext cx="1645920" cy="274320"/>
          </a:xfrm>
          <a:prstGeom prst="rect">
            <a:avLst/>
          </a:prstGeom>
          <a:noFill/>
        </p:spPr>
        <p:txBody>
          <a:bodyPr wrap="square">
            <a:spAutoFit/>
          </a:bodyPr>
          <a:lstStyle/>
          <a:p>
            <a:pPr algn="ctr">
              <a:defRPr sz="1100" b="0">
                <a:solidFill>
                  <a:srgbClr val="8A94A6"/>
                </a:solidFill>
                <a:latin typeface="Calibri"/>
              </a:defRPr>
            </a:pPr>
            <a:r>
              <a:t>Verified Queries</a:t>
            </a:r>
          </a:p>
        </p:txBody>
      </p:sp>
      <p:sp>
        <p:nvSpPr>
          <p:cNvPr id="15" name="TextBox 14"/>
          <p:cNvSpPr txBox="1"/>
          <p:nvPr/>
        </p:nvSpPr>
        <p:spPr>
          <a:xfrm>
            <a:off x="8229599" y="3931920"/>
            <a:ext cx="1645920" cy="365760"/>
          </a:xfrm>
          <a:prstGeom prst="rect">
            <a:avLst/>
          </a:prstGeom>
          <a:noFill/>
        </p:spPr>
        <p:txBody>
          <a:bodyPr wrap="square">
            <a:spAutoFit/>
          </a:bodyPr>
          <a:lstStyle/>
          <a:p>
            <a:pPr algn="ctr">
              <a:defRPr sz="3000" b="1">
                <a:solidFill>
                  <a:srgbClr val="29B5E8"/>
                </a:solidFill>
                <a:latin typeface="Calibri"/>
              </a:defRPr>
            </a:pPr>
            <a:r>
              <a:t>6</a:t>
            </a:r>
          </a:p>
        </p:txBody>
      </p:sp>
      <p:sp>
        <p:nvSpPr>
          <p:cNvPr id="16" name="TextBox 15"/>
          <p:cNvSpPr txBox="1"/>
          <p:nvPr/>
        </p:nvSpPr>
        <p:spPr>
          <a:xfrm>
            <a:off x="8229599" y="4434840"/>
            <a:ext cx="1645920" cy="274320"/>
          </a:xfrm>
          <a:prstGeom prst="rect">
            <a:avLst/>
          </a:prstGeom>
          <a:noFill/>
        </p:spPr>
        <p:txBody>
          <a:bodyPr wrap="square">
            <a:spAutoFit/>
          </a:bodyPr>
          <a:lstStyle/>
          <a:p>
            <a:pPr algn="ctr">
              <a:defRPr sz="1100" b="0">
                <a:solidFill>
                  <a:srgbClr val="8A94A6"/>
                </a:solidFill>
                <a:latin typeface="Calibri"/>
              </a:defRPr>
            </a:pPr>
            <a:r>
              <a:t>RBAC Roles</a:t>
            </a:r>
          </a:p>
        </p:txBody>
      </p:sp>
      <p:sp>
        <p:nvSpPr>
          <p:cNvPr id="17" name="TextBox 16"/>
          <p:cNvSpPr txBox="1"/>
          <p:nvPr/>
        </p:nvSpPr>
        <p:spPr>
          <a:xfrm>
            <a:off x="10104120" y="3931920"/>
            <a:ext cx="1645920" cy="365760"/>
          </a:xfrm>
          <a:prstGeom prst="rect">
            <a:avLst/>
          </a:prstGeom>
          <a:noFill/>
        </p:spPr>
        <p:txBody>
          <a:bodyPr wrap="square">
            <a:spAutoFit/>
          </a:bodyPr>
          <a:lstStyle/>
          <a:p>
            <a:pPr algn="ctr">
              <a:defRPr sz="3000" b="1">
                <a:solidFill>
                  <a:srgbClr val="29B5E8"/>
                </a:solidFill>
                <a:latin typeface="Calibri"/>
              </a:defRPr>
            </a:pPr>
            <a:r>
              <a:t>1</a:t>
            </a:r>
          </a:p>
        </p:txBody>
      </p:sp>
      <p:sp>
        <p:nvSpPr>
          <p:cNvPr id="18" name="TextBox 17"/>
          <p:cNvSpPr txBox="1"/>
          <p:nvPr/>
        </p:nvSpPr>
        <p:spPr>
          <a:xfrm>
            <a:off x="10104120" y="4434840"/>
            <a:ext cx="1645920" cy="274320"/>
          </a:xfrm>
          <a:prstGeom prst="rect">
            <a:avLst/>
          </a:prstGeom>
          <a:noFill/>
        </p:spPr>
        <p:txBody>
          <a:bodyPr wrap="square">
            <a:spAutoFit/>
          </a:bodyPr>
          <a:lstStyle/>
          <a:p>
            <a:pPr algn="ctr">
              <a:defRPr sz="1100" b="0">
                <a:solidFill>
                  <a:srgbClr val="8A94A6"/>
                </a:solidFill>
                <a:latin typeface="Calibri"/>
              </a:defRPr>
            </a:pPr>
            <a:r>
              <a:t>MCP Connector</a:t>
            </a:r>
          </a:p>
        </p:txBody>
      </p:sp>
      <p:sp>
        <p:nvSpPr>
          <p:cNvPr id="19" name="TextBox 18"/>
          <p:cNvSpPr txBox="1"/>
          <p:nvPr/>
        </p:nvSpPr>
        <p:spPr>
          <a:xfrm>
            <a:off x="731520" y="5212080"/>
            <a:ext cx="4572000" cy="274320"/>
          </a:xfrm>
          <a:prstGeom prst="rect">
            <a:avLst/>
          </a:prstGeom>
          <a:noFill/>
        </p:spPr>
        <p:txBody>
          <a:bodyPr wrap="square">
            <a:spAutoFit/>
          </a:bodyPr>
          <a:lstStyle/>
          <a:p>
            <a:pPr algn="l">
              <a:defRPr sz="1400" b="0">
                <a:solidFill>
                  <a:srgbClr val="FFFFFF"/>
                </a:solidFill>
                <a:latin typeface="Calibri"/>
              </a:defRPr>
            </a:pPr>
            <a:r>
              <a:t>Presented by: Rakesh Agnihotri  |  Capgemini</a:t>
            </a:r>
          </a:p>
        </p:txBody>
      </p:sp>
      <p:sp>
        <p:nvSpPr>
          <p:cNvPr id="20" name="TextBox 19"/>
          <p:cNvSpPr txBox="1"/>
          <p:nvPr/>
        </p:nvSpPr>
        <p:spPr>
          <a:xfrm>
            <a:off x="731520" y="5577840"/>
            <a:ext cx="4572000" cy="274320"/>
          </a:xfrm>
          <a:prstGeom prst="rect">
            <a:avLst/>
          </a:prstGeom>
          <a:noFill/>
        </p:spPr>
        <p:txBody>
          <a:bodyPr wrap="square">
            <a:spAutoFit/>
          </a:bodyPr>
          <a:lstStyle/>
          <a:p>
            <a:pPr algn="l">
              <a:defRPr sz="1300" b="0">
                <a:solidFill>
                  <a:srgbClr val="8A94A6"/>
                </a:solidFill>
                <a:latin typeface="Calibri"/>
              </a:defRPr>
            </a:pPr>
            <a:r>
              <a:t>Date: September 11, 2026</a:t>
            </a:r>
          </a:p>
        </p:txBody>
      </p:sp>
      <p:sp>
        <p:nvSpPr>
          <p:cNvPr id="21" name="Rectangle 20"/>
          <p:cNvSpPr/>
          <p:nvPr/>
        </p:nvSpPr>
        <p:spPr>
          <a:xfrm>
            <a:off x="0" y="6492240"/>
            <a:ext cx="12191695" cy="36576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510528"/>
            <a:ext cx="9144000" cy="320040"/>
          </a:xfrm>
          <a:prstGeom prst="rect">
            <a:avLst/>
          </a:prstGeom>
          <a:noFill/>
        </p:spPr>
        <p:txBody>
          <a:bodyPr wrap="square">
            <a:spAutoFit/>
          </a:bodyPr>
          <a:lstStyle/>
          <a:p>
            <a:pPr algn="l">
              <a:defRPr sz="1100" b="1">
                <a:solidFill>
                  <a:srgbClr val="FFFFFF"/>
                </a:solidFill>
                <a:latin typeface="Calibri"/>
              </a:defRPr>
            </a:pPr>
            <a:r>
              <a:t>100% Snowflake-Native  |  Cortex AI  |  Snowflake CoWork  |  MCP Connectors  |  Zero External Infrastructure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2600" b="1">
                <a:solidFill>
                  <a:srgbClr val="FFFFFF"/>
                </a:solidFill>
                <a:latin typeface="Calibri"/>
              </a:defRPr>
            </a:pPr>
            <a:r>
              <a:t>Solution Approach</a:t>
            </a:r>
          </a:p>
        </p:txBody>
      </p:sp>
      <p:sp>
        <p:nvSpPr>
          <p:cNvPr id="4" name="TextBox 3"/>
          <p:cNvSpPr txBox="1"/>
          <p:nvPr/>
        </p:nvSpPr>
        <p:spPr>
          <a:xfrm>
            <a:off x="548640" y="548640"/>
            <a:ext cx="10058400" cy="365760"/>
          </a:xfrm>
          <a:prstGeom prst="rect">
            <a:avLst/>
          </a:prstGeom>
          <a:noFill/>
        </p:spPr>
        <p:txBody>
          <a:bodyPr wrap="square">
            <a:spAutoFit/>
          </a:bodyPr>
          <a:lstStyle/>
          <a:p>
            <a:pPr algn="l">
              <a:defRPr sz="1300" b="0">
                <a:solidFill>
                  <a:srgbClr val="29B5E8"/>
                </a:solidFill>
                <a:latin typeface="Calibri"/>
              </a:defRPr>
            </a:pPr>
            <a:r>
              <a:t>From business challenge to AI-powered intelligence — a phased, composable architecture</a:t>
            </a:r>
          </a:p>
        </p:txBody>
      </p:sp>
      <p:sp>
        <p:nvSpPr>
          <p:cNvPr id="5" name="Rectangle 4"/>
          <p:cNvSpPr/>
          <p:nvPr/>
        </p:nvSpPr>
        <p:spPr>
          <a:xfrm>
            <a:off x="0" y="1005840"/>
            <a:ext cx="12191695"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731520" cy="274320"/>
          </a:xfrm>
          <a:prstGeom prst="rect">
            <a:avLst/>
          </a:prstGeom>
          <a:noFill/>
        </p:spPr>
        <p:txBody>
          <a:bodyPr wrap="square">
            <a:spAutoFit/>
          </a:bodyPr>
          <a:lstStyle/>
          <a:p>
            <a:pPr algn="r">
              <a:defRPr sz="900" b="0">
                <a:solidFill>
                  <a:srgbClr val="8A94A6"/>
                </a:solidFill>
                <a:latin typeface="Calibri"/>
              </a:defRPr>
            </a:pPr>
            <a:r>
              <a:t>2/10</a:t>
            </a:r>
          </a:p>
        </p:txBody>
      </p:sp>
      <p:sp>
        <p:nvSpPr>
          <p:cNvPr id="7" name="Rectangle 6"/>
          <p:cNvSpPr/>
          <p:nvPr/>
        </p:nvSpPr>
        <p:spPr>
          <a:xfrm>
            <a:off x="365760" y="1280160"/>
            <a:ext cx="731520" cy="27432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80160"/>
            <a:ext cx="731520" cy="274320"/>
          </a:xfrm>
          <a:prstGeom prst="rect">
            <a:avLst/>
          </a:prstGeom>
          <a:noFill/>
        </p:spPr>
        <p:txBody>
          <a:bodyPr wrap="square">
            <a:spAutoFit/>
          </a:bodyPr>
          <a:lstStyle/>
          <a:p>
            <a:pPr algn="ctr">
              <a:defRPr sz="900" b="1">
                <a:solidFill>
                  <a:srgbClr val="FFFFFF"/>
                </a:solidFill>
                <a:latin typeface="Calibri"/>
              </a:defRPr>
            </a:pPr>
            <a:r>
              <a:t>Phase 1</a:t>
            </a:r>
          </a:p>
        </p:txBody>
      </p:sp>
      <p:sp>
        <p:nvSpPr>
          <p:cNvPr id="9" name="TextBox 8"/>
          <p:cNvSpPr txBox="1"/>
          <p:nvPr/>
        </p:nvSpPr>
        <p:spPr>
          <a:xfrm>
            <a:off x="365760" y="1600200"/>
            <a:ext cx="2743200" cy="274320"/>
          </a:xfrm>
          <a:prstGeom prst="rect">
            <a:avLst/>
          </a:prstGeom>
          <a:noFill/>
        </p:spPr>
        <p:txBody>
          <a:bodyPr wrap="square">
            <a:spAutoFit/>
          </a:bodyPr>
          <a:lstStyle/>
          <a:p>
            <a:pPr algn="l">
              <a:defRPr sz="1500" b="1">
                <a:solidFill>
                  <a:srgbClr val="112746"/>
                </a:solidFill>
                <a:latin typeface="Calibri"/>
              </a:defRPr>
            </a:pPr>
            <a:r>
              <a:t>Data Foundation</a:t>
            </a:r>
          </a:p>
        </p:txBody>
      </p:sp>
      <p:sp>
        <p:nvSpPr>
          <p:cNvPr id="10" name="TextBox 9"/>
          <p:cNvSpPr txBox="1"/>
          <p:nvPr/>
        </p:nvSpPr>
        <p:spPr>
          <a:xfrm>
            <a:off x="365760" y="1920240"/>
            <a:ext cx="2743200" cy="1371600"/>
          </a:xfrm>
          <a:prstGeom prst="rect">
            <a:avLst/>
          </a:prstGeom>
          <a:noFill/>
        </p:spPr>
        <p:txBody>
          <a:bodyPr wrap="square">
            <a:spAutoFit/>
          </a:bodyPr>
          <a:lstStyle/>
          <a:p>
            <a:pPr>
              <a:spcAft>
                <a:spcPts val="400"/>
              </a:spcAft>
            </a:pPr>
            <a:r>
              <a:rPr sz="1100">
                <a:solidFill>
                  <a:srgbClr val="1E293B"/>
                </a:solidFill>
                <a:latin typeface="Calibri"/>
              </a:rPr>
              <a:t>▸  18 tables across 3 schemas</a:t>
            </a:r>
          </a:p>
          <a:p>
            <a:pPr>
              <a:spcAft>
                <a:spcPts val="400"/>
              </a:spcAft>
            </a:pPr>
            <a:r>
              <a:rPr sz="1100">
                <a:solidFill>
                  <a:srgbClr val="1E293B"/>
                </a:solidFill>
                <a:latin typeface="Calibri"/>
              </a:rPr>
              <a:t>▸  Governance tags + masking</a:t>
            </a:r>
          </a:p>
          <a:p>
            <a:pPr>
              <a:spcAft>
                <a:spcPts val="400"/>
              </a:spcAft>
            </a:pPr>
            <a:r>
              <a:rPr sz="1100">
                <a:solidFill>
                  <a:srgbClr val="1E293B"/>
                </a:solidFill>
                <a:latin typeface="Calibri"/>
              </a:rPr>
              <a:t>▸  Seed data generation</a:t>
            </a:r>
          </a:p>
          <a:p>
            <a:pPr>
              <a:spcAft>
                <a:spcPts val="400"/>
              </a:spcAft>
            </a:pPr>
            <a:r>
              <a:rPr sz="1100">
                <a:solidFill>
                  <a:srgbClr val="1E293B"/>
                </a:solidFill>
                <a:latin typeface="Calibri"/>
              </a:rPr>
              <a:t>▸  RBAC role hierarchy</a:t>
            </a:r>
          </a:p>
        </p:txBody>
      </p:sp>
      <p:sp>
        <p:nvSpPr>
          <p:cNvPr id="11" name="Right Arrow 10"/>
          <p:cNvSpPr/>
          <p:nvPr/>
        </p:nvSpPr>
        <p:spPr>
          <a:xfrm>
            <a:off x="3154680" y="2103120"/>
            <a:ext cx="109728" cy="137160"/>
          </a:xfrm>
          <a:prstGeom prst="right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280160"/>
            <a:ext cx="731520" cy="27432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1280160"/>
            <a:ext cx="731520" cy="274320"/>
          </a:xfrm>
          <a:prstGeom prst="rect">
            <a:avLst/>
          </a:prstGeom>
          <a:noFill/>
        </p:spPr>
        <p:txBody>
          <a:bodyPr wrap="square">
            <a:spAutoFit/>
          </a:bodyPr>
          <a:lstStyle/>
          <a:p>
            <a:pPr algn="ctr">
              <a:defRPr sz="900" b="1">
                <a:solidFill>
                  <a:srgbClr val="FFFFFF"/>
                </a:solidFill>
                <a:latin typeface="Calibri"/>
              </a:defRPr>
            </a:pPr>
            <a:r>
              <a:t>Phase 2</a:t>
            </a:r>
          </a:p>
        </p:txBody>
      </p:sp>
      <p:sp>
        <p:nvSpPr>
          <p:cNvPr id="14" name="TextBox 13"/>
          <p:cNvSpPr txBox="1"/>
          <p:nvPr/>
        </p:nvSpPr>
        <p:spPr>
          <a:xfrm>
            <a:off x="3291840" y="1600200"/>
            <a:ext cx="2743200" cy="274320"/>
          </a:xfrm>
          <a:prstGeom prst="rect">
            <a:avLst/>
          </a:prstGeom>
          <a:noFill/>
        </p:spPr>
        <p:txBody>
          <a:bodyPr wrap="square">
            <a:spAutoFit/>
          </a:bodyPr>
          <a:lstStyle/>
          <a:p>
            <a:pPr algn="l">
              <a:defRPr sz="1500" b="1">
                <a:solidFill>
                  <a:srgbClr val="112746"/>
                </a:solidFill>
                <a:latin typeface="Calibri"/>
              </a:defRPr>
            </a:pPr>
            <a:r>
              <a:t>Semantic Layer</a:t>
            </a:r>
          </a:p>
        </p:txBody>
      </p:sp>
      <p:sp>
        <p:nvSpPr>
          <p:cNvPr id="15" name="TextBox 14"/>
          <p:cNvSpPr txBox="1"/>
          <p:nvPr/>
        </p:nvSpPr>
        <p:spPr>
          <a:xfrm>
            <a:off x="3291840" y="1920240"/>
            <a:ext cx="2743200" cy="1371600"/>
          </a:xfrm>
          <a:prstGeom prst="rect">
            <a:avLst/>
          </a:prstGeom>
          <a:noFill/>
        </p:spPr>
        <p:txBody>
          <a:bodyPr wrap="square">
            <a:spAutoFit/>
          </a:bodyPr>
          <a:lstStyle/>
          <a:p>
            <a:pPr>
              <a:spcAft>
                <a:spcPts val="400"/>
              </a:spcAft>
            </a:pPr>
            <a:r>
              <a:rPr sz="1100">
                <a:solidFill>
                  <a:srgbClr val="1E293B"/>
                </a:solidFill>
                <a:latin typeface="Calibri"/>
              </a:rPr>
              <a:t>▸  5 Semantic Views</a:t>
            </a:r>
          </a:p>
          <a:p>
            <a:pPr>
              <a:spcAft>
                <a:spcPts val="400"/>
              </a:spcAft>
            </a:pPr>
            <a:r>
              <a:rPr sz="1100">
                <a:solidFill>
                  <a:srgbClr val="1E293B"/>
                </a:solidFill>
                <a:latin typeface="Calibri"/>
              </a:rPr>
              <a:t>▸  25+ Verified Queries (VQRs)</a:t>
            </a:r>
          </a:p>
          <a:p>
            <a:pPr>
              <a:spcAft>
                <a:spcPts val="400"/>
              </a:spcAft>
            </a:pPr>
            <a:r>
              <a:rPr sz="1100">
                <a:solidFill>
                  <a:srgbClr val="1E293B"/>
                </a:solidFill>
                <a:latin typeface="Calibri"/>
              </a:rPr>
              <a:t>▸  Multi-table relationships</a:t>
            </a:r>
          </a:p>
          <a:p>
            <a:pPr>
              <a:spcAft>
                <a:spcPts val="400"/>
              </a:spcAft>
            </a:pPr>
            <a:r>
              <a:rPr sz="1100">
                <a:solidFill>
                  <a:srgbClr val="1E293B"/>
                </a:solidFill>
                <a:latin typeface="Calibri"/>
              </a:rPr>
              <a:t>▸  Cortex Analyst integration</a:t>
            </a:r>
          </a:p>
        </p:txBody>
      </p:sp>
      <p:sp>
        <p:nvSpPr>
          <p:cNvPr id="16" name="Right Arrow 15"/>
          <p:cNvSpPr/>
          <p:nvPr/>
        </p:nvSpPr>
        <p:spPr>
          <a:xfrm>
            <a:off x="6080760" y="2103120"/>
            <a:ext cx="109728" cy="137160"/>
          </a:xfrm>
          <a:prstGeom prst="right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280160"/>
            <a:ext cx="731520" cy="274320"/>
          </a:xfrm>
          <a:prstGeom prst="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280160"/>
            <a:ext cx="731520" cy="274320"/>
          </a:xfrm>
          <a:prstGeom prst="rect">
            <a:avLst/>
          </a:prstGeom>
          <a:noFill/>
        </p:spPr>
        <p:txBody>
          <a:bodyPr wrap="square">
            <a:spAutoFit/>
          </a:bodyPr>
          <a:lstStyle/>
          <a:p>
            <a:pPr algn="ctr">
              <a:defRPr sz="900" b="1">
                <a:solidFill>
                  <a:srgbClr val="FFFFFF"/>
                </a:solidFill>
                <a:latin typeface="Calibri"/>
              </a:defRPr>
            </a:pPr>
            <a:r>
              <a:t>Phase 3</a:t>
            </a:r>
          </a:p>
        </p:txBody>
      </p:sp>
      <p:sp>
        <p:nvSpPr>
          <p:cNvPr id="19" name="TextBox 18"/>
          <p:cNvSpPr txBox="1"/>
          <p:nvPr/>
        </p:nvSpPr>
        <p:spPr>
          <a:xfrm>
            <a:off x="6217920" y="1600200"/>
            <a:ext cx="2743200" cy="274320"/>
          </a:xfrm>
          <a:prstGeom prst="rect">
            <a:avLst/>
          </a:prstGeom>
          <a:noFill/>
        </p:spPr>
        <p:txBody>
          <a:bodyPr wrap="square">
            <a:spAutoFit/>
          </a:bodyPr>
          <a:lstStyle/>
          <a:p>
            <a:pPr algn="l">
              <a:defRPr sz="1500" b="1">
                <a:solidFill>
                  <a:srgbClr val="112746"/>
                </a:solidFill>
                <a:latin typeface="Calibri"/>
              </a:defRPr>
            </a:pPr>
            <a:r>
              <a:t>AI Intelligence</a:t>
            </a:r>
          </a:p>
        </p:txBody>
      </p:sp>
      <p:sp>
        <p:nvSpPr>
          <p:cNvPr id="20" name="TextBox 19"/>
          <p:cNvSpPr txBox="1"/>
          <p:nvPr/>
        </p:nvSpPr>
        <p:spPr>
          <a:xfrm>
            <a:off x="6217920" y="1920240"/>
            <a:ext cx="2743200" cy="1371600"/>
          </a:xfrm>
          <a:prstGeom prst="rect">
            <a:avLst/>
          </a:prstGeom>
          <a:noFill/>
        </p:spPr>
        <p:txBody>
          <a:bodyPr wrap="square">
            <a:spAutoFit/>
          </a:bodyPr>
          <a:lstStyle/>
          <a:p>
            <a:pPr>
              <a:spcAft>
                <a:spcPts val="400"/>
              </a:spcAft>
            </a:pPr>
            <a:r>
              <a:rPr sz="1100">
                <a:solidFill>
                  <a:srgbClr val="1E293B"/>
                </a:solidFill>
                <a:latin typeface="Calibri"/>
              </a:rPr>
              <a:t>▸  5 Cortex Agents</a:t>
            </a:r>
          </a:p>
          <a:p>
            <a:pPr>
              <a:spcAft>
                <a:spcPts val="400"/>
              </a:spcAft>
            </a:pPr>
            <a:r>
              <a:rPr sz="1100">
                <a:solidFill>
                  <a:srgbClr val="1E293B"/>
                </a:solidFill>
                <a:latin typeface="Calibri"/>
              </a:rPr>
              <a:t>▸  Cortex Search (RAG)</a:t>
            </a:r>
          </a:p>
          <a:p>
            <a:pPr>
              <a:spcAft>
                <a:spcPts val="400"/>
              </a:spcAft>
            </a:pPr>
            <a:r>
              <a:rPr sz="1100">
                <a:solidFill>
                  <a:srgbClr val="1E293B"/>
                </a:solidFill>
                <a:latin typeface="Calibri"/>
              </a:rPr>
              <a:t>▸  NL-to-SQL orchestration</a:t>
            </a:r>
          </a:p>
          <a:p>
            <a:pPr>
              <a:spcAft>
                <a:spcPts val="400"/>
              </a:spcAft>
            </a:pPr>
            <a:r>
              <a:rPr sz="1100">
                <a:solidFill>
                  <a:srgbClr val="1E293B"/>
                </a:solidFill>
                <a:latin typeface="Calibri"/>
              </a:rPr>
              <a:t>▸  Data-to-Chart visualization</a:t>
            </a:r>
          </a:p>
        </p:txBody>
      </p:sp>
      <p:sp>
        <p:nvSpPr>
          <p:cNvPr id="21" name="Right Arrow 20"/>
          <p:cNvSpPr/>
          <p:nvPr/>
        </p:nvSpPr>
        <p:spPr>
          <a:xfrm>
            <a:off x="9006840" y="2103120"/>
            <a:ext cx="109728" cy="137160"/>
          </a:xfrm>
          <a:prstGeom prst="right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1280160"/>
            <a:ext cx="731520" cy="274320"/>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0" y="1280160"/>
            <a:ext cx="731520" cy="274320"/>
          </a:xfrm>
          <a:prstGeom prst="rect">
            <a:avLst/>
          </a:prstGeom>
          <a:noFill/>
        </p:spPr>
        <p:txBody>
          <a:bodyPr wrap="square">
            <a:spAutoFit/>
          </a:bodyPr>
          <a:lstStyle/>
          <a:p>
            <a:pPr algn="ctr">
              <a:defRPr sz="900" b="1">
                <a:solidFill>
                  <a:srgbClr val="FFFFFF"/>
                </a:solidFill>
                <a:latin typeface="Calibri"/>
              </a:defRPr>
            </a:pPr>
            <a:r>
              <a:t>Phase 4</a:t>
            </a:r>
          </a:p>
        </p:txBody>
      </p:sp>
      <p:sp>
        <p:nvSpPr>
          <p:cNvPr id="24" name="TextBox 23"/>
          <p:cNvSpPr txBox="1"/>
          <p:nvPr/>
        </p:nvSpPr>
        <p:spPr>
          <a:xfrm>
            <a:off x="9144000" y="1600200"/>
            <a:ext cx="2743200" cy="274320"/>
          </a:xfrm>
          <a:prstGeom prst="rect">
            <a:avLst/>
          </a:prstGeom>
          <a:noFill/>
        </p:spPr>
        <p:txBody>
          <a:bodyPr wrap="square">
            <a:spAutoFit/>
          </a:bodyPr>
          <a:lstStyle/>
          <a:p>
            <a:pPr algn="l">
              <a:defRPr sz="1500" b="1">
                <a:solidFill>
                  <a:srgbClr val="112746"/>
                </a:solidFill>
                <a:latin typeface="Calibri"/>
              </a:defRPr>
            </a:pPr>
            <a:r>
              <a:t>Enterprise Integration</a:t>
            </a:r>
          </a:p>
        </p:txBody>
      </p:sp>
      <p:sp>
        <p:nvSpPr>
          <p:cNvPr id="25" name="TextBox 24"/>
          <p:cNvSpPr txBox="1"/>
          <p:nvPr/>
        </p:nvSpPr>
        <p:spPr>
          <a:xfrm>
            <a:off x="9144000" y="1920240"/>
            <a:ext cx="2743200" cy="1371600"/>
          </a:xfrm>
          <a:prstGeom prst="rect">
            <a:avLst/>
          </a:prstGeom>
          <a:noFill/>
        </p:spPr>
        <p:txBody>
          <a:bodyPr wrap="square">
            <a:spAutoFit/>
          </a:bodyPr>
          <a:lstStyle/>
          <a:p>
            <a:pPr>
              <a:spcAft>
                <a:spcPts val="400"/>
              </a:spcAft>
            </a:pPr>
            <a:r>
              <a:rPr sz="1100">
                <a:solidFill>
                  <a:srgbClr val="1E293B"/>
                </a:solidFill>
                <a:latin typeface="Calibri"/>
              </a:rPr>
              <a:t>▸  MCP Connector (Atlassian)</a:t>
            </a:r>
          </a:p>
          <a:p>
            <a:pPr>
              <a:spcAft>
                <a:spcPts val="400"/>
              </a:spcAft>
            </a:pPr>
            <a:r>
              <a:rPr sz="1100">
                <a:solidFill>
                  <a:srgbClr val="1E293B"/>
                </a:solidFill>
                <a:latin typeface="Calibri"/>
              </a:rPr>
              <a:t>▸  Snowflake CoWork (UI)</a:t>
            </a:r>
          </a:p>
          <a:p>
            <a:pPr>
              <a:spcAft>
                <a:spcPts val="400"/>
              </a:spcAft>
            </a:pPr>
            <a:r>
              <a:rPr sz="1100">
                <a:solidFill>
                  <a:srgbClr val="1E293B"/>
                </a:solidFill>
                <a:latin typeface="Calibri"/>
              </a:rPr>
              <a:t>▸  Jira ticket creation</a:t>
            </a:r>
          </a:p>
          <a:p>
            <a:pPr>
              <a:spcAft>
                <a:spcPts val="400"/>
              </a:spcAft>
            </a:pPr>
            <a:r>
              <a:rPr sz="1100">
                <a:solidFill>
                  <a:srgbClr val="1E293B"/>
                </a:solidFill>
                <a:latin typeface="Calibri"/>
              </a:rPr>
              <a:t>▸  Per-user OAuth authentication</a:t>
            </a:r>
          </a:p>
        </p:txBody>
      </p:sp>
      <p:sp>
        <p:nvSpPr>
          <p:cNvPr id="26" name="TextBox 25"/>
          <p:cNvSpPr txBox="1"/>
          <p:nvPr/>
        </p:nvSpPr>
        <p:spPr>
          <a:xfrm>
            <a:off x="365760" y="3474720"/>
            <a:ext cx="5486400" cy="274320"/>
          </a:xfrm>
          <a:prstGeom prst="rect">
            <a:avLst/>
          </a:prstGeom>
          <a:noFill/>
        </p:spPr>
        <p:txBody>
          <a:bodyPr wrap="square">
            <a:spAutoFit/>
          </a:bodyPr>
          <a:lstStyle/>
          <a:p>
            <a:pPr algn="l">
              <a:defRPr sz="1600" b="1">
                <a:solidFill>
                  <a:srgbClr val="112746"/>
                </a:solidFill>
                <a:latin typeface="Calibri"/>
              </a:defRPr>
            </a:pPr>
            <a:r>
              <a:t>Design Principles</a:t>
            </a:r>
          </a:p>
        </p:txBody>
      </p:sp>
      <p:sp>
        <p:nvSpPr>
          <p:cNvPr id="27" name="TextBox 26"/>
          <p:cNvSpPr txBox="1"/>
          <p:nvPr/>
        </p:nvSpPr>
        <p:spPr>
          <a:xfrm>
            <a:off x="365760" y="3794760"/>
            <a:ext cx="11430000" cy="2743200"/>
          </a:xfrm>
          <a:prstGeom prst="rect">
            <a:avLst/>
          </a:prstGeom>
          <a:noFill/>
        </p:spPr>
        <p:txBody>
          <a:bodyPr wrap="square">
            <a:spAutoFit/>
          </a:bodyPr>
          <a:lstStyle/>
          <a:p>
            <a:pPr>
              <a:spcAft>
                <a:spcPts val="600"/>
              </a:spcAft>
            </a:pPr>
            <a:r>
              <a:rPr sz="1200">
                <a:solidFill>
                  <a:srgbClr val="1E293B"/>
                </a:solidFill>
                <a:latin typeface="Calibri"/>
              </a:rPr>
              <a:t>★  100% Snowflake-Native: No external compute, ML infra, or orchestration tooling needed</a:t>
            </a:r>
          </a:p>
          <a:p>
            <a:pPr>
              <a:spcAft>
                <a:spcPts val="600"/>
              </a:spcAft>
            </a:pPr>
            <a:r>
              <a:rPr sz="1200">
                <a:solidFill>
                  <a:srgbClr val="1E293B"/>
                </a:solidFill>
                <a:latin typeface="Calibri"/>
              </a:rPr>
              <a:t>★  Composable Architecture: Each component can be deployed, tested, and scaled independently</a:t>
            </a:r>
          </a:p>
          <a:p>
            <a:pPr>
              <a:spcAft>
                <a:spcPts val="600"/>
              </a:spcAft>
            </a:pPr>
            <a:r>
              <a:rPr sz="1200">
                <a:solidFill>
                  <a:srgbClr val="1E293B"/>
                </a:solidFill>
                <a:latin typeface="Calibri"/>
              </a:rPr>
              <a:t>★  Additive Enhancements: Original 3-tool agent preserved; new agents extend without breaking</a:t>
            </a:r>
          </a:p>
          <a:p>
            <a:pPr>
              <a:spcAft>
                <a:spcPts val="600"/>
              </a:spcAft>
            </a:pPr>
            <a:r>
              <a:rPr sz="1200">
                <a:solidFill>
                  <a:srgbClr val="1E293B"/>
                </a:solidFill>
                <a:latin typeface="Calibri"/>
              </a:rPr>
              <a:t>★  Governed by Default: PII tags, masking policies, and RBAC applied at table creation time</a:t>
            </a:r>
          </a:p>
          <a:p>
            <a:pPr>
              <a:spcAft>
                <a:spcPts val="600"/>
              </a:spcAft>
            </a:pPr>
            <a:r>
              <a:rPr sz="1200">
                <a:solidFill>
                  <a:srgbClr val="1E293B"/>
                </a:solidFill>
                <a:latin typeface="Calibri"/>
              </a:rPr>
              <a:t>★  Grounded AI: All agent responses cite source data; hallucination prevented by design</a:t>
            </a:r>
          </a:p>
          <a:p>
            <a:pPr>
              <a:spcAft>
                <a:spcPts val="600"/>
              </a:spcAft>
            </a:pPr>
            <a:r>
              <a:rPr sz="1200">
                <a:solidFill>
                  <a:srgbClr val="1E293B"/>
                </a:solidFill>
                <a:latin typeface="Calibri"/>
              </a:rPr>
              <a:t>★  Enterprise-Ready: MCP integration enables action (Jira tickets) from insights, not just reports</a:t>
            </a:r>
          </a:p>
        </p:txBody>
      </p:sp>
      <p:sp>
        <p:nvSpPr>
          <p:cNvPr id="28" name="Rectangle 27"/>
          <p:cNvSpPr/>
          <p:nvPr/>
        </p:nvSpPr>
        <p:spPr>
          <a:xfrm>
            <a:off x="365760" y="5852160"/>
            <a:ext cx="11430000" cy="640080"/>
          </a:xfrm>
          <a:prstGeom prst="rect">
            <a:avLst/>
          </a:prstGeom>
          <a:solidFill>
            <a:srgbClr val="E3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943600"/>
            <a:ext cx="11064240" cy="457200"/>
          </a:xfrm>
          <a:prstGeom prst="rect">
            <a:avLst/>
          </a:prstGeom>
          <a:noFill/>
        </p:spPr>
        <p:txBody>
          <a:bodyPr wrap="square">
            <a:spAutoFit/>
          </a:bodyPr>
          <a:lstStyle/>
          <a:p>
            <a:pPr algn="l">
              <a:defRPr sz="1100" b="0">
                <a:solidFill>
                  <a:srgbClr val="112746"/>
                </a:solidFill>
                <a:latin typeface="Calibri"/>
              </a:defRPr>
            </a:pPr>
            <a:r>
              <a:t>Key Differentiator: Unlike traditional BI stacks requiring ETL pipelines, separate ML platforms, and integration middleware — this solution uses Snowflake as the single platform for storage, compute, AI, governance, and end-user interaction via CoWork.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2600" b="1">
                <a:solidFill>
                  <a:srgbClr val="FFFFFF"/>
                </a:solidFill>
                <a:latin typeface="Calibri"/>
              </a:defRPr>
            </a:pPr>
            <a:r>
              <a:t>Technical Architecture</a:t>
            </a:r>
          </a:p>
        </p:txBody>
      </p:sp>
      <p:sp>
        <p:nvSpPr>
          <p:cNvPr id="4" name="TextBox 3"/>
          <p:cNvSpPr txBox="1"/>
          <p:nvPr/>
        </p:nvSpPr>
        <p:spPr>
          <a:xfrm>
            <a:off x="548640" y="548640"/>
            <a:ext cx="10058400" cy="365760"/>
          </a:xfrm>
          <a:prstGeom prst="rect">
            <a:avLst/>
          </a:prstGeom>
          <a:noFill/>
        </p:spPr>
        <p:txBody>
          <a:bodyPr wrap="square">
            <a:spAutoFit/>
          </a:bodyPr>
          <a:lstStyle/>
          <a:p>
            <a:pPr algn="l">
              <a:defRPr sz="1300" b="0">
                <a:solidFill>
                  <a:srgbClr val="29B5E8"/>
                </a:solidFill>
                <a:latin typeface="Calibri"/>
              </a:defRPr>
            </a:pPr>
            <a:r>
              <a:t>How every component connects — from user query to data response</a:t>
            </a:r>
          </a:p>
        </p:txBody>
      </p:sp>
      <p:sp>
        <p:nvSpPr>
          <p:cNvPr id="5" name="Rectangle 4"/>
          <p:cNvSpPr/>
          <p:nvPr/>
        </p:nvSpPr>
        <p:spPr>
          <a:xfrm>
            <a:off x="0" y="1005840"/>
            <a:ext cx="12191695"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731520" cy="274320"/>
          </a:xfrm>
          <a:prstGeom prst="rect">
            <a:avLst/>
          </a:prstGeom>
          <a:noFill/>
        </p:spPr>
        <p:txBody>
          <a:bodyPr wrap="square">
            <a:spAutoFit/>
          </a:bodyPr>
          <a:lstStyle/>
          <a:p>
            <a:pPr algn="r">
              <a:defRPr sz="900" b="0">
                <a:solidFill>
                  <a:srgbClr val="8A94A6"/>
                </a:solidFill>
                <a:latin typeface="Calibri"/>
              </a:defRPr>
            </a:pPr>
            <a:r>
              <a:t>3/10</a:t>
            </a:r>
          </a:p>
        </p:txBody>
      </p:sp>
      <p:sp>
        <p:nvSpPr>
          <p:cNvPr id="7" name="TextBox 6"/>
          <p:cNvSpPr txBox="1"/>
          <p:nvPr/>
        </p:nvSpPr>
        <p:spPr>
          <a:xfrm>
            <a:off x="274320" y="1234440"/>
            <a:ext cx="1371600" cy="274320"/>
          </a:xfrm>
          <a:prstGeom prst="rect">
            <a:avLst/>
          </a:prstGeom>
          <a:noFill/>
        </p:spPr>
        <p:txBody>
          <a:bodyPr wrap="square">
            <a:spAutoFit/>
          </a:bodyPr>
          <a:lstStyle/>
          <a:p>
            <a:pPr algn="l">
              <a:defRPr sz="1000" b="1">
                <a:solidFill>
                  <a:srgbClr val="8A94A6"/>
                </a:solidFill>
                <a:latin typeface="Calibri"/>
              </a:defRPr>
            </a:pPr>
            <a:r>
              <a:t>USER LAYER</a:t>
            </a:r>
          </a:p>
        </p:txBody>
      </p:sp>
      <p:sp>
        <p:nvSpPr>
          <p:cNvPr id="8" name="Rectangle 7"/>
          <p:cNvSpPr/>
          <p:nvPr/>
        </p:nvSpPr>
        <p:spPr>
          <a:xfrm>
            <a:off x="1737360" y="1234440"/>
            <a:ext cx="2286000" cy="64008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47088" y="1297940"/>
            <a:ext cx="2066544" cy="228600"/>
          </a:xfrm>
          <a:prstGeom prst="rect">
            <a:avLst/>
          </a:prstGeom>
          <a:noFill/>
        </p:spPr>
        <p:txBody>
          <a:bodyPr wrap="square">
            <a:spAutoFit/>
          </a:bodyPr>
          <a:lstStyle/>
          <a:p>
            <a:pPr algn="ctr">
              <a:defRPr sz="1100" b="1">
                <a:solidFill>
                  <a:srgbClr val="FFFFFF"/>
                </a:solidFill>
                <a:latin typeface="Calibri"/>
              </a:defRPr>
            </a:pPr>
            <a:r>
              <a:t>Snowflake CoWork</a:t>
            </a:r>
          </a:p>
        </p:txBody>
      </p:sp>
      <p:sp>
        <p:nvSpPr>
          <p:cNvPr id="10" name="TextBox 9"/>
          <p:cNvSpPr txBox="1"/>
          <p:nvPr/>
        </p:nvSpPr>
        <p:spPr>
          <a:xfrm>
            <a:off x="1828800" y="1539240"/>
            <a:ext cx="2103120" cy="182880"/>
          </a:xfrm>
          <a:prstGeom prst="rect">
            <a:avLst/>
          </a:prstGeom>
          <a:noFill/>
        </p:spPr>
        <p:txBody>
          <a:bodyPr wrap="square">
            <a:spAutoFit/>
          </a:bodyPr>
          <a:lstStyle/>
          <a:p>
            <a:pPr algn="l">
              <a:defRPr sz="800" b="0">
                <a:solidFill>
                  <a:srgbClr val="FFFFFF"/>
                </a:solidFill>
                <a:latin typeface="Calibri"/>
              </a:defRPr>
            </a:pPr>
            <a:r>
              <a:t>• Conversational UI</a:t>
            </a:r>
          </a:p>
        </p:txBody>
      </p:sp>
      <p:sp>
        <p:nvSpPr>
          <p:cNvPr id="11" name="TextBox 10"/>
          <p:cNvSpPr txBox="1"/>
          <p:nvPr/>
        </p:nvSpPr>
        <p:spPr>
          <a:xfrm>
            <a:off x="1828800" y="1704340"/>
            <a:ext cx="2103120" cy="182880"/>
          </a:xfrm>
          <a:prstGeom prst="rect">
            <a:avLst/>
          </a:prstGeom>
          <a:noFill/>
        </p:spPr>
        <p:txBody>
          <a:bodyPr wrap="square">
            <a:spAutoFit/>
          </a:bodyPr>
          <a:lstStyle/>
          <a:p>
            <a:pPr algn="l">
              <a:defRPr sz="800" b="0">
                <a:solidFill>
                  <a:srgbClr val="FFFFFF"/>
                </a:solidFill>
                <a:latin typeface="Calibri"/>
              </a:defRPr>
            </a:pPr>
            <a:r>
              <a:t>• Agent selection &amp; chat</a:t>
            </a:r>
          </a:p>
        </p:txBody>
      </p:sp>
      <p:sp>
        <p:nvSpPr>
          <p:cNvPr id="12" name="Rectangle 11"/>
          <p:cNvSpPr/>
          <p:nvPr/>
        </p:nvSpPr>
        <p:spPr>
          <a:xfrm>
            <a:off x="4206240" y="1234440"/>
            <a:ext cx="2286000" cy="64008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15968" y="1297940"/>
            <a:ext cx="2066544" cy="228600"/>
          </a:xfrm>
          <a:prstGeom prst="rect">
            <a:avLst/>
          </a:prstGeom>
          <a:noFill/>
        </p:spPr>
        <p:txBody>
          <a:bodyPr wrap="square">
            <a:spAutoFit/>
          </a:bodyPr>
          <a:lstStyle/>
          <a:p>
            <a:pPr algn="ctr">
              <a:defRPr sz="1100" b="1">
                <a:solidFill>
                  <a:srgbClr val="FFFFFF"/>
                </a:solidFill>
                <a:latin typeface="Calibri"/>
              </a:defRPr>
            </a:pPr>
            <a:r>
              <a:t>React Dashboard (9 pages)</a:t>
            </a:r>
          </a:p>
        </p:txBody>
      </p:sp>
      <p:sp>
        <p:nvSpPr>
          <p:cNvPr id="14" name="TextBox 13"/>
          <p:cNvSpPr txBox="1"/>
          <p:nvPr/>
        </p:nvSpPr>
        <p:spPr>
          <a:xfrm>
            <a:off x="4297680" y="1539240"/>
            <a:ext cx="2103120" cy="182880"/>
          </a:xfrm>
          <a:prstGeom prst="rect">
            <a:avLst/>
          </a:prstGeom>
          <a:noFill/>
        </p:spPr>
        <p:txBody>
          <a:bodyPr wrap="square">
            <a:spAutoFit/>
          </a:bodyPr>
          <a:lstStyle/>
          <a:p>
            <a:pPr algn="l">
              <a:defRPr sz="800" b="0">
                <a:solidFill>
                  <a:srgbClr val="FFFFFF"/>
                </a:solidFill>
                <a:latin typeface="Calibri"/>
              </a:defRPr>
            </a:pPr>
            <a:r>
              <a:t>• PAT auth → SQL API</a:t>
            </a:r>
          </a:p>
        </p:txBody>
      </p:sp>
      <p:sp>
        <p:nvSpPr>
          <p:cNvPr id="15" name="TextBox 14"/>
          <p:cNvSpPr txBox="1"/>
          <p:nvPr/>
        </p:nvSpPr>
        <p:spPr>
          <a:xfrm>
            <a:off x="4297680" y="1704340"/>
            <a:ext cx="2103120" cy="182880"/>
          </a:xfrm>
          <a:prstGeom prst="rect">
            <a:avLst/>
          </a:prstGeom>
          <a:noFill/>
        </p:spPr>
        <p:txBody>
          <a:bodyPr wrap="square">
            <a:spAutoFit/>
          </a:bodyPr>
          <a:lstStyle/>
          <a:p>
            <a:pPr algn="l">
              <a:defRPr sz="800" b="0">
                <a:solidFill>
                  <a:srgbClr val="FFFFFF"/>
                </a:solidFill>
                <a:latin typeface="Calibri"/>
              </a:defRPr>
            </a:pPr>
            <a:r>
              <a:t>• Cortex Agent API</a:t>
            </a:r>
          </a:p>
        </p:txBody>
      </p:sp>
      <p:sp>
        <p:nvSpPr>
          <p:cNvPr id="16" name="Rectangle 15"/>
          <p:cNvSpPr/>
          <p:nvPr/>
        </p:nvSpPr>
        <p:spPr>
          <a:xfrm>
            <a:off x="6675120" y="1234440"/>
            <a:ext cx="2286000" cy="640080"/>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84848" y="1297940"/>
            <a:ext cx="2066544" cy="228600"/>
          </a:xfrm>
          <a:prstGeom prst="rect">
            <a:avLst/>
          </a:prstGeom>
          <a:noFill/>
        </p:spPr>
        <p:txBody>
          <a:bodyPr wrap="square">
            <a:spAutoFit/>
          </a:bodyPr>
          <a:lstStyle/>
          <a:p>
            <a:pPr algn="ctr">
              <a:defRPr sz="1100" b="1">
                <a:solidFill>
                  <a:srgbClr val="FFFFFF"/>
                </a:solidFill>
                <a:latin typeface="Calibri"/>
              </a:defRPr>
            </a:pPr>
            <a:r>
              <a:t>MCP Clients</a:t>
            </a:r>
          </a:p>
        </p:txBody>
      </p:sp>
      <p:sp>
        <p:nvSpPr>
          <p:cNvPr id="18" name="TextBox 17"/>
          <p:cNvSpPr txBox="1"/>
          <p:nvPr/>
        </p:nvSpPr>
        <p:spPr>
          <a:xfrm>
            <a:off x="6766560" y="1539240"/>
            <a:ext cx="2103120" cy="182880"/>
          </a:xfrm>
          <a:prstGeom prst="rect">
            <a:avLst/>
          </a:prstGeom>
          <a:noFill/>
        </p:spPr>
        <p:txBody>
          <a:bodyPr wrap="square">
            <a:spAutoFit/>
          </a:bodyPr>
          <a:lstStyle/>
          <a:p>
            <a:pPr algn="l">
              <a:defRPr sz="800" b="0">
                <a:solidFill>
                  <a:srgbClr val="FFFFFF"/>
                </a:solidFill>
                <a:latin typeface="Calibri"/>
              </a:defRPr>
            </a:pPr>
            <a:r>
              <a:t>• Atlassian Jira</a:t>
            </a:r>
          </a:p>
        </p:txBody>
      </p:sp>
      <p:sp>
        <p:nvSpPr>
          <p:cNvPr id="19" name="TextBox 18"/>
          <p:cNvSpPr txBox="1"/>
          <p:nvPr/>
        </p:nvSpPr>
        <p:spPr>
          <a:xfrm>
            <a:off x="6766560" y="1704340"/>
            <a:ext cx="2103120" cy="182880"/>
          </a:xfrm>
          <a:prstGeom prst="rect">
            <a:avLst/>
          </a:prstGeom>
          <a:noFill/>
        </p:spPr>
        <p:txBody>
          <a:bodyPr wrap="square">
            <a:spAutoFit/>
          </a:bodyPr>
          <a:lstStyle/>
          <a:p>
            <a:pPr algn="l">
              <a:defRPr sz="800" b="0">
                <a:solidFill>
                  <a:srgbClr val="FFFFFF"/>
                </a:solidFill>
                <a:latin typeface="Calibri"/>
              </a:defRPr>
            </a:pPr>
            <a:r>
              <a:t>• Confluence</a:t>
            </a:r>
          </a:p>
        </p:txBody>
      </p:sp>
      <p:sp>
        <p:nvSpPr>
          <p:cNvPr id="20" name="Rectangle 19"/>
          <p:cNvSpPr/>
          <p:nvPr/>
        </p:nvSpPr>
        <p:spPr>
          <a:xfrm>
            <a:off x="9144000" y="1234440"/>
            <a:ext cx="2560320" cy="640080"/>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3728" y="1297940"/>
            <a:ext cx="2340864" cy="228600"/>
          </a:xfrm>
          <a:prstGeom prst="rect">
            <a:avLst/>
          </a:prstGeom>
          <a:noFill/>
        </p:spPr>
        <p:txBody>
          <a:bodyPr wrap="square">
            <a:spAutoFit/>
          </a:bodyPr>
          <a:lstStyle/>
          <a:p>
            <a:pPr algn="ctr">
              <a:defRPr sz="1100" b="1">
                <a:solidFill>
                  <a:srgbClr val="FFFFFF"/>
                </a:solidFill>
                <a:latin typeface="Calibri"/>
              </a:defRPr>
            </a:pPr>
            <a:r>
              <a:t>SQL / REST API</a:t>
            </a:r>
          </a:p>
        </p:txBody>
      </p:sp>
      <p:sp>
        <p:nvSpPr>
          <p:cNvPr id="22" name="TextBox 21"/>
          <p:cNvSpPr txBox="1"/>
          <p:nvPr/>
        </p:nvSpPr>
        <p:spPr>
          <a:xfrm>
            <a:off x="9235440" y="1539240"/>
            <a:ext cx="2377440" cy="182880"/>
          </a:xfrm>
          <a:prstGeom prst="rect">
            <a:avLst/>
          </a:prstGeom>
          <a:noFill/>
        </p:spPr>
        <p:txBody>
          <a:bodyPr wrap="square">
            <a:spAutoFit/>
          </a:bodyPr>
          <a:lstStyle/>
          <a:p>
            <a:pPr algn="l">
              <a:defRPr sz="800" b="0">
                <a:solidFill>
                  <a:srgbClr val="FFFFFF"/>
                </a:solidFill>
                <a:latin typeface="Calibri"/>
              </a:defRPr>
            </a:pPr>
            <a:r>
              <a:t>• DATA_AGENT_RUN()</a:t>
            </a:r>
          </a:p>
        </p:txBody>
      </p:sp>
      <p:sp>
        <p:nvSpPr>
          <p:cNvPr id="23" name="TextBox 22"/>
          <p:cNvSpPr txBox="1"/>
          <p:nvPr/>
        </p:nvSpPr>
        <p:spPr>
          <a:xfrm>
            <a:off x="9235440" y="1704340"/>
            <a:ext cx="2377440" cy="182880"/>
          </a:xfrm>
          <a:prstGeom prst="rect">
            <a:avLst/>
          </a:prstGeom>
          <a:noFill/>
        </p:spPr>
        <p:txBody>
          <a:bodyPr wrap="square">
            <a:spAutoFit/>
          </a:bodyPr>
          <a:lstStyle/>
          <a:p>
            <a:pPr algn="l">
              <a:defRPr sz="800" b="0">
                <a:solidFill>
                  <a:srgbClr val="FFFFFF"/>
                </a:solidFill>
                <a:latin typeface="Calibri"/>
              </a:defRPr>
            </a:pPr>
            <a:r>
              <a:t>• Agent :run endpoint</a:t>
            </a:r>
          </a:p>
        </p:txBody>
      </p:sp>
      <p:sp>
        <p:nvSpPr>
          <p:cNvPr id="24" name="Down Arrow 23"/>
          <p:cNvSpPr/>
          <p:nvPr/>
        </p:nvSpPr>
        <p:spPr>
          <a:xfrm>
            <a:off x="2880360" y="1892808"/>
            <a:ext cx="182880" cy="201168"/>
          </a:xfrm>
          <a:prstGeom prst="down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wn Arrow 24"/>
          <p:cNvSpPr/>
          <p:nvPr/>
        </p:nvSpPr>
        <p:spPr>
          <a:xfrm>
            <a:off x="5349240" y="1892808"/>
            <a:ext cx="182880" cy="201168"/>
          </a:xfrm>
          <a:prstGeom prst="down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wn Arrow 25"/>
          <p:cNvSpPr/>
          <p:nvPr/>
        </p:nvSpPr>
        <p:spPr>
          <a:xfrm>
            <a:off x="7818120" y="1892808"/>
            <a:ext cx="182880" cy="201168"/>
          </a:xfrm>
          <a:prstGeom prst="down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wn Arrow 26"/>
          <p:cNvSpPr/>
          <p:nvPr/>
        </p:nvSpPr>
        <p:spPr>
          <a:xfrm>
            <a:off x="10424160" y="1892808"/>
            <a:ext cx="182880" cy="201168"/>
          </a:xfrm>
          <a:prstGeom prst="downArrow">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2240280"/>
            <a:ext cx="1371600" cy="274320"/>
          </a:xfrm>
          <a:prstGeom prst="rect">
            <a:avLst/>
          </a:prstGeom>
          <a:noFill/>
        </p:spPr>
        <p:txBody>
          <a:bodyPr wrap="square">
            <a:spAutoFit/>
          </a:bodyPr>
          <a:lstStyle/>
          <a:p>
            <a:pPr algn="l">
              <a:defRPr sz="1000" b="1">
                <a:solidFill>
                  <a:srgbClr val="8A94A6"/>
                </a:solidFill>
                <a:latin typeface="Calibri"/>
              </a:defRPr>
            </a:pPr>
            <a:r>
              <a:t>AI LAYER</a:t>
            </a:r>
          </a:p>
        </p:txBody>
      </p:sp>
      <p:sp>
        <p:nvSpPr>
          <p:cNvPr id="29" name="Rectangle 28"/>
          <p:cNvSpPr/>
          <p:nvPr/>
        </p:nvSpPr>
        <p:spPr>
          <a:xfrm>
            <a:off x="1737360" y="2240280"/>
            <a:ext cx="9966960" cy="1143000"/>
          </a:xfrm>
          <a:prstGeom prst="rect">
            <a:avLst/>
          </a:prstGeom>
          <a:solidFill>
            <a:srgbClr val="E3F2FD"/>
          </a:solidFill>
          <a:ln w="127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28800" y="2278380"/>
            <a:ext cx="3657600" cy="182880"/>
          </a:xfrm>
          <a:prstGeom prst="rect">
            <a:avLst/>
          </a:prstGeom>
          <a:noFill/>
        </p:spPr>
        <p:txBody>
          <a:bodyPr wrap="square">
            <a:spAutoFit/>
          </a:bodyPr>
          <a:lstStyle/>
          <a:p>
            <a:pPr algn="l">
              <a:defRPr sz="1100" b="1">
                <a:solidFill>
                  <a:srgbClr val="112746"/>
                </a:solidFill>
                <a:latin typeface="Calibri"/>
              </a:defRPr>
            </a:pPr>
            <a:r>
              <a:t>CORTEX AGENT ORCHESTRATION (Auto Mode)</a:t>
            </a:r>
          </a:p>
        </p:txBody>
      </p:sp>
      <p:sp>
        <p:nvSpPr>
          <p:cNvPr id="31" name="Rectangle 30"/>
          <p:cNvSpPr/>
          <p:nvPr/>
        </p:nvSpPr>
        <p:spPr>
          <a:xfrm>
            <a:off x="1920240" y="2519680"/>
            <a:ext cx="1737360" cy="64008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965960" y="2545080"/>
            <a:ext cx="1645920" cy="320040"/>
          </a:xfrm>
          <a:prstGeom prst="rect">
            <a:avLst/>
          </a:prstGeom>
          <a:noFill/>
        </p:spPr>
        <p:txBody>
          <a:bodyPr wrap="square">
            <a:spAutoFit/>
          </a:bodyPr>
          <a:lstStyle/>
          <a:p>
            <a:pPr algn="ctr">
              <a:defRPr sz="900" b="1">
                <a:solidFill>
                  <a:srgbClr val="FFFFFF"/>
                </a:solidFill>
                <a:latin typeface="Calibri"/>
              </a:defRPr>
            </a:pPr>
            <a:r>
              <a:t>Insurance</a:t>
            </a:r>
            <a:br/>
            <a:r>
              <a:t>Intelligence</a:t>
            </a:r>
          </a:p>
        </p:txBody>
      </p:sp>
      <p:sp>
        <p:nvSpPr>
          <p:cNvPr id="33" name="TextBox 32"/>
          <p:cNvSpPr txBox="1"/>
          <p:nvPr/>
        </p:nvSpPr>
        <p:spPr>
          <a:xfrm>
            <a:off x="1965960" y="2875280"/>
            <a:ext cx="1645920" cy="182880"/>
          </a:xfrm>
          <a:prstGeom prst="rect">
            <a:avLst/>
          </a:prstGeom>
          <a:noFill/>
        </p:spPr>
        <p:txBody>
          <a:bodyPr wrap="square">
            <a:spAutoFit/>
          </a:bodyPr>
          <a:lstStyle/>
          <a:p>
            <a:pPr algn="ctr">
              <a:defRPr sz="800" b="0">
                <a:solidFill>
                  <a:srgbClr val="BBDEFB"/>
                </a:solidFill>
                <a:latin typeface="Calibri"/>
              </a:defRPr>
            </a:pPr>
            <a:r>
              <a:t>3 tools</a:t>
            </a:r>
          </a:p>
        </p:txBody>
      </p:sp>
      <p:sp>
        <p:nvSpPr>
          <p:cNvPr id="34" name="Rectangle 33"/>
          <p:cNvSpPr/>
          <p:nvPr/>
        </p:nvSpPr>
        <p:spPr>
          <a:xfrm>
            <a:off x="3840480" y="2519680"/>
            <a:ext cx="1737360" cy="640080"/>
          </a:xfrm>
          <a:prstGeom prst="rect">
            <a:avLst/>
          </a:prstGeom>
          <a:solidFill>
            <a:srgbClr val="112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86200" y="2545080"/>
            <a:ext cx="1645920" cy="320040"/>
          </a:xfrm>
          <a:prstGeom prst="rect">
            <a:avLst/>
          </a:prstGeom>
          <a:noFill/>
        </p:spPr>
        <p:txBody>
          <a:bodyPr wrap="square">
            <a:spAutoFit/>
          </a:bodyPr>
          <a:lstStyle/>
          <a:p>
            <a:pPr algn="ctr">
              <a:defRPr sz="900" b="1">
                <a:solidFill>
                  <a:srgbClr val="FFFFFF"/>
                </a:solidFill>
                <a:latin typeface="Calibri"/>
              </a:defRPr>
            </a:pPr>
            <a:r>
              <a:t>Enterprise</a:t>
            </a:r>
            <a:br/>
            <a:r>
              <a:t>Hub</a:t>
            </a:r>
          </a:p>
        </p:txBody>
      </p:sp>
      <p:sp>
        <p:nvSpPr>
          <p:cNvPr id="36" name="TextBox 35"/>
          <p:cNvSpPr txBox="1"/>
          <p:nvPr/>
        </p:nvSpPr>
        <p:spPr>
          <a:xfrm>
            <a:off x="3886200" y="2875280"/>
            <a:ext cx="1645920" cy="182880"/>
          </a:xfrm>
          <a:prstGeom prst="rect">
            <a:avLst/>
          </a:prstGeom>
          <a:noFill/>
        </p:spPr>
        <p:txBody>
          <a:bodyPr wrap="square">
            <a:spAutoFit/>
          </a:bodyPr>
          <a:lstStyle/>
          <a:p>
            <a:pPr algn="ctr">
              <a:defRPr sz="800" b="0">
                <a:solidFill>
                  <a:srgbClr val="BBDEFB"/>
                </a:solidFill>
                <a:latin typeface="Calibri"/>
              </a:defRPr>
            </a:pPr>
            <a:r>
              <a:t>7 tools + MCP</a:t>
            </a:r>
          </a:p>
        </p:txBody>
      </p:sp>
      <p:sp>
        <p:nvSpPr>
          <p:cNvPr id="37" name="Rectangle 36"/>
          <p:cNvSpPr/>
          <p:nvPr/>
        </p:nvSpPr>
        <p:spPr>
          <a:xfrm>
            <a:off x="5760720" y="2519680"/>
            <a:ext cx="1737360" cy="640080"/>
          </a:xfrm>
          <a:prstGeom prst="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806440" y="2545080"/>
            <a:ext cx="1645920" cy="320040"/>
          </a:xfrm>
          <a:prstGeom prst="rect">
            <a:avLst/>
          </a:prstGeom>
          <a:noFill/>
        </p:spPr>
        <p:txBody>
          <a:bodyPr wrap="square">
            <a:spAutoFit/>
          </a:bodyPr>
          <a:lstStyle/>
          <a:p>
            <a:pPr algn="ctr">
              <a:defRPr sz="900" b="1">
                <a:solidFill>
                  <a:srgbClr val="FFFFFF"/>
                </a:solidFill>
                <a:latin typeface="Calibri"/>
              </a:defRPr>
            </a:pPr>
            <a:r>
              <a:t>Market</a:t>
            </a:r>
            <a:br/>
            <a:r>
              <a:t>Intel</a:t>
            </a:r>
          </a:p>
        </p:txBody>
      </p:sp>
      <p:sp>
        <p:nvSpPr>
          <p:cNvPr id="39" name="TextBox 38"/>
          <p:cNvSpPr txBox="1"/>
          <p:nvPr/>
        </p:nvSpPr>
        <p:spPr>
          <a:xfrm>
            <a:off x="5806440" y="2875280"/>
            <a:ext cx="1645920" cy="182880"/>
          </a:xfrm>
          <a:prstGeom prst="rect">
            <a:avLst/>
          </a:prstGeom>
          <a:noFill/>
        </p:spPr>
        <p:txBody>
          <a:bodyPr wrap="square">
            <a:spAutoFit/>
          </a:bodyPr>
          <a:lstStyle/>
          <a:p>
            <a:pPr algn="ctr">
              <a:defRPr sz="800" b="0">
                <a:solidFill>
                  <a:srgbClr val="BBDEFB"/>
                </a:solidFill>
                <a:latin typeface="Calibri"/>
              </a:defRPr>
            </a:pPr>
            <a:r>
              <a:t>3 tools + MCP</a:t>
            </a:r>
          </a:p>
        </p:txBody>
      </p:sp>
      <p:sp>
        <p:nvSpPr>
          <p:cNvPr id="40" name="Rectangle 39"/>
          <p:cNvSpPr/>
          <p:nvPr/>
        </p:nvSpPr>
        <p:spPr>
          <a:xfrm>
            <a:off x="7680960" y="2519680"/>
            <a:ext cx="1737360" cy="64008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26680" y="2545080"/>
            <a:ext cx="1645920" cy="320040"/>
          </a:xfrm>
          <a:prstGeom prst="rect">
            <a:avLst/>
          </a:prstGeom>
          <a:noFill/>
        </p:spPr>
        <p:txBody>
          <a:bodyPr wrap="square">
            <a:spAutoFit/>
          </a:bodyPr>
          <a:lstStyle/>
          <a:p>
            <a:pPr algn="ctr">
              <a:defRPr sz="900" b="1">
                <a:solidFill>
                  <a:srgbClr val="FFFFFF"/>
                </a:solidFill>
                <a:latin typeface="Calibri"/>
              </a:defRPr>
            </a:pPr>
            <a:r>
              <a:t>Pricing</a:t>
            </a:r>
            <a:br/>
            <a:r>
              <a:t>Advisor</a:t>
            </a:r>
          </a:p>
        </p:txBody>
      </p:sp>
      <p:sp>
        <p:nvSpPr>
          <p:cNvPr id="42" name="TextBox 41"/>
          <p:cNvSpPr txBox="1"/>
          <p:nvPr/>
        </p:nvSpPr>
        <p:spPr>
          <a:xfrm>
            <a:off x="7726680" y="2875280"/>
            <a:ext cx="1645920" cy="182880"/>
          </a:xfrm>
          <a:prstGeom prst="rect">
            <a:avLst/>
          </a:prstGeom>
          <a:noFill/>
        </p:spPr>
        <p:txBody>
          <a:bodyPr wrap="square">
            <a:spAutoFit/>
          </a:bodyPr>
          <a:lstStyle/>
          <a:p>
            <a:pPr algn="ctr">
              <a:defRPr sz="800" b="0">
                <a:solidFill>
                  <a:srgbClr val="BBDEFB"/>
                </a:solidFill>
                <a:latin typeface="Calibri"/>
              </a:defRPr>
            </a:pPr>
            <a:r>
              <a:t>2 tools + MCP</a:t>
            </a:r>
          </a:p>
        </p:txBody>
      </p:sp>
      <p:sp>
        <p:nvSpPr>
          <p:cNvPr id="43" name="Rectangle 42"/>
          <p:cNvSpPr/>
          <p:nvPr/>
        </p:nvSpPr>
        <p:spPr>
          <a:xfrm>
            <a:off x="9601200" y="2519680"/>
            <a:ext cx="1737360" cy="640080"/>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46920" y="2545080"/>
            <a:ext cx="1645920" cy="320040"/>
          </a:xfrm>
          <a:prstGeom prst="rect">
            <a:avLst/>
          </a:prstGeom>
          <a:noFill/>
        </p:spPr>
        <p:txBody>
          <a:bodyPr wrap="square">
            <a:spAutoFit/>
          </a:bodyPr>
          <a:lstStyle/>
          <a:p>
            <a:pPr algn="ctr">
              <a:defRPr sz="900" b="1">
                <a:solidFill>
                  <a:srgbClr val="FFFFFF"/>
                </a:solidFill>
                <a:latin typeface="Calibri"/>
              </a:defRPr>
            </a:pPr>
            <a:r>
              <a:t>Product</a:t>
            </a:r>
            <a:br/>
            <a:r>
              <a:t>Matcher</a:t>
            </a:r>
          </a:p>
        </p:txBody>
      </p:sp>
      <p:sp>
        <p:nvSpPr>
          <p:cNvPr id="45" name="TextBox 44"/>
          <p:cNvSpPr txBox="1"/>
          <p:nvPr/>
        </p:nvSpPr>
        <p:spPr>
          <a:xfrm>
            <a:off x="9646920" y="2875280"/>
            <a:ext cx="1645920" cy="182880"/>
          </a:xfrm>
          <a:prstGeom prst="rect">
            <a:avLst/>
          </a:prstGeom>
          <a:noFill/>
        </p:spPr>
        <p:txBody>
          <a:bodyPr wrap="square">
            <a:spAutoFit/>
          </a:bodyPr>
          <a:lstStyle/>
          <a:p>
            <a:pPr algn="ctr">
              <a:defRPr sz="800" b="0">
                <a:solidFill>
                  <a:srgbClr val="BBDEFB"/>
                </a:solidFill>
                <a:latin typeface="Calibri"/>
              </a:defRPr>
            </a:pPr>
            <a:r>
              <a:t>3 tools + MCP</a:t>
            </a:r>
          </a:p>
        </p:txBody>
      </p:sp>
      <p:sp>
        <p:nvSpPr>
          <p:cNvPr id="46" name="Down Arrow 45"/>
          <p:cNvSpPr/>
          <p:nvPr/>
        </p:nvSpPr>
        <p:spPr>
          <a:xfrm>
            <a:off x="2743200" y="3401568"/>
            <a:ext cx="182880" cy="182880"/>
          </a:xfrm>
          <a:prstGeom prst="downArrow">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own Arrow 46"/>
          <p:cNvSpPr/>
          <p:nvPr/>
        </p:nvSpPr>
        <p:spPr>
          <a:xfrm>
            <a:off x="4663440" y="3401568"/>
            <a:ext cx="182880" cy="182880"/>
          </a:xfrm>
          <a:prstGeom prst="downArrow">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Down Arrow 47"/>
          <p:cNvSpPr/>
          <p:nvPr/>
        </p:nvSpPr>
        <p:spPr>
          <a:xfrm>
            <a:off x="6583680" y="3401568"/>
            <a:ext cx="182880" cy="182880"/>
          </a:xfrm>
          <a:prstGeom prst="downArrow">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own Arrow 48"/>
          <p:cNvSpPr/>
          <p:nvPr/>
        </p:nvSpPr>
        <p:spPr>
          <a:xfrm>
            <a:off x="8503920" y="3401568"/>
            <a:ext cx="182880" cy="182880"/>
          </a:xfrm>
          <a:prstGeom prst="downArrow">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Down Arrow 49"/>
          <p:cNvSpPr/>
          <p:nvPr/>
        </p:nvSpPr>
        <p:spPr>
          <a:xfrm>
            <a:off x="10424160" y="3401568"/>
            <a:ext cx="182880" cy="182880"/>
          </a:xfrm>
          <a:prstGeom prst="downArrow">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4320" y="3749039"/>
            <a:ext cx="1371600" cy="274320"/>
          </a:xfrm>
          <a:prstGeom prst="rect">
            <a:avLst/>
          </a:prstGeom>
          <a:noFill/>
        </p:spPr>
        <p:txBody>
          <a:bodyPr wrap="square">
            <a:spAutoFit/>
          </a:bodyPr>
          <a:lstStyle/>
          <a:p>
            <a:pPr algn="l">
              <a:defRPr sz="1000" b="1">
                <a:solidFill>
                  <a:srgbClr val="8A94A6"/>
                </a:solidFill>
                <a:latin typeface="Calibri"/>
              </a:defRPr>
            </a:pPr>
            <a:r>
              <a:t>TOOL LAYER</a:t>
            </a:r>
          </a:p>
        </p:txBody>
      </p:sp>
      <p:sp>
        <p:nvSpPr>
          <p:cNvPr id="52" name="Rectangle 51"/>
          <p:cNvSpPr/>
          <p:nvPr/>
        </p:nvSpPr>
        <p:spPr>
          <a:xfrm>
            <a:off x="1737360" y="3749039"/>
            <a:ext cx="1828800" cy="77724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783080" y="3787139"/>
            <a:ext cx="1737360" cy="320040"/>
          </a:xfrm>
          <a:prstGeom prst="rect">
            <a:avLst/>
          </a:prstGeom>
          <a:noFill/>
        </p:spPr>
        <p:txBody>
          <a:bodyPr wrap="square">
            <a:spAutoFit/>
          </a:bodyPr>
          <a:lstStyle/>
          <a:p>
            <a:pPr algn="ctr">
              <a:defRPr sz="900" b="1">
                <a:solidFill>
                  <a:srgbClr val="FFFFFF"/>
                </a:solidFill>
                <a:latin typeface="Calibri"/>
              </a:defRPr>
            </a:pPr>
            <a:r>
              <a:t>Cortex Analyst</a:t>
            </a:r>
            <a:br/>
            <a:r>
              <a:t>(NL-to-SQL)</a:t>
            </a:r>
          </a:p>
        </p:txBody>
      </p:sp>
      <p:sp>
        <p:nvSpPr>
          <p:cNvPr id="54" name="TextBox 53"/>
          <p:cNvSpPr txBox="1"/>
          <p:nvPr/>
        </p:nvSpPr>
        <p:spPr>
          <a:xfrm>
            <a:off x="1783080" y="4168139"/>
            <a:ext cx="1737360" cy="320040"/>
          </a:xfrm>
          <a:prstGeom prst="rect">
            <a:avLst/>
          </a:prstGeom>
          <a:noFill/>
        </p:spPr>
        <p:txBody>
          <a:bodyPr wrap="square">
            <a:spAutoFit/>
          </a:bodyPr>
          <a:lstStyle/>
          <a:p>
            <a:pPr algn="ctr">
              <a:defRPr sz="800" b="0">
                <a:solidFill>
                  <a:srgbClr val="DDDDDD"/>
                </a:solidFill>
                <a:latin typeface="Calibri"/>
              </a:defRPr>
            </a:pPr>
            <a:r>
              <a:t>5 Semantic Views</a:t>
            </a:r>
            <a:br/>
            <a:r>
              <a:t>25+ VQRs</a:t>
            </a:r>
          </a:p>
        </p:txBody>
      </p:sp>
      <p:sp>
        <p:nvSpPr>
          <p:cNvPr id="55" name="Rectangle 54"/>
          <p:cNvSpPr/>
          <p:nvPr/>
        </p:nvSpPr>
        <p:spPr>
          <a:xfrm>
            <a:off x="3749040" y="3749039"/>
            <a:ext cx="1828800" cy="777240"/>
          </a:xfrm>
          <a:prstGeom prst="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794760" y="3787139"/>
            <a:ext cx="1737360" cy="320040"/>
          </a:xfrm>
          <a:prstGeom prst="rect">
            <a:avLst/>
          </a:prstGeom>
          <a:noFill/>
        </p:spPr>
        <p:txBody>
          <a:bodyPr wrap="square">
            <a:spAutoFit/>
          </a:bodyPr>
          <a:lstStyle/>
          <a:p>
            <a:pPr algn="ctr">
              <a:defRPr sz="900" b="1">
                <a:solidFill>
                  <a:srgbClr val="FFFFFF"/>
                </a:solidFill>
                <a:latin typeface="Calibri"/>
              </a:defRPr>
            </a:pPr>
            <a:r>
              <a:t>Cortex Search</a:t>
            </a:r>
            <a:br/>
            <a:r>
              <a:t>(RAG)</a:t>
            </a:r>
          </a:p>
        </p:txBody>
      </p:sp>
      <p:sp>
        <p:nvSpPr>
          <p:cNvPr id="57" name="TextBox 56"/>
          <p:cNvSpPr txBox="1"/>
          <p:nvPr/>
        </p:nvSpPr>
        <p:spPr>
          <a:xfrm>
            <a:off x="3794760" y="4168139"/>
            <a:ext cx="1737360" cy="320040"/>
          </a:xfrm>
          <a:prstGeom prst="rect">
            <a:avLst/>
          </a:prstGeom>
          <a:noFill/>
        </p:spPr>
        <p:txBody>
          <a:bodyPr wrap="square">
            <a:spAutoFit/>
          </a:bodyPr>
          <a:lstStyle/>
          <a:p>
            <a:pPr algn="ctr">
              <a:defRPr sz="800" b="0">
                <a:solidFill>
                  <a:srgbClr val="DDDDDD"/>
                </a:solidFill>
                <a:latin typeface="Calibri"/>
              </a:defRPr>
            </a:pPr>
            <a:r>
              <a:t>Arctic Embed M v1.5</a:t>
            </a:r>
            <a:br/>
            <a:r>
              <a:t>25 doc chunks</a:t>
            </a:r>
          </a:p>
        </p:txBody>
      </p:sp>
      <p:sp>
        <p:nvSpPr>
          <p:cNvPr id="58" name="Rectangle 57"/>
          <p:cNvSpPr/>
          <p:nvPr/>
        </p:nvSpPr>
        <p:spPr>
          <a:xfrm>
            <a:off x="5760720" y="3749039"/>
            <a:ext cx="1828800" cy="77724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806440" y="3787139"/>
            <a:ext cx="1737360" cy="320040"/>
          </a:xfrm>
          <a:prstGeom prst="rect">
            <a:avLst/>
          </a:prstGeom>
          <a:noFill/>
        </p:spPr>
        <p:txBody>
          <a:bodyPr wrap="square">
            <a:spAutoFit/>
          </a:bodyPr>
          <a:lstStyle/>
          <a:p>
            <a:pPr algn="ctr">
              <a:defRPr sz="900" b="1">
                <a:solidFill>
                  <a:srgbClr val="FFFFFF"/>
                </a:solidFill>
                <a:latin typeface="Calibri"/>
              </a:defRPr>
            </a:pPr>
            <a:r>
              <a:t>Data-to-Chart</a:t>
            </a:r>
            <a:br/>
            <a:r>
              <a:t>(Visualization)</a:t>
            </a:r>
          </a:p>
        </p:txBody>
      </p:sp>
      <p:sp>
        <p:nvSpPr>
          <p:cNvPr id="60" name="TextBox 59"/>
          <p:cNvSpPr txBox="1"/>
          <p:nvPr/>
        </p:nvSpPr>
        <p:spPr>
          <a:xfrm>
            <a:off x="5806440" y="4168139"/>
            <a:ext cx="1737360" cy="320040"/>
          </a:xfrm>
          <a:prstGeom prst="rect">
            <a:avLst/>
          </a:prstGeom>
          <a:noFill/>
        </p:spPr>
        <p:txBody>
          <a:bodyPr wrap="square">
            <a:spAutoFit/>
          </a:bodyPr>
          <a:lstStyle/>
          <a:p>
            <a:pPr algn="ctr">
              <a:defRPr sz="800" b="0">
                <a:solidFill>
                  <a:srgbClr val="DDDDDD"/>
                </a:solidFill>
                <a:latin typeface="Calibri"/>
              </a:defRPr>
            </a:pPr>
            <a:r>
              <a:t>In-CoWork charts</a:t>
            </a:r>
            <a:br/>
            <a:r>
              <a:t>from query results</a:t>
            </a:r>
          </a:p>
        </p:txBody>
      </p:sp>
      <p:sp>
        <p:nvSpPr>
          <p:cNvPr id="61" name="Rectangle 60"/>
          <p:cNvSpPr/>
          <p:nvPr/>
        </p:nvSpPr>
        <p:spPr>
          <a:xfrm>
            <a:off x="7772400" y="3749039"/>
            <a:ext cx="1828800" cy="777240"/>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18120" y="3787139"/>
            <a:ext cx="1737360" cy="320040"/>
          </a:xfrm>
          <a:prstGeom prst="rect">
            <a:avLst/>
          </a:prstGeom>
          <a:noFill/>
        </p:spPr>
        <p:txBody>
          <a:bodyPr wrap="square">
            <a:spAutoFit/>
          </a:bodyPr>
          <a:lstStyle/>
          <a:p>
            <a:pPr algn="ctr">
              <a:defRPr sz="900" b="1">
                <a:solidFill>
                  <a:srgbClr val="FFFFFF"/>
                </a:solidFill>
                <a:latin typeface="Calibri"/>
              </a:defRPr>
            </a:pPr>
            <a:r>
              <a:t>MCP Connector</a:t>
            </a:r>
            <a:br/>
            <a:r>
              <a:t>(Atlassian)</a:t>
            </a:r>
          </a:p>
        </p:txBody>
      </p:sp>
      <p:sp>
        <p:nvSpPr>
          <p:cNvPr id="63" name="TextBox 62"/>
          <p:cNvSpPr txBox="1"/>
          <p:nvPr/>
        </p:nvSpPr>
        <p:spPr>
          <a:xfrm>
            <a:off x="7818120" y="4168139"/>
            <a:ext cx="1737360" cy="320040"/>
          </a:xfrm>
          <a:prstGeom prst="rect">
            <a:avLst/>
          </a:prstGeom>
          <a:noFill/>
        </p:spPr>
        <p:txBody>
          <a:bodyPr wrap="square">
            <a:spAutoFit/>
          </a:bodyPr>
          <a:lstStyle/>
          <a:p>
            <a:pPr algn="ctr">
              <a:defRPr sz="800" b="0">
                <a:solidFill>
                  <a:srgbClr val="DDDDDD"/>
                </a:solidFill>
                <a:latin typeface="Calibri"/>
              </a:defRPr>
            </a:pPr>
            <a:r>
              <a:t>Jira + Confluence</a:t>
            </a:r>
            <a:br/>
            <a:r>
              <a:t>OAuth per-user</a:t>
            </a:r>
          </a:p>
        </p:txBody>
      </p:sp>
      <p:sp>
        <p:nvSpPr>
          <p:cNvPr id="64" name="Rectangle 63"/>
          <p:cNvSpPr/>
          <p:nvPr/>
        </p:nvSpPr>
        <p:spPr>
          <a:xfrm>
            <a:off x="9784080" y="3749039"/>
            <a:ext cx="1828800" cy="77724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29800" y="3787139"/>
            <a:ext cx="1737360" cy="320040"/>
          </a:xfrm>
          <a:prstGeom prst="rect">
            <a:avLst/>
          </a:prstGeom>
          <a:noFill/>
        </p:spPr>
        <p:txBody>
          <a:bodyPr wrap="square">
            <a:spAutoFit/>
          </a:bodyPr>
          <a:lstStyle/>
          <a:p>
            <a:pPr algn="ctr">
              <a:defRPr sz="900" b="1">
                <a:solidFill>
                  <a:srgbClr val="FFFFFF"/>
                </a:solidFill>
                <a:latin typeface="Calibri"/>
              </a:defRPr>
            </a:pPr>
            <a:r>
              <a:t>Stored Procedures</a:t>
            </a:r>
            <a:br/>
            <a:r>
              <a:t>(Custom Logic)</a:t>
            </a:r>
          </a:p>
        </p:txBody>
      </p:sp>
      <p:sp>
        <p:nvSpPr>
          <p:cNvPr id="66" name="TextBox 65"/>
          <p:cNvSpPr txBox="1"/>
          <p:nvPr/>
        </p:nvSpPr>
        <p:spPr>
          <a:xfrm>
            <a:off x="9829800" y="4168139"/>
            <a:ext cx="1737360" cy="320040"/>
          </a:xfrm>
          <a:prstGeom prst="rect">
            <a:avLst/>
          </a:prstGeom>
          <a:noFill/>
        </p:spPr>
        <p:txBody>
          <a:bodyPr wrap="square">
            <a:spAutoFit/>
          </a:bodyPr>
          <a:lstStyle/>
          <a:p>
            <a:pPr algn="ctr">
              <a:defRPr sz="800" b="0">
                <a:solidFill>
                  <a:srgbClr val="DDDDDD"/>
                </a:solidFill>
                <a:latin typeface="Calibri"/>
              </a:defRPr>
            </a:pPr>
            <a:r>
              <a:t>6 procedures</a:t>
            </a:r>
            <a:br/>
            <a:r>
              <a:t>JS + SQL</a:t>
            </a:r>
          </a:p>
        </p:txBody>
      </p:sp>
      <p:sp>
        <p:nvSpPr>
          <p:cNvPr id="67" name="Down Arrow 66"/>
          <p:cNvSpPr/>
          <p:nvPr/>
        </p:nvSpPr>
        <p:spPr>
          <a:xfrm>
            <a:off x="2743200" y="4544567"/>
            <a:ext cx="182880" cy="164592"/>
          </a:xfrm>
          <a:prstGeom prst="downArrow">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Down Arrow 67"/>
          <p:cNvSpPr/>
          <p:nvPr/>
        </p:nvSpPr>
        <p:spPr>
          <a:xfrm>
            <a:off x="4754880" y="4544567"/>
            <a:ext cx="182880" cy="164592"/>
          </a:xfrm>
          <a:prstGeom prst="downArrow">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Down Arrow 68"/>
          <p:cNvSpPr/>
          <p:nvPr/>
        </p:nvSpPr>
        <p:spPr>
          <a:xfrm>
            <a:off x="10424160" y="4544567"/>
            <a:ext cx="182880" cy="164592"/>
          </a:xfrm>
          <a:prstGeom prst="downArrow">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74320" y="4846320"/>
            <a:ext cx="1371600" cy="274320"/>
          </a:xfrm>
          <a:prstGeom prst="rect">
            <a:avLst/>
          </a:prstGeom>
          <a:noFill/>
        </p:spPr>
        <p:txBody>
          <a:bodyPr wrap="square">
            <a:spAutoFit/>
          </a:bodyPr>
          <a:lstStyle/>
          <a:p>
            <a:pPr algn="l">
              <a:defRPr sz="1000" b="1">
                <a:solidFill>
                  <a:srgbClr val="8A94A6"/>
                </a:solidFill>
                <a:latin typeface="Calibri"/>
              </a:defRPr>
            </a:pPr>
            <a:r>
              <a:t>DATA LAYER</a:t>
            </a:r>
          </a:p>
        </p:txBody>
      </p:sp>
      <p:sp>
        <p:nvSpPr>
          <p:cNvPr id="71" name="Rectangle 70"/>
          <p:cNvSpPr/>
          <p:nvPr/>
        </p:nvSpPr>
        <p:spPr>
          <a:xfrm>
            <a:off x="1737360" y="4846320"/>
            <a:ext cx="3200400" cy="548640"/>
          </a:xfrm>
          <a:prstGeom prst="rect">
            <a:avLst/>
          </a:prstGeom>
          <a:solidFill>
            <a:srgbClr val="112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828800" y="4884420"/>
            <a:ext cx="3017520" cy="228600"/>
          </a:xfrm>
          <a:prstGeom prst="rect">
            <a:avLst/>
          </a:prstGeom>
          <a:noFill/>
        </p:spPr>
        <p:txBody>
          <a:bodyPr wrap="square">
            <a:spAutoFit/>
          </a:bodyPr>
          <a:lstStyle/>
          <a:p>
            <a:pPr algn="l">
              <a:defRPr sz="1000" b="1">
                <a:solidFill>
                  <a:srgbClr val="FFFFFF"/>
                </a:solidFill>
                <a:latin typeface="Calibri"/>
              </a:defRPr>
            </a:pPr>
            <a:r>
              <a:t>Schema: ANALYTICS</a:t>
            </a:r>
          </a:p>
        </p:txBody>
      </p:sp>
      <p:sp>
        <p:nvSpPr>
          <p:cNvPr id="73" name="TextBox 72"/>
          <p:cNvSpPr txBox="1"/>
          <p:nvPr/>
        </p:nvSpPr>
        <p:spPr>
          <a:xfrm>
            <a:off x="1828800" y="5074920"/>
            <a:ext cx="3017520" cy="182880"/>
          </a:xfrm>
          <a:prstGeom prst="rect">
            <a:avLst/>
          </a:prstGeom>
          <a:noFill/>
        </p:spPr>
        <p:txBody>
          <a:bodyPr wrap="square">
            <a:spAutoFit/>
          </a:bodyPr>
          <a:lstStyle/>
          <a:p>
            <a:pPr algn="l">
              <a:defRPr sz="900" b="0">
                <a:solidFill>
                  <a:srgbClr val="BBDEFB"/>
                </a:solidFill>
                <a:latin typeface="Calibri"/>
              </a:defRPr>
            </a:pPr>
            <a:r>
              <a:t>12 tables, 6 views</a:t>
            </a:r>
          </a:p>
        </p:txBody>
      </p:sp>
      <p:sp>
        <p:nvSpPr>
          <p:cNvPr id="74" name="Rectangle 73"/>
          <p:cNvSpPr/>
          <p:nvPr/>
        </p:nvSpPr>
        <p:spPr>
          <a:xfrm>
            <a:off x="5120640" y="4846320"/>
            <a:ext cx="3200400" cy="548640"/>
          </a:xfrm>
          <a:prstGeom prst="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212080" y="4884420"/>
            <a:ext cx="3017520" cy="228600"/>
          </a:xfrm>
          <a:prstGeom prst="rect">
            <a:avLst/>
          </a:prstGeom>
          <a:noFill/>
        </p:spPr>
        <p:txBody>
          <a:bodyPr wrap="square">
            <a:spAutoFit/>
          </a:bodyPr>
          <a:lstStyle/>
          <a:p>
            <a:pPr algn="l">
              <a:defRPr sz="1000" b="1">
                <a:solidFill>
                  <a:srgbClr val="FFFFFF"/>
                </a:solidFill>
                <a:latin typeface="Calibri"/>
              </a:defRPr>
            </a:pPr>
            <a:r>
              <a:t>Schema: DOCUMENTS</a:t>
            </a:r>
          </a:p>
        </p:txBody>
      </p:sp>
      <p:sp>
        <p:nvSpPr>
          <p:cNvPr id="76" name="TextBox 75"/>
          <p:cNvSpPr txBox="1"/>
          <p:nvPr/>
        </p:nvSpPr>
        <p:spPr>
          <a:xfrm>
            <a:off x="5212080" y="5074920"/>
            <a:ext cx="3017520" cy="182880"/>
          </a:xfrm>
          <a:prstGeom prst="rect">
            <a:avLst/>
          </a:prstGeom>
          <a:noFill/>
        </p:spPr>
        <p:txBody>
          <a:bodyPr wrap="square">
            <a:spAutoFit/>
          </a:bodyPr>
          <a:lstStyle/>
          <a:p>
            <a:pPr algn="l">
              <a:defRPr sz="900" b="0">
                <a:solidFill>
                  <a:srgbClr val="BBDEFB"/>
                </a:solidFill>
                <a:latin typeface="Calibri"/>
              </a:defRPr>
            </a:pPr>
            <a:r>
              <a:t>2 tables, 1 Search Svc</a:t>
            </a:r>
          </a:p>
        </p:txBody>
      </p:sp>
      <p:sp>
        <p:nvSpPr>
          <p:cNvPr id="77" name="Rectangle 76"/>
          <p:cNvSpPr/>
          <p:nvPr/>
        </p:nvSpPr>
        <p:spPr>
          <a:xfrm>
            <a:off x="8503920" y="4846320"/>
            <a:ext cx="3200400" cy="54864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595360" y="4884420"/>
            <a:ext cx="3017520" cy="228600"/>
          </a:xfrm>
          <a:prstGeom prst="rect">
            <a:avLst/>
          </a:prstGeom>
          <a:noFill/>
        </p:spPr>
        <p:txBody>
          <a:bodyPr wrap="square">
            <a:spAutoFit/>
          </a:bodyPr>
          <a:lstStyle/>
          <a:p>
            <a:pPr algn="l">
              <a:defRPr sz="1000" b="1">
                <a:solidFill>
                  <a:srgbClr val="FFFFFF"/>
                </a:solidFill>
                <a:latin typeface="Calibri"/>
              </a:defRPr>
            </a:pPr>
            <a:r>
              <a:t>Schema: DATA_QUALITY</a:t>
            </a:r>
          </a:p>
        </p:txBody>
      </p:sp>
      <p:sp>
        <p:nvSpPr>
          <p:cNvPr id="79" name="TextBox 78"/>
          <p:cNvSpPr txBox="1"/>
          <p:nvPr/>
        </p:nvSpPr>
        <p:spPr>
          <a:xfrm>
            <a:off x="8595360" y="5074920"/>
            <a:ext cx="3017520" cy="182880"/>
          </a:xfrm>
          <a:prstGeom prst="rect">
            <a:avLst/>
          </a:prstGeom>
          <a:noFill/>
        </p:spPr>
        <p:txBody>
          <a:bodyPr wrap="square">
            <a:spAutoFit/>
          </a:bodyPr>
          <a:lstStyle/>
          <a:p>
            <a:pPr algn="l">
              <a:defRPr sz="900" b="0">
                <a:solidFill>
                  <a:srgbClr val="BBDEFB"/>
                </a:solidFill>
                <a:latin typeface="Calibri"/>
              </a:defRPr>
            </a:pPr>
            <a:r>
              <a:t>4 tables, 1 view</a:t>
            </a:r>
          </a:p>
        </p:txBody>
      </p:sp>
      <p:sp>
        <p:nvSpPr>
          <p:cNvPr id="80" name="TextBox 79"/>
          <p:cNvSpPr txBox="1"/>
          <p:nvPr/>
        </p:nvSpPr>
        <p:spPr>
          <a:xfrm>
            <a:off x="274320" y="5577840"/>
            <a:ext cx="1371600" cy="274320"/>
          </a:xfrm>
          <a:prstGeom prst="rect">
            <a:avLst/>
          </a:prstGeom>
          <a:noFill/>
        </p:spPr>
        <p:txBody>
          <a:bodyPr wrap="square">
            <a:spAutoFit/>
          </a:bodyPr>
          <a:lstStyle/>
          <a:p>
            <a:pPr algn="l">
              <a:defRPr sz="1000" b="1">
                <a:solidFill>
                  <a:srgbClr val="8A94A6"/>
                </a:solidFill>
                <a:latin typeface="Calibri"/>
              </a:defRPr>
            </a:pPr>
            <a:r>
              <a:t>GOVERNANCE</a:t>
            </a:r>
          </a:p>
        </p:txBody>
      </p:sp>
      <p:sp>
        <p:nvSpPr>
          <p:cNvPr id="81" name="Rectangle 80"/>
          <p:cNvSpPr/>
          <p:nvPr/>
        </p:nvSpPr>
        <p:spPr>
          <a:xfrm>
            <a:off x="1737360" y="5577840"/>
            <a:ext cx="9966960" cy="45720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828800" y="5628640"/>
            <a:ext cx="9784080" cy="320040"/>
          </a:xfrm>
          <a:prstGeom prst="rect">
            <a:avLst/>
          </a:prstGeom>
          <a:noFill/>
        </p:spPr>
        <p:txBody>
          <a:bodyPr wrap="square">
            <a:spAutoFit/>
          </a:bodyPr>
          <a:lstStyle/>
          <a:p>
            <a:pPr algn="ctr">
              <a:defRPr sz="1000" b="0">
                <a:solidFill>
                  <a:srgbClr val="FFFFFF"/>
                </a:solidFill>
                <a:latin typeface="Calibri"/>
              </a:defRPr>
            </a:pPr>
            <a:r>
              <a:t>PII Tags (H/M/L)  │  3 Dynamic Masking Policies  │  6 Database Roles (RBAC)  │  Business Domain Tags  │  Query Acceleration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2600" b="1">
                <a:solidFill>
                  <a:srgbClr val="FFFFFF"/>
                </a:solidFill>
                <a:latin typeface="Calibri"/>
              </a:defRPr>
            </a:pPr>
            <a:r>
              <a:t>Data Flow Architecture</a:t>
            </a:r>
          </a:p>
        </p:txBody>
      </p:sp>
      <p:sp>
        <p:nvSpPr>
          <p:cNvPr id="4" name="TextBox 3"/>
          <p:cNvSpPr txBox="1"/>
          <p:nvPr/>
        </p:nvSpPr>
        <p:spPr>
          <a:xfrm>
            <a:off x="548640" y="548640"/>
            <a:ext cx="10058400" cy="365760"/>
          </a:xfrm>
          <a:prstGeom prst="rect">
            <a:avLst/>
          </a:prstGeom>
          <a:noFill/>
        </p:spPr>
        <p:txBody>
          <a:bodyPr wrap="square">
            <a:spAutoFit/>
          </a:bodyPr>
          <a:lstStyle/>
          <a:p>
            <a:pPr algn="l">
              <a:defRPr sz="1300" b="0">
                <a:solidFill>
                  <a:srgbClr val="29B5E8"/>
                </a:solidFill>
                <a:latin typeface="Calibri"/>
              </a:defRPr>
            </a:pPr>
            <a:r>
              <a:t>End-to-end data journey from ingestion to actionable insight</a:t>
            </a:r>
          </a:p>
        </p:txBody>
      </p:sp>
      <p:sp>
        <p:nvSpPr>
          <p:cNvPr id="5" name="Rectangle 4"/>
          <p:cNvSpPr/>
          <p:nvPr/>
        </p:nvSpPr>
        <p:spPr>
          <a:xfrm>
            <a:off x="0" y="1005840"/>
            <a:ext cx="12191695"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731520" cy="274320"/>
          </a:xfrm>
          <a:prstGeom prst="rect">
            <a:avLst/>
          </a:prstGeom>
          <a:noFill/>
        </p:spPr>
        <p:txBody>
          <a:bodyPr wrap="square">
            <a:spAutoFit/>
          </a:bodyPr>
          <a:lstStyle/>
          <a:p>
            <a:pPr algn="r">
              <a:defRPr sz="900" b="0">
                <a:solidFill>
                  <a:srgbClr val="8A94A6"/>
                </a:solidFill>
                <a:latin typeface="Calibri"/>
              </a:defRPr>
            </a:pPr>
            <a:r>
              <a:t>4/10</a:t>
            </a:r>
          </a:p>
        </p:txBody>
      </p:sp>
      <p:sp>
        <p:nvSpPr>
          <p:cNvPr id="7" name="Rectangle 6"/>
          <p:cNvSpPr/>
          <p:nvPr/>
        </p:nvSpPr>
        <p:spPr>
          <a:xfrm>
            <a:off x="274320" y="1280160"/>
            <a:ext cx="1828800" cy="502920"/>
          </a:xfrm>
          <a:prstGeom prst="rect">
            <a:avLst/>
          </a:prstGeom>
          <a:solidFill>
            <a:srgbClr val="112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298448"/>
            <a:ext cx="1737360" cy="457200"/>
          </a:xfrm>
          <a:prstGeom prst="rect">
            <a:avLst/>
          </a:prstGeom>
          <a:noFill/>
        </p:spPr>
        <p:txBody>
          <a:bodyPr wrap="square">
            <a:spAutoFit/>
          </a:bodyPr>
          <a:lstStyle/>
          <a:p>
            <a:pPr algn="ctr">
              <a:defRPr sz="1000" b="1">
                <a:solidFill>
                  <a:srgbClr val="FFFFFF"/>
                </a:solidFill>
                <a:latin typeface="Calibri"/>
              </a:defRPr>
            </a:pPr>
            <a:r>
              <a:t>1. DATA</a:t>
            </a:r>
            <a:br/>
            <a:r>
              <a:t>INGESTION</a:t>
            </a:r>
          </a:p>
        </p:txBody>
      </p:sp>
      <p:sp>
        <p:nvSpPr>
          <p:cNvPr id="9" name="Rectangle 8"/>
          <p:cNvSpPr/>
          <p:nvPr/>
        </p:nvSpPr>
        <p:spPr>
          <a:xfrm>
            <a:off x="274320" y="1801368"/>
            <a:ext cx="1828800" cy="1508760"/>
          </a:xfrm>
          <a:prstGeom prst="rect">
            <a:avLst/>
          </a:prstGeom>
          <a:solidFill>
            <a:srgbClr val="F0F2F5"/>
          </a:solidFill>
          <a:ln w="12700">
            <a:solidFill>
              <a:srgbClr val="1127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 y="1828800"/>
            <a:ext cx="1682496" cy="182880"/>
          </a:xfrm>
          <a:prstGeom prst="rect">
            <a:avLst/>
          </a:prstGeom>
          <a:noFill/>
        </p:spPr>
        <p:txBody>
          <a:bodyPr wrap="square">
            <a:spAutoFit/>
          </a:bodyPr>
          <a:lstStyle/>
          <a:p>
            <a:pPr algn="l">
              <a:defRPr sz="900" b="0">
                <a:solidFill>
                  <a:srgbClr val="1E293B"/>
                </a:solidFill>
                <a:latin typeface="Calibri"/>
              </a:defRPr>
            </a:pPr>
            <a:r>
              <a:t>GENERATOR()</a:t>
            </a:r>
          </a:p>
        </p:txBody>
      </p:sp>
      <p:sp>
        <p:nvSpPr>
          <p:cNvPr id="11" name="TextBox 10"/>
          <p:cNvSpPr txBox="1"/>
          <p:nvPr/>
        </p:nvSpPr>
        <p:spPr>
          <a:xfrm>
            <a:off x="347472" y="1993900"/>
            <a:ext cx="1682496" cy="182880"/>
          </a:xfrm>
          <a:prstGeom prst="rect">
            <a:avLst/>
          </a:prstGeom>
          <a:noFill/>
        </p:spPr>
        <p:txBody>
          <a:bodyPr wrap="square">
            <a:spAutoFit/>
          </a:bodyPr>
          <a:lstStyle/>
          <a:p>
            <a:pPr algn="l">
              <a:defRPr sz="900" b="0">
                <a:solidFill>
                  <a:srgbClr val="1E293B"/>
                </a:solidFill>
                <a:latin typeface="Calibri"/>
              </a:defRPr>
            </a:pPr>
            <a:r>
              <a:t>SEQ4(), UNIFORM()</a:t>
            </a:r>
          </a:p>
        </p:txBody>
      </p:sp>
      <p:sp>
        <p:nvSpPr>
          <p:cNvPr id="12" name="TextBox 11"/>
          <p:cNvSpPr txBox="1"/>
          <p:nvPr/>
        </p:nvSpPr>
        <p:spPr>
          <a:xfrm>
            <a:off x="347472" y="2159000"/>
            <a:ext cx="1682496" cy="182880"/>
          </a:xfrm>
          <a:prstGeom prst="rect">
            <a:avLst/>
          </a:prstGeom>
          <a:noFill/>
        </p:spPr>
        <p:txBody>
          <a:bodyPr wrap="square">
            <a:spAutoFit/>
          </a:bodyPr>
          <a:lstStyle/>
          <a:p>
            <a:pPr algn="l">
              <a:defRPr sz="900" b="0">
                <a:solidFill>
                  <a:srgbClr val="1E293B"/>
                </a:solidFill>
                <a:latin typeface="Calibri"/>
              </a:defRPr>
            </a:pPr>
            <a:r>
              <a:t>UUID_STRING()</a:t>
            </a:r>
          </a:p>
        </p:txBody>
      </p:sp>
      <p:sp>
        <p:nvSpPr>
          <p:cNvPr id="13" name="TextBox 12"/>
          <p:cNvSpPr txBox="1"/>
          <p:nvPr/>
        </p:nvSpPr>
        <p:spPr>
          <a:xfrm>
            <a:off x="347472" y="2324100"/>
            <a:ext cx="1682496" cy="182880"/>
          </a:xfrm>
          <a:prstGeom prst="rect">
            <a:avLst/>
          </a:prstGeom>
          <a:noFill/>
        </p:spPr>
        <p:txBody>
          <a:bodyPr wrap="square">
            <a:spAutoFit/>
          </a:bodyPr>
          <a:lstStyle/>
          <a:p>
            <a:pPr algn="l">
              <a:defRPr sz="900" b="0">
                <a:solidFill>
                  <a:srgbClr val="1E293B"/>
                </a:solidFill>
                <a:latin typeface="Calibri"/>
              </a:defRPr>
            </a:pPr>
          </a:p>
        </p:txBody>
      </p:sp>
      <p:sp>
        <p:nvSpPr>
          <p:cNvPr id="14" name="TextBox 13"/>
          <p:cNvSpPr txBox="1"/>
          <p:nvPr/>
        </p:nvSpPr>
        <p:spPr>
          <a:xfrm>
            <a:off x="347472" y="2489200"/>
            <a:ext cx="1682496" cy="182880"/>
          </a:xfrm>
          <a:prstGeom prst="rect">
            <a:avLst/>
          </a:prstGeom>
          <a:noFill/>
        </p:spPr>
        <p:txBody>
          <a:bodyPr wrap="square">
            <a:spAutoFit/>
          </a:bodyPr>
          <a:lstStyle/>
          <a:p>
            <a:pPr algn="l">
              <a:defRPr sz="900" b="0">
                <a:solidFill>
                  <a:srgbClr val="1E293B"/>
                </a:solidFill>
                <a:latin typeface="Calibri"/>
              </a:defRPr>
            </a:pPr>
            <a:r>
              <a:t>18 tables seeded</a:t>
            </a:r>
          </a:p>
        </p:txBody>
      </p:sp>
      <p:sp>
        <p:nvSpPr>
          <p:cNvPr id="15" name="TextBox 14"/>
          <p:cNvSpPr txBox="1"/>
          <p:nvPr/>
        </p:nvSpPr>
        <p:spPr>
          <a:xfrm>
            <a:off x="347472" y="2654300"/>
            <a:ext cx="1682496" cy="182880"/>
          </a:xfrm>
          <a:prstGeom prst="rect">
            <a:avLst/>
          </a:prstGeom>
          <a:noFill/>
        </p:spPr>
        <p:txBody>
          <a:bodyPr wrap="square">
            <a:spAutoFit/>
          </a:bodyPr>
          <a:lstStyle/>
          <a:p>
            <a:pPr algn="l">
              <a:defRPr sz="900" b="0">
                <a:solidFill>
                  <a:srgbClr val="1E293B"/>
                </a:solidFill>
                <a:latin typeface="Calibri"/>
              </a:defRPr>
            </a:pPr>
            <a:r>
              <a:t>~2,070 total rows</a:t>
            </a:r>
          </a:p>
        </p:txBody>
      </p:sp>
      <p:sp>
        <p:nvSpPr>
          <p:cNvPr id="16" name="Right Arrow 15"/>
          <p:cNvSpPr/>
          <p:nvPr/>
        </p:nvSpPr>
        <p:spPr>
          <a:xfrm>
            <a:off x="2128520" y="2286000"/>
            <a:ext cx="109728" cy="137160"/>
          </a:xfrm>
          <a:prstGeom prst="rightArrow">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40280" y="1280160"/>
            <a:ext cx="1828800" cy="50292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0" y="1298448"/>
            <a:ext cx="1737360" cy="457200"/>
          </a:xfrm>
          <a:prstGeom prst="rect">
            <a:avLst/>
          </a:prstGeom>
          <a:noFill/>
        </p:spPr>
        <p:txBody>
          <a:bodyPr wrap="square">
            <a:spAutoFit/>
          </a:bodyPr>
          <a:lstStyle/>
          <a:p>
            <a:pPr algn="ctr">
              <a:defRPr sz="1000" b="1">
                <a:solidFill>
                  <a:srgbClr val="FFFFFF"/>
                </a:solidFill>
                <a:latin typeface="Calibri"/>
              </a:defRPr>
            </a:pPr>
            <a:r>
              <a:t>2. GOVERNANCE</a:t>
            </a:r>
            <a:br/>
            <a:r>
              <a:t>APPLIED</a:t>
            </a:r>
          </a:p>
        </p:txBody>
      </p:sp>
      <p:sp>
        <p:nvSpPr>
          <p:cNvPr id="19" name="Rectangle 18"/>
          <p:cNvSpPr/>
          <p:nvPr/>
        </p:nvSpPr>
        <p:spPr>
          <a:xfrm>
            <a:off x="2240280" y="1801368"/>
            <a:ext cx="1828800" cy="1508760"/>
          </a:xfrm>
          <a:prstGeom prst="rect">
            <a:avLst/>
          </a:prstGeom>
          <a:solidFill>
            <a:srgbClr val="F0F2F5"/>
          </a:solidFill>
          <a:ln w="12700">
            <a:solidFill>
              <a:srgbClr val="E74C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13432" y="1828800"/>
            <a:ext cx="1682496" cy="182880"/>
          </a:xfrm>
          <a:prstGeom prst="rect">
            <a:avLst/>
          </a:prstGeom>
          <a:noFill/>
        </p:spPr>
        <p:txBody>
          <a:bodyPr wrap="square">
            <a:spAutoFit/>
          </a:bodyPr>
          <a:lstStyle/>
          <a:p>
            <a:pPr algn="l">
              <a:defRPr sz="900" b="0">
                <a:solidFill>
                  <a:srgbClr val="1E293B"/>
                </a:solidFill>
                <a:latin typeface="Calibri"/>
              </a:defRPr>
            </a:pPr>
            <a:r>
              <a:t>PII_LEVEL tags</a:t>
            </a:r>
          </a:p>
        </p:txBody>
      </p:sp>
      <p:sp>
        <p:nvSpPr>
          <p:cNvPr id="21" name="TextBox 20"/>
          <p:cNvSpPr txBox="1"/>
          <p:nvPr/>
        </p:nvSpPr>
        <p:spPr>
          <a:xfrm>
            <a:off x="2313432" y="1993900"/>
            <a:ext cx="1682496" cy="182880"/>
          </a:xfrm>
          <a:prstGeom prst="rect">
            <a:avLst/>
          </a:prstGeom>
          <a:noFill/>
        </p:spPr>
        <p:txBody>
          <a:bodyPr wrap="square">
            <a:spAutoFit/>
          </a:bodyPr>
          <a:lstStyle/>
          <a:p>
            <a:pPr algn="l">
              <a:defRPr sz="900" b="0">
                <a:solidFill>
                  <a:srgbClr val="1E293B"/>
                </a:solidFill>
                <a:latin typeface="Calibri"/>
              </a:defRPr>
            </a:pPr>
            <a:r>
              <a:t>BUSINESS_DOMAIN tags</a:t>
            </a:r>
          </a:p>
        </p:txBody>
      </p:sp>
      <p:sp>
        <p:nvSpPr>
          <p:cNvPr id="22" name="TextBox 21"/>
          <p:cNvSpPr txBox="1"/>
          <p:nvPr/>
        </p:nvSpPr>
        <p:spPr>
          <a:xfrm>
            <a:off x="2313432" y="2159000"/>
            <a:ext cx="1682496" cy="182880"/>
          </a:xfrm>
          <a:prstGeom prst="rect">
            <a:avLst/>
          </a:prstGeom>
          <a:noFill/>
        </p:spPr>
        <p:txBody>
          <a:bodyPr wrap="square">
            <a:spAutoFit/>
          </a:bodyPr>
          <a:lstStyle/>
          <a:p>
            <a:pPr algn="l">
              <a:defRPr sz="900" b="0">
                <a:solidFill>
                  <a:srgbClr val="1E293B"/>
                </a:solidFill>
                <a:latin typeface="Calibri"/>
              </a:defRPr>
            </a:pPr>
            <a:r>
              <a:t>3 masking policies</a:t>
            </a:r>
          </a:p>
        </p:txBody>
      </p:sp>
      <p:sp>
        <p:nvSpPr>
          <p:cNvPr id="23" name="TextBox 22"/>
          <p:cNvSpPr txBox="1"/>
          <p:nvPr/>
        </p:nvSpPr>
        <p:spPr>
          <a:xfrm>
            <a:off x="2313432" y="2324100"/>
            <a:ext cx="1682496" cy="182880"/>
          </a:xfrm>
          <a:prstGeom prst="rect">
            <a:avLst/>
          </a:prstGeom>
          <a:noFill/>
        </p:spPr>
        <p:txBody>
          <a:bodyPr wrap="square">
            <a:spAutoFit/>
          </a:bodyPr>
          <a:lstStyle/>
          <a:p>
            <a:pPr algn="l">
              <a:defRPr sz="900" b="0">
                <a:solidFill>
                  <a:srgbClr val="1E293B"/>
                </a:solidFill>
                <a:latin typeface="Calibri"/>
              </a:defRPr>
            </a:pPr>
            <a:r>
              <a:t>applied at CREATE</a:t>
            </a:r>
          </a:p>
        </p:txBody>
      </p:sp>
      <p:sp>
        <p:nvSpPr>
          <p:cNvPr id="24" name="TextBox 23"/>
          <p:cNvSpPr txBox="1"/>
          <p:nvPr/>
        </p:nvSpPr>
        <p:spPr>
          <a:xfrm>
            <a:off x="2313432" y="2489200"/>
            <a:ext cx="1682496" cy="182880"/>
          </a:xfrm>
          <a:prstGeom prst="rect">
            <a:avLst/>
          </a:prstGeom>
          <a:noFill/>
        </p:spPr>
        <p:txBody>
          <a:bodyPr wrap="square">
            <a:spAutoFit/>
          </a:bodyPr>
          <a:lstStyle/>
          <a:p>
            <a:pPr algn="l">
              <a:defRPr sz="900" b="0">
                <a:solidFill>
                  <a:srgbClr val="1E293B"/>
                </a:solidFill>
                <a:latin typeface="Calibri"/>
              </a:defRPr>
            </a:pPr>
          </a:p>
        </p:txBody>
      </p:sp>
      <p:sp>
        <p:nvSpPr>
          <p:cNvPr id="25" name="TextBox 24"/>
          <p:cNvSpPr txBox="1"/>
          <p:nvPr/>
        </p:nvSpPr>
        <p:spPr>
          <a:xfrm>
            <a:off x="2313432" y="2654300"/>
            <a:ext cx="1682496" cy="182880"/>
          </a:xfrm>
          <a:prstGeom prst="rect">
            <a:avLst/>
          </a:prstGeom>
          <a:noFill/>
        </p:spPr>
        <p:txBody>
          <a:bodyPr wrap="square">
            <a:spAutoFit/>
          </a:bodyPr>
          <a:lstStyle/>
          <a:p>
            <a:pPr algn="l">
              <a:defRPr sz="900" b="0">
                <a:solidFill>
                  <a:srgbClr val="1E293B"/>
                </a:solidFill>
                <a:latin typeface="Calibri"/>
              </a:defRPr>
            </a:pPr>
            <a:r>
              <a:t>RBAC: 6 roles</a:t>
            </a:r>
          </a:p>
        </p:txBody>
      </p:sp>
      <p:sp>
        <p:nvSpPr>
          <p:cNvPr id="26" name="Right Arrow 25"/>
          <p:cNvSpPr/>
          <p:nvPr/>
        </p:nvSpPr>
        <p:spPr>
          <a:xfrm>
            <a:off x="4094480" y="2286000"/>
            <a:ext cx="109728" cy="137160"/>
          </a:xfrm>
          <a:prstGeom prst="rightArrow">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06240" y="1280160"/>
            <a:ext cx="1828800" cy="50292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51960" y="1298448"/>
            <a:ext cx="1737360" cy="457200"/>
          </a:xfrm>
          <a:prstGeom prst="rect">
            <a:avLst/>
          </a:prstGeom>
          <a:noFill/>
        </p:spPr>
        <p:txBody>
          <a:bodyPr wrap="square">
            <a:spAutoFit/>
          </a:bodyPr>
          <a:lstStyle/>
          <a:p>
            <a:pPr algn="ctr">
              <a:defRPr sz="1000" b="1">
                <a:solidFill>
                  <a:srgbClr val="FFFFFF"/>
                </a:solidFill>
                <a:latin typeface="Calibri"/>
              </a:defRPr>
            </a:pPr>
            <a:r>
              <a:t>3. ANALYTICAL</a:t>
            </a:r>
            <a:br/>
            <a:r>
              <a:t>VIEWS</a:t>
            </a:r>
          </a:p>
        </p:txBody>
      </p:sp>
      <p:sp>
        <p:nvSpPr>
          <p:cNvPr id="29" name="Rectangle 28"/>
          <p:cNvSpPr/>
          <p:nvPr/>
        </p:nvSpPr>
        <p:spPr>
          <a:xfrm>
            <a:off x="4206240" y="1801368"/>
            <a:ext cx="1828800" cy="1508760"/>
          </a:xfrm>
          <a:prstGeom prst="rect">
            <a:avLst/>
          </a:prstGeom>
          <a:solidFill>
            <a:srgbClr val="F0F2F5"/>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9392" y="1828800"/>
            <a:ext cx="1682496" cy="182880"/>
          </a:xfrm>
          <a:prstGeom prst="rect">
            <a:avLst/>
          </a:prstGeom>
          <a:noFill/>
        </p:spPr>
        <p:txBody>
          <a:bodyPr wrap="square">
            <a:spAutoFit/>
          </a:bodyPr>
          <a:lstStyle/>
          <a:p>
            <a:pPr algn="l">
              <a:defRPr sz="900" b="0">
                <a:solidFill>
                  <a:srgbClr val="1E293B"/>
                </a:solidFill>
                <a:latin typeface="Calibri"/>
              </a:defRPr>
            </a:pPr>
            <a:r>
              <a:t>VW_CUSTOMER_360</a:t>
            </a:r>
          </a:p>
        </p:txBody>
      </p:sp>
      <p:sp>
        <p:nvSpPr>
          <p:cNvPr id="31" name="TextBox 30"/>
          <p:cNvSpPr txBox="1"/>
          <p:nvPr/>
        </p:nvSpPr>
        <p:spPr>
          <a:xfrm>
            <a:off x="4279392" y="1993900"/>
            <a:ext cx="1682496" cy="182880"/>
          </a:xfrm>
          <a:prstGeom prst="rect">
            <a:avLst/>
          </a:prstGeom>
          <a:noFill/>
        </p:spPr>
        <p:txBody>
          <a:bodyPr wrap="square">
            <a:spAutoFit/>
          </a:bodyPr>
          <a:lstStyle/>
          <a:p>
            <a:pPr algn="l">
              <a:defRPr sz="900" b="0">
                <a:solidFill>
                  <a:srgbClr val="1E293B"/>
                </a:solidFill>
                <a:latin typeface="Calibri"/>
              </a:defRPr>
            </a:pPr>
            <a:r>
              <a:t>VW_CLAIMS_PERFORMANCE</a:t>
            </a:r>
          </a:p>
        </p:txBody>
      </p:sp>
      <p:sp>
        <p:nvSpPr>
          <p:cNvPr id="32" name="TextBox 31"/>
          <p:cNvSpPr txBox="1"/>
          <p:nvPr/>
        </p:nvSpPr>
        <p:spPr>
          <a:xfrm>
            <a:off x="4279392" y="2159000"/>
            <a:ext cx="1682496" cy="182880"/>
          </a:xfrm>
          <a:prstGeom prst="rect">
            <a:avLst/>
          </a:prstGeom>
          <a:noFill/>
        </p:spPr>
        <p:txBody>
          <a:bodyPr wrap="square">
            <a:spAutoFit/>
          </a:bodyPr>
          <a:lstStyle/>
          <a:p>
            <a:pPr algn="l">
              <a:defRPr sz="900" b="0">
                <a:solidFill>
                  <a:srgbClr val="1E293B"/>
                </a:solidFill>
                <a:latin typeface="Calibri"/>
              </a:defRPr>
            </a:pPr>
            <a:r>
              <a:t>VW_AT_RISK_PORTFOLIO</a:t>
            </a:r>
          </a:p>
        </p:txBody>
      </p:sp>
      <p:sp>
        <p:nvSpPr>
          <p:cNvPr id="33" name="TextBox 32"/>
          <p:cNvSpPr txBox="1"/>
          <p:nvPr/>
        </p:nvSpPr>
        <p:spPr>
          <a:xfrm>
            <a:off x="4279392" y="2324100"/>
            <a:ext cx="1682496" cy="182880"/>
          </a:xfrm>
          <a:prstGeom prst="rect">
            <a:avLst/>
          </a:prstGeom>
          <a:noFill/>
        </p:spPr>
        <p:txBody>
          <a:bodyPr wrap="square">
            <a:spAutoFit/>
          </a:bodyPr>
          <a:lstStyle/>
          <a:p>
            <a:pPr algn="l">
              <a:defRPr sz="900" b="0">
                <a:solidFill>
                  <a:srgbClr val="1E293B"/>
                </a:solidFill>
                <a:latin typeface="Calibri"/>
              </a:defRPr>
            </a:pPr>
            <a:r>
              <a:t>VW_COMPETITIVE_PRICING</a:t>
            </a:r>
          </a:p>
        </p:txBody>
      </p:sp>
      <p:sp>
        <p:nvSpPr>
          <p:cNvPr id="34" name="TextBox 33"/>
          <p:cNvSpPr txBox="1"/>
          <p:nvPr/>
        </p:nvSpPr>
        <p:spPr>
          <a:xfrm>
            <a:off x="4279392" y="2489200"/>
            <a:ext cx="1682496" cy="182880"/>
          </a:xfrm>
          <a:prstGeom prst="rect">
            <a:avLst/>
          </a:prstGeom>
          <a:noFill/>
        </p:spPr>
        <p:txBody>
          <a:bodyPr wrap="square">
            <a:spAutoFit/>
          </a:bodyPr>
          <a:lstStyle/>
          <a:p>
            <a:pPr algn="l">
              <a:defRPr sz="900" b="0">
                <a:solidFill>
                  <a:srgbClr val="1E293B"/>
                </a:solidFill>
                <a:latin typeface="Calibri"/>
              </a:defRPr>
            </a:pPr>
            <a:r>
              <a:t>VW_MATCH_ACCURACY</a:t>
            </a:r>
          </a:p>
        </p:txBody>
      </p:sp>
      <p:sp>
        <p:nvSpPr>
          <p:cNvPr id="35" name="TextBox 34"/>
          <p:cNvSpPr txBox="1"/>
          <p:nvPr/>
        </p:nvSpPr>
        <p:spPr>
          <a:xfrm>
            <a:off x="4279392" y="2654300"/>
            <a:ext cx="1682496" cy="182880"/>
          </a:xfrm>
          <a:prstGeom prst="rect">
            <a:avLst/>
          </a:prstGeom>
          <a:noFill/>
        </p:spPr>
        <p:txBody>
          <a:bodyPr wrap="square">
            <a:spAutoFit/>
          </a:bodyPr>
          <a:lstStyle/>
          <a:p>
            <a:pPr algn="l">
              <a:defRPr sz="900" b="0">
                <a:solidFill>
                  <a:srgbClr val="1E293B"/>
                </a:solidFill>
                <a:latin typeface="Calibri"/>
              </a:defRPr>
            </a:pPr>
            <a:r>
              <a:t>VW_MARKET_ANALYSIS</a:t>
            </a:r>
          </a:p>
        </p:txBody>
      </p:sp>
      <p:sp>
        <p:nvSpPr>
          <p:cNvPr id="36" name="Right Arrow 35"/>
          <p:cNvSpPr/>
          <p:nvPr/>
        </p:nvSpPr>
        <p:spPr>
          <a:xfrm>
            <a:off x="6060440" y="2286000"/>
            <a:ext cx="109728" cy="137160"/>
          </a:xfrm>
          <a:prstGeom prst="rightArrow">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72199" y="1280160"/>
            <a:ext cx="1828800" cy="50292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19" y="1298448"/>
            <a:ext cx="1737360" cy="457200"/>
          </a:xfrm>
          <a:prstGeom prst="rect">
            <a:avLst/>
          </a:prstGeom>
          <a:noFill/>
        </p:spPr>
        <p:txBody>
          <a:bodyPr wrap="square">
            <a:spAutoFit/>
          </a:bodyPr>
          <a:lstStyle/>
          <a:p>
            <a:pPr algn="ctr">
              <a:defRPr sz="1000" b="1">
                <a:solidFill>
                  <a:srgbClr val="FFFFFF"/>
                </a:solidFill>
                <a:latin typeface="Calibri"/>
              </a:defRPr>
            </a:pPr>
            <a:r>
              <a:t>4. SEMANTIC</a:t>
            </a:r>
            <a:br/>
            <a:r>
              <a:t>LAYER</a:t>
            </a:r>
          </a:p>
        </p:txBody>
      </p:sp>
      <p:sp>
        <p:nvSpPr>
          <p:cNvPr id="39" name="Rectangle 38"/>
          <p:cNvSpPr/>
          <p:nvPr/>
        </p:nvSpPr>
        <p:spPr>
          <a:xfrm>
            <a:off x="6172199" y="1801368"/>
            <a:ext cx="1828800" cy="1508760"/>
          </a:xfrm>
          <a:prstGeom prst="rect">
            <a:avLst/>
          </a:prstGeom>
          <a:solidFill>
            <a:srgbClr val="F0F2F5"/>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5351" y="1828800"/>
            <a:ext cx="1682496" cy="182880"/>
          </a:xfrm>
          <a:prstGeom prst="rect">
            <a:avLst/>
          </a:prstGeom>
          <a:noFill/>
        </p:spPr>
        <p:txBody>
          <a:bodyPr wrap="square">
            <a:spAutoFit/>
          </a:bodyPr>
          <a:lstStyle/>
          <a:p>
            <a:pPr algn="l">
              <a:defRPr sz="900" b="0">
                <a:solidFill>
                  <a:srgbClr val="1E293B"/>
                </a:solidFill>
                <a:latin typeface="Calibri"/>
              </a:defRPr>
            </a:pPr>
            <a:r>
              <a:t>SV_INSURANCE_OPS</a:t>
            </a:r>
          </a:p>
        </p:txBody>
      </p:sp>
      <p:sp>
        <p:nvSpPr>
          <p:cNvPr id="41" name="TextBox 40"/>
          <p:cNvSpPr txBox="1"/>
          <p:nvPr/>
        </p:nvSpPr>
        <p:spPr>
          <a:xfrm>
            <a:off x="6245351" y="1993900"/>
            <a:ext cx="1682496" cy="182880"/>
          </a:xfrm>
          <a:prstGeom prst="rect">
            <a:avLst/>
          </a:prstGeom>
          <a:noFill/>
        </p:spPr>
        <p:txBody>
          <a:bodyPr wrap="square">
            <a:spAutoFit/>
          </a:bodyPr>
          <a:lstStyle/>
          <a:p>
            <a:pPr algn="l">
              <a:defRPr sz="900" b="0">
                <a:solidFill>
                  <a:srgbClr val="1E293B"/>
                </a:solidFill>
                <a:latin typeface="Calibri"/>
              </a:defRPr>
            </a:pPr>
            <a:r>
              <a:t>SV_DATA_QUALITY</a:t>
            </a:r>
          </a:p>
        </p:txBody>
      </p:sp>
      <p:sp>
        <p:nvSpPr>
          <p:cNvPr id="42" name="TextBox 41"/>
          <p:cNvSpPr txBox="1"/>
          <p:nvPr/>
        </p:nvSpPr>
        <p:spPr>
          <a:xfrm>
            <a:off x="6245351" y="2159000"/>
            <a:ext cx="1682496" cy="182880"/>
          </a:xfrm>
          <a:prstGeom prst="rect">
            <a:avLst/>
          </a:prstGeom>
          <a:noFill/>
        </p:spPr>
        <p:txBody>
          <a:bodyPr wrap="square">
            <a:spAutoFit/>
          </a:bodyPr>
          <a:lstStyle/>
          <a:p>
            <a:pPr algn="l">
              <a:defRPr sz="900" b="0">
                <a:solidFill>
                  <a:srgbClr val="1E293B"/>
                </a:solidFill>
                <a:latin typeface="Calibri"/>
              </a:defRPr>
            </a:pPr>
            <a:r>
              <a:t>SV_COMPETITIVE_INTEL</a:t>
            </a:r>
          </a:p>
        </p:txBody>
      </p:sp>
      <p:sp>
        <p:nvSpPr>
          <p:cNvPr id="43" name="TextBox 42"/>
          <p:cNvSpPr txBox="1"/>
          <p:nvPr/>
        </p:nvSpPr>
        <p:spPr>
          <a:xfrm>
            <a:off x="6245351" y="2324100"/>
            <a:ext cx="1682496" cy="182880"/>
          </a:xfrm>
          <a:prstGeom prst="rect">
            <a:avLst/>
          </a:prstGeom>
          <a:noFill/>
        </p:spPr>
        <p:txBody>
          <a:bodyPr wrap="square">
            <a:spAutoFit/>
          </a:bodyPr>
          <a:lstStyle/>
          <a:p>
            <a:pPr algn="l">
              <a:defRPr sz="900" b="0">
                <a:solidFill>
                  <a:srgbClr val="1E293B"/>
                </a:solidFill>
                <a:latin typeface="Calibri"/>
              </a:defRPr>
            </a:pPr>
            <a:r>
              <a:t>SV_MARKET_INTELLIGENCE</a:t>
            </a:r>
          </a:p>
        </p:txBody>
      </p:sp>
      <p:sp>
        <p:nvSpPr>
          <p:cNvPr id="44" name="TextBox 43"/>
          <p:cNvSpPr txBox="1"/>
          <p:nvPr/>
        </p:nvSpPr>
        <p:spPr>
          <a:xfrm>
            <a:off x="6245351" y="2489200"/>
            <a:ext cx="1682496" cy="182880"/>
          </a:xfrm>
          <a:prstGeom prst="rect">
            <a:avLst/>
          </a:prstGeom>
          <a:noFill/>
        </p:spPr>
        <p:txBody>
          <a:bodyPr wrap="square">
            <a:spAutoFit/>
          </a:bodyPr>
          <a:lstStyle/>
          <a:p>
            <a:pPr algn="l">
              <a:defRPr sz="900" b="0">
                <a:solidFill>
                  <a:srgbClr val="1E293B"/>
                </a:solidFill>
                <a:latin typeface="Calibri"/>
              </a:defRPr>
            </a:pPr>
            <a:r>
              <a:t>SV_PRODUCT_MATCHING</a:t>
            </a:r>
          </a:p>
        </p:txBody>
      </p:sp>
      <p:sp>
        <p:nvSpPr>
          <p:cNvPr id="45" name="TextBox 44"/>
          <p:cNvSpPr txBox="1"/>
          <p:nvPr/>
        </p:nvSpPr>
        <p:spPr>
          <a:xfrm>
            <a:off x="6245351" y="2654300"/>
            <a:ext cx="1682496" cy="182880"/>
          </a:xfrm>
          <a:prstGeom prst="rect">
            <a:avLst/>
          </a:prstGeom>
          <a:noFill/>
        </p:spPr>
        <p:txBody>
          <a:bodyPr wrap="square">
            <a:spAutoFit/>
          </a:bodyPr>
          <a:lstStyle/>
          <a:p>
            <a:pPr algn="l">
              <a:defRPr sz="900" b="0">
                <a:solidFill>
                  <a:srgbClr val="1E293B"/>
                </a:solidFill>
                <a:latin typeface="Calibri"/>
              </a:defRPr>
            </a:pPr>
          </a:p>
        </p:txBody>
      </p:sp>
      <p:sp>
        <p:nvSpPr>
          <p:cNvPr id="46" name="TextBox 45"/>
          <p:cNvSpPr txBox="1"/>
          <p:nvPr/>
        </p:nvSpPr>
        <p:spPr>
          <a:xfrm>
            <a:off x="6245351" y="2819400"/>
            <a:ext cx="1682496" cy="182880"/>
          </a:xfrm>
          <a:prstGeom prst="rect">
            <a:avLst/>
          </a:prstGeom>
          <a:noFill/>
        </p:spPr>
        <p:txBody>
          <a:bodyPr wrap="square">
            <a:spAutoFit/>
          </a:bodyPr>
          <a:lstStyle/>
          <a:p>
            <a:pPr algn="l">
              <a:defRPr sz="900" b="0">
                <a:solidFill>
                  <a:srgbClr val="1E293B"/>
                </a:solidFill>
                <a:latin typeface="Calibri"/>
              </a:defRPr>
            </a:pPr>
            <a:r>
              <a:t>25+ VQRs</a:t>
            </a:r>
          </a:p>
        </p:txBody>
      </p:sp>
      <p:sp>
        <p:nvSpPr>
          <p:cNvPr id="47" name="Right Arrow 46"/>
          <p:cNvSpPr/>
          <p:nvPr/>
        </p:nvSpPr>
        <p:spPr>
          <a:xfrm>
            <a:off x="8026399" y="2286000"/>
            <a:ext cx="109728" cy="137160"/>
          </a:xfrm>
          <a:prstGeom prst="rightArrow">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138160" y="1280160"/>
            <a:ext cx="1828800" cy="502920"/>
          </a:xfrm>
          <a:prstGeom prst="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83880" y="1298448"/>
            <a:ext cx="1737360" cy="457200"/>
          </a:xfrm>
          <a:prstGeom prst="rect">
            <a:avLst/>
          </a:prstGeom>
          <a:noFill/>
        </p:spPr>
        <p:txBody>
          <a:bodyPr wrap="square">
            <a:spAutoFit/>
          </a:bodyPr>
          <a:lstStyle/>
          <a:p>
            <a:pPr algn="ctr">
              <a:defRPr sz="1000" b="1">
                <a:solidFill>
                  <a:srgbClr val="FFFFFF"/>
                </a:solidFill>
                <a:latin typeface="Calibri"/>
              </a:defRPr>
            </a:pPr>
            <a:r>
              <a:t>5. AI AGENT</a:t>
            </a:r>
            <a:br/>
            <a:r>
              <a:t>ORCHESTRATION</a:t>
            </a:r>
          </a:p>
        </p:txBody>
      </p:sp>
      <p:sp>
        <p:nvSpPr>
          <p:cNvPr id="50" name="Rectangle 49"/>
          <p:cNvSpPr/>
          <p:nvPr/>
        </p:nvSpPr>
        <p:spPr>
          <a:xfrm>
            <a:off x="8138160" y="1801368"/>
            <a:ext cx="1828800" cy="1508760"/>
          </a:xfrm>
          <a:prstGeom prst="rect">
            <a:avLst/>
          </a:prstGeom>
          <a:solidFill>
            <a:srgbClr val="F0F2F5"/>
          </a:solidFill>
          <a:ln w="12700">
            <a:solidFill>
              <a:srgbClr val="6C5C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11312" y="1828800"/>
            <a:ext cx="1682496" cy="182880"/>
          </a:xfrm>
          <a:prstGeom prst="rect">
            <a:avLst/>
          </a:prstGeom>
          <a:noFill/>
        </p:spPr>
        <p:txBody>
          <a:bodyPr wrap="square">
            <a:spAutoFit/>
          </a:bodyPr>
          <a:lstStyle/>
          <a:p>
            <a:pPr algn="l">
              <a:defRPr sz="900" b="0">
                <a:solidFill>
                  <a:srgbClr val="1E293B"/>
                </a:solidFill>
                <a:latin typeface="Calibri"/>
              </a:defRPr>
            </a:pPr>
            <a:r>
              <a:t>User query</a:t>
            </a:r>
          </a:p>
        </p:txBody>
      </p:sp>
      <p:sp>
        <p:nvSpPr>
          <p:cNvPr id="52" name="TextBox 51"/>
          <p:cNvSpPr txBox="1"/>
          <p:nvPr/>
        </p:nvSpPr>
        <p:spPr>
          <a:xfrm>
            <a:off x="8211312" y="1993900"/>
            <a:ext cx="1682496" cy="182880"/>
          </a:xfrm>
          <a:prstGeom prst="rect">
            <a:avLst/>
          </a:prstGeom>
          <a:noFill/>
        </p:spPr>
        <p:txBody>
          <a:bodyPr wrap="square">
            <a:spAutoFit/>
          </a:bodyPr>
          <a:lstStyle/>
          <a:p>
            <a:pPr algn="l">
              <a:defRPr sz="900" b="0">
                <a:solidFill>
                  <a:srgbClr val="1E293B"/>
                </a:solidFill>
                <a:latin typeface="Calibri"/>
              </a:defRPr>
            </a:pPr>
            <a:r>
              <a:t>→ Agent routes</a:t>
            </a:r>
          </a:p>
        </p:txBody>
      </p:sp>
      <p:sp>
        <p:nvSpPr>
          <p:cNvPr id="53" name="TextBox 52"/>
          <p:cNvSpPr txBox="1"/>
          <p:nvPr/>
        </p:nvSpPr>
        <p:spPr>
          <a:xfrm>
            <a:off x="8211312" y="2159000"/>
            <a:ext cx="1682496" cy="182880"/>
          </a:xfrm>
          <a:prstGeom prst="rect">
            <a:avLst/>
          </a:prstGeom>
          <a:noFill/>
        </p:spPr>
        <p:txBody>
          <a:bodyPr wrap="square">
            <a:spAutoFit/>
          </a:bodyPr>
          <a:lstStyle/>
          <a:p>
            <a:pPr algn="l">
              <a:defRPr sz="900" b="0">
                <a:solidFill>
                  <a:srgbClr val="1E293B"/>
                </a:solidFill>
                <a:latin typeface="Calibri"/>
              </a:defRPr>
            </a:pPr>
            <a:r>
              <a:t>→ Tool selected</a:t>
            </a:r>
          </a:p>
        </p:txBody>
      </p:sp>
      <p:sp>
        <p:nvSpPr>
          <p:cNvPr id="54" name="TextBox 53"/>
          <p:cNvSpPr txBox="1"/>
          <p:nvPr/>
        </p:nvSpPr>
        <p:spPr>
          <a:xfrm>
            <a:off x="8211312" y="2324100"/>
            <a:ext cx="1682496" cy="182880"/>
          </a:xfrm>
          <a:prstGeom prst="rect">
            <a:avLst/>
          </a:prstGeom>
          <a:noFill/>
        </p:spPr>
        <p:txBody>
          <a:bodyPr wrap="square">
            <a:spAutoFit/>
          </a:bodyPr>
          <a:lstStyle/>
          <a:p>
            <a:pPr algn="l">
              <a:defRPr sz="900" b="0">
                <a:solidFill>
                  <a:srgbClr val="1E293B"/>
                </a:solidFill>
                <a:latin typeface="Calibri"/>
              </a:defRPr>
            </a:pPr>
            <a:r>
              <a:t>→ SQL generated</a:t>
            </a:r>
          </a:p>
        </p:txBody>
      </p:sp>
      <p:sp>
        <p:nvSpPr>
          <p:cNvPr id="55" name="TextBox 54"/>
          <p:cNvSpPr txBox="1"/>
          <p:nvPr/>
        </p:nvSpPr>
        <p:spPr>
          <a:xfrm>
            <a:off x="8211312" y="2489200"/>
            <a:ext cx="1682496" cy="182880"/>
          </a:xfrm>
          <a:prstGeom prst="rect">
            <a:avLst/>
          </a:prstGeom>
          <a:noFill/>
        </p:spPr>
        <p:txBody>
          <a:bodyPr wrap="square">
            <a:spAutoFit/>
          </a:bodyPr>
          <a:lstStyle/>
          <a:p>
            <a:pPr algn="l">
              <a:defRPr sz="900" b="0">
                <a:solidFill>
                  <a:srgbClr val="1E293B"/>
                </a:solidFill>
                <a:latin typeface="Calibri"/>
              </a:defRPr>
            </a:pPr>
            <a:r>
              <a:t>→ Results returned</a:t>
            </a:r>
          </a:p>
        </p:txBody>
      </p:sp>
      <p:sp>
        <p:nvSpPr>
          <p:cNvPr id="56" name="TextBox 55"/>
          <p:cNvSpPr txBox="1"/>
          <p:nvPr/>
        </p:nvSpPr>
        <p:spPr>
          <a:xfrm>
            <a:off x="8211312" y="2654300"/>
            <a:ext cx="1682496" cy="182880"/>
          </a:xfrm>
          <a:prstGeom prst="rect">
            <a:avLst/>
          </a:prstGeom>
          <a:noFill/>
        </p:spPr>
        <p:txBody>
          <a:bodyPr wrap="square">
            <a:spAutoFit/>
          </a:bodyPr>
          <a:lstStyle/>
          <a:p>
            <a:pPr algn="l">
              <a:defRPr sz="900" b="0">
                <a:solidFill>
                  <a:srgbClr val="1E293B"/>
                </a:solidFill>
                <a:latin typeface="Calibri"/>
              </a:defRPr>
            </a:pPr>
            <a:r>
              <a:t>→ Response composed</a:t>
            </a:r>
          </a:p>
        </p:txBody>
      </p:sp>
      <p:sp>
        <p:nvSpPr>
          <p:cNvPr id="57" name="Right Arrow 56"/>
          <p:cNvSpPr/>
          <p:nvPr/>
        </p:nvSpPr>
        <p:spPr>
          <a:xfrm>
            <a:off x="9992360" y="2286000"/>
            <a:ext cx="109728" cy="137160"/>
          </a:xfrm>
          <a:prstGeom prst="rightArrow">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104120" y="1280160"/>
            <a:ext cx="1828800" cy="50292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149840" y="1298448"/>
            <a:ext cx="1737360" cy="457200"/>
          </a:xfrm>
          <a:prstGeom prst="rect">
            <a:avLst/>
          </a:prstGeom>
          <a:noFill/>
        </p:spPr>
        <p:txBody>
          <a:bodyPr wrap="square">
            <a:spAutoFit/>
          </a:bodyPr>
          <a:lstStyle/>
          <a:p>
            <a:pPr algn="ctr">
              <a:defRPr sz="1000" b="1">
                <a:solidFill>
                  <a:srgbClr val="FFFFFF"/>
                </a:solidFill>
                <a:latin typeface="Calibri"/>
              </a:defRPr>
            </a:pPr>
            <a:r>
              <a:t>6. USER</a:t>
            </a:r>
            <a:br/>
            <a:r>
              <a:t>INTERFACE</a:t>
            </a:r>
          </a:p>
        </p:txBody>
      </p:sp>
      <p:sp>
        <p:nvSpPr>
          <p:cNvPr id="60" name="Rectangle 59"/>
          <p:cNvSpPr/>
          <p:nvPr/>
        </p:nvSpPr>
        <p:spPr>
          <a:xfrm>
            <a:off x="10104120" y="1801368"/>
            <a:ext cx="1828800" cy="1508760"/>
          </a:xfrm>
          <a:prstGeom prst="rect">
            <a:avLst/>
          </a:prstGeom>
          <a:solidFill>
            <a:srgbClr val="F0F2F5"/>
          </a:solidFill>
          <a:ln w="127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177272" y="1828800"/>
            <a:ext cx="1682496" cy="182880"/>
          </a:xfrm>
          <a:prstGeom prst="rect">
            <a:avLst/>
          </a:prstGeom>
          <a:noFill/>
        </p:spPr>
        <p:txBody>
          <a:bodyPr wrap="square">
            <a:spAutoFit/>
          </a:bodyPr>
          <a:lstStyle/>
          <a:p>
            <a:pPr algn="l">
              <a:defRPr sz="900" b="0">
                <a:solidFill>
                  <a:srgbClr val="1E293B"/>
                </a:solidFill>
                <a:latin typeface="Calibri"/>
              </a:defRPr>
            </a:pPr>
            <a:r>
              <a:t>CoWork chat</a:t>
            </a:r>
          </a:p>
        </p:txBody>
      </p:sp>
      <p:sp>
        <p:nvSpPr>
          <p:cNvPr id="62" name="TextBox 61"/>
          <p:cNvSpPr txBox="1"/>
          <p:nvPr/>
        </p:nvSpPr>
        <p:spPr>
          <a:xfrm>
            <a:off x="10177272" y="1993900"/>
            <a:ext cx="1682496" cy="182880"/>
          </a:xfrm>
          <a:prstGeom prst="rect">
            <a:avLst/>
          </a:prstGeom>
          <a:noFill/>
        </p:spPr>
        <p:txBody>
          <a:bodyPr wrap="square">
            <a:spAutoFit/>
          </a:bodyPr>
          <a:lstStyle/>
          <a:p>
            <a:pPr algn="l">
              <a:defRPr sz="900" b="0">
                <a:solidFill>
                  <a:srgbClr val="1E293B"/>
                </a:solidFill>
                <a:latin typeface="Calibri"/>
              </a:defRPr>
            </a:pPr>
            <a:r>
              <a:t>Dashboard pages</a:t>
            </a:r>
          </a:p>
        </p:txBody>
      </p:sp>
      <p:sp>
        <p:nvSpPr>
          <p:cNvPr id="63" name="TextBox 62"/>
          <p:cNvSpPr txBox="1"/>
          <p:nvPr/>
        </p:nvSpPr>
        <p:spPr>
          <a:xfrm>
            <a:off x="10177272" y="2159000"/>
            <a:ext cx="1682496" cy="182880"/>
          </a:xfrm>
          <a:prstGeom prst="rect">
            <a:avLst/>
          </a:prstGeom>
          <a:noFill/>
        </p:spPr>
        <p:txBody>
          <a:bodyPr wrap="square">
            <a:spAutoFit/>
          </a:bodyPr>
          <a:lstStyle/>
          <a:p>
            <a:pPr algn="l">
              <a:defRPr sz="900" b="0">
                <a:solidFill>
                  <a:srgbClr val="1E293B"/>
                </a:solidFill>
                <a:latin typeface="Calibri"/>
              </a:defRPr>
            </a:pPr>
            <a:r>
              <a:t>Charts &amp; tables</a:t>
            </a:r>
          </a:p>
        </p:txBody>
      </p:sp>
      <p:sp>
        <p:nvSpPr>
          <p:cNvPr id="64" name="TextBox 63"/>
          <p:cNvSpPr txBox="1"/>
          <p:nvPr/>
        </p:nvSpPr>
        <p:spPr>
          <a:xfrm>
            <a:off x="10177272" y="2324100"/>
            <a:ext cx="1682496" cy="182880"/>
          </a:xfrm>
          <a:prstGeom prst="rect">
            <a:avLst/>
          </a:prstGeom>
          <a:noFill/>
        </p:spPr>
        <p:txBody>
          <a:bodyPr wrap="square">
            <a:spAutoFit/>
          </a:bodyPr>
          <a:lstStyle/>
          <a:p>
            <a:pPr algn="l">
              <a:defRPr sz="900" b="0">
                <a:solidFill>
                  <a:srgbClr val="1E293B"/>
                </a:solidFill>
                <a:latin typeface="Calibri"/>
              </a:defRPr>
            </a:pPr>
            <a:r>
              <a:t>Jira ticket created</a:t>
            </a:r>
          </a:p>
        </p:txBody>
      </p:sp>
      <p:sp>
        <p:nvSpPr>
          <p:cNvPr id="65" name="TextBox 64"/>
          <p:cNvSpPr txBox="1"/>
          <p:nvPr/>
        </p:nvSpPr>
        <p:spPr>
          <a:xfrm>
            <a:off x="10177272" y="2489200"/>
            <a:ext cx="1682496" cy="182880"/>
          </a:xfrm>
          <a:prstGeom prst="rect">
            <a:avLst/>
          </a:prstGeom>
          <a:noFill/>
        </p:spPr>
        <p:txBody>
          <a:bodyPr wrap="square">
            <a:spAutoFit/>
          </a:bodyPr>
          <a:lstStyle/>
          <a:p>
            <a:pPr algn="l">
              <a:defRPr sz="900" b="0">
                <a:solidFill>
                  <a:srgbClr val="1E293B"/>
                </a:solidFill>
                <a:latin typeface="Calibri"/>
              </a:defRPr>
            </a:pPr>
            <a:r>
              <a:t>Report scheduled</a:t>
            </a:r>
          </a:p>
        </p:txBody>
      </p:sp>
      <p:sp>
        <p:nvSpPr>
          <p:cNvPr id="66" name="TextBox 65"/>
          <p:cNvSpPr txBox="1"/>
          <p:nvPr/>
        </p:nvSpPr>
        <p:spPr>
          <a:xfrm>
            <a:off x="10177272" y="2654300"/>
            <a:ext cx="1682496" cy="182880"/>
          </a:xfrm>
          <a:prstGeom prst="rect">
            <a:avLst/>
          </a:prstGeom>
          <a:noFill/>
        </p:spPr>
        <p:txBody>
          <a:bodyPr wrap="square">
            <a:spAutoFit/>
          </a:bodyPr>
          <a:lstStyle/>
          <a:p>
            <a:pPr algn="l">
              <a:defRPr sz="900" b="0">
                <a:solidFill>
                  <a:srgbClr val="1E293B"/>
                </a:solidFill>
                <a:latin typeface="Calibri"/>
              </a:defRPr>
            </a:pPr>
            <a:r>
              <a:t>Artifact shared</a:t>
            </a:r>
          </a:p>
        </p:txBody>
      </p:sp>
      <p:sp>
        <p:nvSpPr>
          <p:cNvPr id="67" name="TextBox 66"/>
          <p:cNvSpPr txBox="1"/>
          <p:nvPr/>
        </p:nvSpPr>
        <p:spPr>
          <a:xfrm>
            <a:off x="274320" y="3566160"/>
            <a:ext cx="5486400" cy="274320"/>
          </a:xfrm>
          <a:prstGeom prst="rect">
            <a:avLst/>
          </a:prstGeom>
          <a:noFill/>
        </p:spPr>
        <p:txBody>
          <a:bodyPr wrap="square">
            <a:spAutoFit/>
          </a:bodyPr>
          <a:lstStyle/>
          <a:p>
            <a:pPr algn="l">
              <a:defRPr sz="1400" b="1">
                <a:solidFill>
                  <a:srgbClr val="112746"/>
                </a:solidFill>
                <a:latin typeface="Calibri"/>
              </a:defRPr>
            </a:pPr>
            <a:r>
              <a:t>Entity Relationships (Core Data Model)</a:t>
            </a:r>
          </a:p>
        </p:txBody>
      </p:sp>
      <p:sp>
        <p:nvSpPr>
          <p:cNvPr id="68" name="TextBox 67"/>
          <p:cNvSpPr txBox="1"/>
          <p:nvPr/>
        </p:nvSpPr>
        <p:spPr>
          <a:xfrm>
            <a:off x="274320" y="3886200"/>
            <a:ext cx="6400800" cy="1828800"/>
          </a:xfrm>
          <a:prstGeom prst="rect">
            <a:avLst/>
          </a:prstGeom>
          <a:noFill/>
        </p:spPr>
        <p:txBody>
          <a:bodyPr wrap="square">
            <a:spAutoFit/>
          </a:bodyPr>
          <a:lstStyle/>
          <a:p>
            <a:pPr algn="l">
              <a:defRPr sz="1000" b="0">
                <a:solidFill>
                  <a:srgbClr val="1E293B"/>
                </a:solidFill>
                <a:latin typeface="Consolas"/>
              </a:defRPr>
            </a:pPr>
            <a:r>
              <a:t>CUSTOMERS ──(1:N)──▶ POLICIES ──(1:N)──▶ CLAIMS</a:t>
            </a:r>
            <a:br/>
            <a:r>
              <a:t>    │                    ├──(1:N)──▶ BILLING</a:t>
            </a:r>
            <a:br/>
            <a:r>
              <a:t>    │                    └──(1:N)──▶ AT_RISK_POLICIES</a:t>
            </a:r>
            <a:br/>
            <a:r>
              <a:t>    └──(1:N)──▶ PRODUCT_MATCH_SCORES ──▶ PRODUCT_CATALOG</a:t>
            </a:r>
            <a:br/>
            <a:br/>
            <a:r>
              <a:t>AGENTS ──(1:N)──▶ POLICIES</a:t>
            </a:r>
            <a:br/>
            <a:r>
              <a:t>COMPETITOR_PRICING ── MARKET_TRENDS ── PRICING_SCENARIOS</a:t>
            </a:r>
          </a:p>
        </p:txBody>
      </p:sp>
      <p:sp>
        <p:nvSpPr>
          <p:cNvPr id="69" name="TextBox 68"/>
          <p:cNvSpPr txBox="1"/>
          <p:nvPr/>
        </p:nvSpPr>
        <p:spPr>
          <a:xfrm>
            <a:off x="7315200" y="3566160"/>
            <a:ext cx="4572000" cy="274320"/>
          </a:xfrm>
          <a:prstGeom prst="rect">
            <a:avLst/>
          </a:prstGeom>
          <a:noFill/>
        </p:spPr>
        <p:txBody>
          <a:bodyPr wrap="square">
            <a:spAutoFit/>
          </a:bodyPr>
          <a:lstStyle/>
          <a:p>
            <a:pPr algn="l">
              <a:defRPr sz="1400" b="1">
                <a:solidFill>
                  <a:srgbClr val="112746"/>
                </a:solidFill>
                <a:latin typeface="Calibri"/>
              </a:defRPr>
            </a:pPr>
            <a:r>
              <a:t>Schema Summary</a:t>
            </a:r>
          </a:p>
        </p:txBody>
      </p:sp>
      <p:graphicFrame>
        <p:nvGraphicFramePr>
          <p:cNvPr id="70" name="Table 69"/>
          <p:cNvGraphicFramePr>
            <a:graphicFrameLocks noGrp="1"/>
          </p:cNvGraphicFramePr>
          <p:nvPr/>
        </p:nvGraphicFramePr>
        <p:xfrm>
          <a:off x="7315200" y="3886200"/>
          <a:ext cx="4572000" cy="1463040"/>
        </p:xfrm>
        <a:graphic>
          <a:graphicData uri="http://schemas.openxmlformats.org/drawingml/2006/table">
            <a:tbl>
              <a:tblPr firstRow="1" bandRow="1">
                <a:tableStyleId>{5C22544A-7EE6-4342-B048-85BDC9FD1C3A}</a:tableStyleId>
              </a:tblPr>
              <a:tblGrid>
                <a:gridCol w="1188720"/>
                <a:gridCol w="640080"/>
                <a:gridCol w="640080"/>
                <a:gridCol w="1280160"/>
                <a:gridCol w="822960"/>
              </a:tblGrid>
              <a:tr h="292608">
                <a:tc>
                  <a:txBody>
                    <a:bodyPr/>
                    <a:lstStyle/>
                    <a:p>
                      <a:pPr>
                        <a:defRPr sz="1000" b="1">
                          <a:solidFill>
                            <a:srgbClr val="FFFFFF"/>
                          </a:solidFill>
                          <a:latin typeface="Calibri"/>
                        </a:defRPr>
                      </a:pPr>
                      <a:r>
                        <a:t>Schema</a:t>
                      </a:r>
                    </a:p>
                  </a:txBody>
                  <a:tcPr anchor="ctr">
                    <a:solidFill>
                      <a:srgbClr val="112746"/>
                    </a:solidFill>
                  </a:tcPr>
                </a:tc>
                <a:tc>
                  <a:txBody>
                    <a:bodyPr/>
                    <a:lstStyle/>
                    <a:p>
                      <a:pPr>
                        <a:defRPr sz="1000" b="1">
                          <a:solidFill>
                            <a:srgbClr val="FFFFFF"/>
                          </a:solidFill>
                          <a:latin typeface="Calibri"/>
                        </a:defRPr>
                      </a:pPr>
                      <a:r>
                        <a:t>Tables</a:t>
                      </a:r>
                    </a:p>
                  </a:txBody>
                  <a:tcPr anchor="ctr">
                    <a:solidFill>
                      <a:srgbClr val="112746"/>
                    </a:solidFill>
                  </a:tcPr>
                </a:tc>
                <a:tc>
                  <a:txBody>
                    <a:bodyPr/>
                    <a:lstStyle/>
                    <a:p>
                      <a:pPr>
                        <a:defRPr sz="1000" b="1">
                          <a:solidFill>
                            <a:srgbClr val="FFFFFF"/>
                          </a:solidFill>
                          <a:latin typeface="Calibri"/>
                        </a:defRPr>
                      </a:pPr>
                      <a:r>
                        <a:t>Views</a:t>
                      </a:r>
                    </a:p>
                  </a:txBody>
                  <a:tcPr anchor="ctr">
                    <a:solidFill>
                      <a:srgbClr val="112746"/>
                    </a:solidFill>
                  </a:tcPr>
                </a:tc>
                <a:tc>
                  <a:txBody>
                    <a:bodyPr/>
                    <a:lstStyle/>
                    <a:p>
                      <a:pPr>
                        <a:defRPr sz="1000" b="1">
                          <a:solidFill>
                            <a:srgbClr val="FFFFFF"/>
                          </a:solidFill>
                          <a:latin typeface="Calibri"/>
                        </a:defRPr>
                      </a:pPr>
                      <a:r>
                        <a:t>Semantic Views</a:t>
                      </a:r>
                    </a:p>
                  </a:txBody>
                  <a:tcPr anchor="ctr">
                    <a:solidFill>
                      <a:srgbClr val="112746"/>
                    </a:solidFill>
                  </a:tcPr>
                </a:tc>
                <a:tc>
                  <a:txBody>
                    <a:bodyPr/>
                    <a:lstStyle/>
                    <a:p>
                      <a:pPr>
                        <a:defRPr sz="1000" b="1">
                          <a:solidFill>
                            <a:srgbClr val="FFFFFF"/>
                          </a:solidFill>
                          <a:latin typeface="Calibri"/>
                        </a:defRPr>
                      </a:pPr>
                      <a:r>
                        <a:t>Rows</a:t>
                      </a:r>
                    </a:p>
                  </a:txBody>
                  <a:tcPr anchor="ctr">
                    <a:solidFill>
                      <a:srgbClr val="112746"/>
                    </a:solidFill>
                  </a:tcPr>
                </a:tc>
              </a:tr>
              <a:tr h="292608">
                <a:tc>
                  <a:txBody>
                    <a:bodyPr/>
                    <a:lstStyle/>
                    <a:p>
                      <a:pPr>
                        <a:defRPr sz="900">
                          <a:solidFill>
                            <a:srgbClr val="1E293B"/>
                          </a:solidFill>
                          <a:latin typeface="Calibri"/>
                        </a:defRPr>
                      </a:pPr>
                      <a:r>
                        <a:t>ANALYTICS</a:t>
                      </a:r>
                    </a:p>
                  </a:txBody>
                  <a:tcPr anchor="ctr">
                    <a:solidFill>
                      <a:srgbClr val="FFFFFF"/>
                    </a:solidFill>
                  </a:tcPr>
                </a:tc>
                <a:tc>
                  <a:txBody>
                    <a:bodyPr/>
                    <a:lstStyle/>
                    <a:p>
                      <a:pPr>
                        <a:defRPr sz="900">
                          <a:solidFill>
                            <a:srgbClr val="1E293B"/>
                          </a:solidFill>
                          <a:latin typeface="Calibri"/>
                        </a:defRPr>
                      </a:pPr>
                      <a:r>
                        <a:t>12</a:t>
                      </a:r>
                    </a:p>
                  </a:txBody>
                  <a:tcPr anchor="ctr">
                    <a:solidFill>
                      <a:srgbClr val="FFFFFF"/>
                    </a:solidFill>
                  </a:tcPr>
                </a:tc>
                <a:tc>
                  <a:txBody>
                    <a:bodyPr/>
                    <a:lstStyle/>
                    <a:p>
                      <a:pPr>
                        <a:defRPr sz="900">
                          <a:solidFill>
                            <a:srgbClr val="1E293B"/>
                          </a:solidFill>
                          <a:latin typeface="Calibri"/>
                        </a:defRPr>
                      </a:pPr>
                      <a:r>
                        <a:t>6</a:t>
                      </a:r>
                    </a:p>
                  </a:txBody>
                  <a:tcPr anchor="ctr">
                    <a:solidFill>
                      <a:srgbClr val="FFFFFF"/>
                    </a:solidFill>
                  </a:tcPr>
                </a:tc>
                <a:tc>
                  <a:txBody>
                    <a:bodyPr/>
                    <a:lstStyle/>
                    <a:p>
                      <a:pPr>
                        <a:defRPr sz="900">
                          <a:solidFill>
                            <a:srgbClr val="1E293B"/>
                          </a:solidFill>
                          <a:latin typeface="Calibri"/>
                        </a:defRPr>
                      </a:pPr>
                      <a:r>
                        <a:t>4 (17 VQRs)</a:t>
                      </a:r>
                    </a:p>
                  </a:txBody>
                  <a:tcPr anchor="ctr">
                    <a:solidFill>
                      <a:srgbClr val="FFFFFF"/>
                    </a:solidFill>
                  </a:tcPr>
                </a:tc>
                <a:tc>
                  <a:txBody>
                    <a:bodyPr/>
                    <a:lstStyle/>
                    <a:p>
                      <a:pPr>
                        <a:defRPr sz="900">
                          <a:solidFill>
                            <a:srgbClr val="1E293B"/>
                          </a:solidFill>
                          <a:latin typeface="Calibri"/>
                        </a:defRPr>
                      </a:pPr>
                      <a:r>
                        <a:t>~1,750</a:t>
                      </a:r>
                    </a:p>
                  </a:txBody>
                  <a:tcPr anchor="ctr">
                    <a:solidFill>
                      <a:srgbClr val="FFFFFF"/>
                    </a:solidFill>
                  </a:tcPr>
                </a:tc>
              </a:tr>
              <a:tr h="292608">
                <a:tc>
                  <a:txBody>
                    <a:bodyPr/>
                    <a:lstStyle/>
                    <a:p>
                      <a:pPr>
                        <a:defRPr sz="900">
                          <a:solidFill>
                            <a:srgbClr val="1E293B"/>
                          </a:solidFill>
                          <a:latin typeface="Calibri"/>
                        </a:defRPr>
                      </a:pPr>
                      <a:r>
                        <a:t>DOCUMENTS</a:t>
                      </a:r>
                    </a:p>
                  </a:txBody>
                  <a:tcPr anchor="ctr">
                    <a:solidFill>
                      <a:srgbClr val="EEF4FA"/>
                    </a:solidFill>
                  </a:tcPr>
                </a:tc>
                <a:tc>
                  <a:txBody>
                    <a:bodyPr/>
                    <a:lstStyle/>
                    <a:p>
                      <a:pPr>
                        <a:defRPr sz="900">
                          <a:solidFill>
                            <a:srgbClr val="1E293B"/>
                          </a:solidFill>
                          <a:latin typeface="Calibri"/>
                        </a:defRPr>
                      </a:pPr>
                      <a:r>
                        <a:t>2</a:t>
                      </a:r>
                    </a:p>
                  </a:txBody>
                  <a:tcPr anchor="ctr">
                    <a:solidFill>
                      <a:srgbClr val="EEF4FA"/>
                    </a:solidFill>
                  </a:tcPr>
                </a:tc>
                <a:tc>
                  <a:txBody>
                    <a:bodyPr/>
                    <a:lstStyle/>
                    <a:p>
                      <a:pPr>
                        <a:defRPr sz="900">
                          <a:solidFill>
                            <a:srgbClr val="1E293B"/>
                          </a:solidFill>
                          <a:latin typeface="Calibri"/>
                        </a:defRPr>
                      </a:pPr>
                      <a:r>
                        <a:t>0</a:t>
                      </a:r>
                    </a:p>
                  </a:txBody>
                  <a:tcPr anchor="ctr">
                    <a:solidFill>
                      <a:srgbClr val="EEF4FA"/>
                    </a:solidFill>
                  </a:tcPr>
                </a:tc>
                <a:tc>
                  <a:txBody>
                    <a:bodyPr/>
                    <a:lstStyle/>
                    <a:p>
                      <a:pPr>
                        <a:defRPr sz="900">
                          <a:solidFill>
                            <a:srgbClr val="1E293B"/>
                          </a:solidFill>
                          <a:latin typeface="Calibri"/>
                        </a:defRPr>
                      </a:pPr>
                      <a:r>
                        <a:t>0</a:t>
                      </a:r>
                    </a:p>
                  </a:txBody>
                  <a:tcPr anchor="ctr">
                    <a:solidFill>
                      <a:srgbClr val="EEF4FA"/>
                    </a:solidFill>
                  </a:tcPr>
                </a:tc>
                <a:tc>
                  <a:txBody>
                    <a:bodyPr/>
                    <a:lstStyle/>
                    <a:p>
                      <a:pPr>
                        <a:defRPr sz="900">
                          <a:solidFill>
                            <a:srgbClr val="1E293B"/>
                          </a:solidFill>
                          <a:latin typeface="Calibri"/>
                        </a:defRPr>
                      </a:pPr>
                      <a:r>
                        <a:t>35</a:t>
                      </a:r>
                    </a:p>
                  </a:txBody>
                  <a:tcPr anchor="ctr">
                    <a:solidFill>
                      <a:srgbClr val="EEF4FA"/>
                    </a:solidFill>
                  </a:tcPr>
                </a:tc>
              </a:tr>
              <a:tr h="292608">
                <a:tc>
                  <a:txBody>
                    <a:bodyPr/>
                    <a:lstStyle/>
                    <a:p>
                      <a:pPr>
                        <a:defRPr sz="900">
                          <a:solidFill>
                            <a:srgbClr val="1E293B"/>
                          </a:solidFill>
                          <a:latin typeface="Calibri"/>
                        </a:defRPr>
                      </a:pPr>
                      <a:r>
                        <a:t>DATA_QUALITY</a:t>
                      </a:r>
                    </a:p>
                  </a:txBody>
                  <a:tcPr anchor="ctr">
                    <a:solidFill>
                      <a:srgbClr val="FFFFFF"/>
                    </a:solidFill>
                  </a:tcPr>
                </a:tc>
                <a:tc>
                  <a:txBody>
                    <a:bodyPr/>
                    <a:lstStyle/>
                    <a:p>
                      <a:pPr>
                        <a:defRPr sz="900">
                          <a:solidFill>
                            <a:srgbClr val="1E293B"/>
                          </a:solidFill>
                          <a:latin typeface="Calibri"/>
                        </a:defRPr>
                      </a:pPr>
                      <a:r>
                        <a:t>4</a:t>
                      </a:r>
                    </a:p>
                  </a:txBody>
                  <a:tcPr anchor="ctr">
                    <a:solidFill>
                      <a:srgbClr val="FFFFFF"/>
                    </a:solidFill>
                  </a:tcPr>
                </a:tc>
                <a:tc>
                  <a:txBody>
                    <a:bodyPr/>
                    <a:lstStyle/>
                    <a:p>
                      <a:pPr>
                        <a:defRPr sz="900">
                          <a:solidFill>
                            <a:srgbClr val="1E293B"/>
                          </a:solidFill>
                          <a:latin typeface="Calibri"/>
                        </a:defRPr>
                      </a:pPr>
                      <a:r>
                        <a:t>1</a:t>
                      </a:r>
                    </a:p>
                  </a:txBody>
                  <a:tcPr anchor="ctr">
                    <a:solidFill>
                      <a:srgbClr val="FFFFFF"/>
                    </a:solidFill>
                  </a:tcPr>
                </a:tc>
                <a:tc>
                  <a:txBody>
                    <a:bodyPr/>
                    <a:lstStyle/>
                    <a:p>
                      <a:pPr>
                        <a:defRPr sz="900">
                          <a:solidFill>
                            <a:srgbClr val="1E293B"/>
                          </a:solidFill>
                          <a:latin typeface="Calibri"/>
                        </a:defRPr>
                      </a:pPr>
                      <a:r>
                        <a:t>1 (5 VQRs)</a:t>
                      </a:r>
                    </a:p>
                  </a:txBody>
                  <a:tcPr anchor="ctr">
                    <a:solidFill>
                      <a:srgbClr val="FFFFFF"/>
                    </a:solidFill>
                  </a:tcPr>
                </a:tc>
                <a:tc>
                  <a:txBody>
                    <a:bodyPr/>
                    <a:lstStyle/>
                    <a:p>
                      <a:pPr>
                        <a:defRPr sz="900">
                          <a:solidFill>
                            <a:srgbClr val="1E293B"/>
                          </a:solidFill>
                          <a:latin typeface="Calibri"/>
                        </a:defRPr>
                      </a:pPr>
                      <a:r>
                        <a:t>146</a:t>
                      </a:r>
                    </a:p>
                  </a:txBody>
                  <a:tcPr anchor="ctr">
                    <a:solidFill>
                      <a:srgbClr val="FFFFFF"/>
                    </a:solidFill>
                  </a:tcPr>
                </a:tc>
              </a:tr>
              <a:tr h="292608">
                <a:tc>
                  <a:txBody>
                    <a:bodyPr/>
                    <a:lstStyle/>
                    <a:p>
                      <a:pPr>
                        <a:defRPr sz="900">
                          <a:solidFill>
                            <a:srgbClr val="1E293B"/>
                          </a:solidFill>
                          <a:latin typeface="Calibri"/>
                        </a:defRPr>
                      </a:pPr>
                      <a:r>
                        <a:t>TOTAL</a:t>
                      </a:r>
                    </a:p>
                  </a:txBody>
                  <a:tcPr anchor="ctr">
                    <a:solidFill>
                      <a:srgbClr val="EEF4FA"/>
                    </a:solidFill>
                  </a:tcPr>
                </a:tc>
                <a:tc>
                  <a:txBody>
                    <a:bodyPr/>
                    <a:lstStyle/>
                    <a:p>
                      <a:pPr>
                        <a:defRPr sz="900">
                          <a:solidFill>
                            <a:srgbClr val="1E293B"/>
                          </a:solidFill>
                          <a:latin typeface="Calibri"/>
                        </a:defRPr>
                      </a:pPr>
                      <a:r>
                        <a:t>18</a:t>
                      </a:r>
                    </a:p>
                  </a:txBody>
                  <a:tcPr anchor="ctr">
                    <a:solidFill>
                      <a:srgbClr val="EEF4FA"/>
                    </a:solidFill>
                  </a:tcPr>
                </a:tc>
                <a:tc>
                  <a:txBody>
                    <a:bodyPr/>
                    <a:lstStyle/>
                    <a:p>
                      <a:pPr>
                        <a:defRPr sz="900">
                          <a:solidFill>
                            <a:srgbClr val="1E293B"/>
                          </a:solidFill>
                          <a:latin typeface="Calibri"/>
                        </a:defRPr>
                      </a:pPr>
                      <a:r>
                        <a:t>7</a:t>
                      </a:r>
                    </a:p>
                  </a:txBody>
                  <a:tcPr anchor="ctr">
                    <a:solidFill>
                      <a:srgbClr val="EEF4FA"/>
                    </a:solidFill>
                  </a:tcPr>
                </a:tc>
                <a:tc>
                  <a:txBody>
                    <a:bodyPr/>
                    <a:lstStyle/>
                    <a:p>
                      <a:pPr>
                        <a:defRPr sz="900">
                          <a:solidFill>
                            <a:srgbClr val="1E293B"/>
                          </a:solidFill>
                          <a:latin typeface="Calibri"/>
                        </a:defRPr>
                      </a:pPr>
                      <a:r>
                        <a:t>5 (25+ VQRs)</a:t>
                      </a:r>
                    </a:p>
                  </a:txBody>
                  <a:tcPr anchor="ctr">
                    <a:solidFill>
                      <a:srgbClr val="EEF4FA"/>
                    </a:solidFill>
                  </a:tcPr>
                </a:tc>
                <a:tc>
                  <a:txBody>
                    <a:bodyPr/>
                    <a:lstStyle/>
                    <a:p>
                      <a:pPr>
                        <a:defRPr sz="900">
                          <a:solidFill>
                            <a:srgbClr val="1E293B"/>
                          </a:solidFill>
                          <a:latin typeface="Calibri"/>
                        </a:defRPr>
                      </a:pPr>
                      <a:r>
                        <a:t>~2,070</a:t>
                      </a:r>
                    </a:p>
                  </a:txBody>
                  <a:tcPr anchor="ctr">
                    <a:solidFill>
                      <a:srgbClr val="EEF4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2600" b="1">
                <a:solidFill>
                  <a:srgbClr val="FFFFFF"/>
                </a:solidFill>
                <a:latin typeface="Calibri"/>
              </a:defRPr>
            </a:pPr>
            <a:r>
              <a:t>Agent Orchestration Deep Dive</a:t>
            </a:r>
          </a:p>
        </p:txBody>
      </p:sp>
      <p:sp>
        <p:nvSpPr>
          <p:cNvPr id="4" name="TextBox 3"/>
          <p:cNvSpPr txBox="1"/>
          <p:nvPr/>
        </p:nvSpPr>
        <p:spPr>
          <a:xfrm>
            <a:off x="548640" y="548640"/>
            <a:ext cx="10058400" cy="365760"/>
          </a:xfrm>
          <a:prstGeom prst="rect">
            <a:avLst/>
          </a:prstGeom>
          <a:noFill/>
        </p:spPr>
        <p:txBody>
          <a:bodyPr wrap="square">
            <a:spAutoFit/>
          </a:bodyPr>
          <a:lstStyle/>
          <a:p>
            <a:pPr algn="l">
              <a:defRPr sz="1300" b="0">
                <a:solidFill>
                  <a:srgbClr val="29B5E8"/>
                </a:solidFill>
                <a:latin typeface="Calibri"/>
              </a:defRPr>
            </a:pPr>
            <a:r>
              <a:t>How Cortex Agents route queries, select tools, and compose responses</a:t>
            </a:r>
          </a:p>
        </p:txBody>
      </p:sp>
      <p:sp>
        <p:nvSpPr>
          <p:cNvPr id="5" name="Rectangle 4"/>
          <p:cNvSpPr/>
          <p:nvPr/>
        </p:nvSpPr>
        <p:spPr>
          <a:xfrm>
            <a:off x="0" y="1005840"/>
            <a:ext cx="12191695"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731520" cy="274320"/>
          </a:xfrm>
          <a:prstGeom prst="rect">
            <a:avLst/>
          </a:prstGeom>
          <a:noFill/>
        </p:spPr>
        <p:txBody>
          <a:bodyPr wrap="square">
            <a:spAutoFit/>
          </a:bodyPr>
          <a:lstStyle/>
          <a:p>
            <a:pPr algn="r">
              <a:defRPr sz="900" b="0">
                <a:solidFill>
                  <a:srgbClr val="8A94A6"/>
                </a:solidFill>
                <a:latin typeface="Calibri"/>
              </a:defRPr>
            </a:pPr>
            <a:r>
              <a:t>5/10</a:t>
            </a:r>
          </a:p>
        </p:txBody>
      </p:sp>
      <p:sp>
        <p:nvSpPr>
          <p:cNvPr id="7" name="Rectangle 6"/>
          <p:cNvSpPr/>
          <p:nvPr/>
        </p:nvSpPr>
        <p:spPr>
          <a:xfrm>
            <a:off x="274320" y="1280160"/>
            <a:ext cx="2103120" cy="640080"/>
          </a:xfrm>
          <a:prstGeom prst="rect">
            <a:avLst/>
          </a:prstGeom>
          <a:solidFill>
            <a:srgbClr val="112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307592"/>
            <a:ext cx="2011680" cy="594360"/>
          </a:xfrm>
          <a:prstGeom prst="rect">
            <a:avLst/>
          </a:prstGeom>
          <a:noFill/>
        </p:spPr>
        <p:txBody>
          <a:bodyPr wrap="square">
            <a:spAutoFit/>
          </a:bodyPr>
          <a:lstStyle/>
          <a:p>
            <a:pPr algn="ctr">
              <a:defRPr sz="1000" b="1">
                <a:solidFill>
                  <a:srgbClr val="FFFFFF"/>
                </a:solidFill>
                <a:latin typeface="Calibri"/>
              </a:defRPr>
            </a:pPr>
            <a:r>
              <a:t>User Query</a:t>
            </a:r>
            <a:br/>
            <a:r>
              <a:t>(Natural Language)</a:t>
            </a:r>
          </a:p>
        </p:txBody>
      </p:sp>
      <p:sp>
        <p:nvSpPr>
          <p:cNvPr id="9" name="Right Arrow 8"/>
          <p:cNvSpPr/>
          <p:nvPr/>
        </p:nvSpPr>
        <p:spPr>
          <a:xfrm>
            <a:off x="2423160" y="1508760"/>
            <a:ext cx="182880" cy="137160"/>
          </a:xfrm>
          <a:prstGeom prst="rightArrow">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51760" y="1280160"/>
            <a:ext cx="2103120" cy="640080"/>
          </a:xfrm>
          <a:prstGeom prst="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80" y="1307592"/>
            <a:ext cx="2011680" cy="594360"/>
          </a:xfrm>
          <a:prstGeom prst="rect">
            <a:avLst/>
          </a:prstGeom>
          <a:noFill/>
        </p:spPr>
        <p:txBody>
          <a:bodyPr wrap="square">
            <a:spAutoFit/>
          </a:bodyPr>
          <a:lstStyle/>
          <a:p>
            <a:pPr algn="ctr">
              <a:defRPr sz="1000" b="1">
                <a:solidFill>
                  <a:srgbClr val="FFFFFF"/>
                </a:solidFill>
                <a:latin typeface="Calibri"/>
              </a:defRPr>
            </a:pPr>
            <a:r>
              <a:t>Agent Receives</a:t>
            </a:r>
            <a:br/>
            <a:r>
              <a:t>&amp; Classifies Intent</a:t>
            </a:r>
          </a:p>
        </p:txBody>
      </p:sp>
      <p:sp>
        <p:nvSpPr>
          <p:cNvPr id="12" name="Right Arrow 11"/>
          <p:cNvSpPr/>
          <p:nvPr/>
        </p:nvSpPr>
        <p:spPr>
          <a:xfrm>
            <a:off x="4800600" y="1508760"/>
            <a:ext cx="182880" cy="137160"/>
          </a:xfrm>
          <a:prstGeom prst="rightArrow">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0" y="1280160"/>
            <a:ext cx="2103120" cy="64008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74920" y="1307592"/>
            <a:ext cx="2011680" cy="594360"/>
          </a:xfrm>
          <a:prstGeom prst="rect">
            <a:avLst/>
          </a:prstGeom>
          <a:noFill/>
        </p:spPr>
        <p:txBody>
          <a:bodyPr wrap="square">
            <a:spAutoFit/>
          </a:bodyPr>
          <a:lstStyle/>
          <a:p>
            <a:pPr algn="ctr">
              <a:defRPr sz="1000" b="1">
                <a:solidFill>
                  <a:srgbClr val="FFFFFF"/>
                </a:solidFill>
                <a:latin typeface="Calibri"/>
              </a:defRPr>
            </a:pPr>
            <a:r>
              <a:t>Routing Rules</a:t>
            </a:r>
            <a:br/>
            <a:r>
              <a:t>Select Tool(s)</a:t>
            </a:r>
          </a:p>
        </p:txBody>
      </p:sp>
      <p:sp>
        <p:nvSpPr>
          <p:cNvPr id="15" name="Right Arrow 14"/>
          <p:cNvSpPr/>
          <p:nvPr/>
        </p:nvSpPr>
        <p:spPr>
          <a:xfrm>
            <a:off x="7178040" y="1508760"/>
            <a:ext cx="182880" cy="137160"/>
          </a:xfrm>
          <a:prstGeom prst="rightArrow">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1280160"/>
            <a:ext cx="2103120" cy="640080"/>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0" y="1307592"/>
            <a:ext cx="2011680" cy="594360"/>
          </a:xfrm>
          <a:prstGeom prst="rect">
            <a:avLst/>
          </a:prstGeom>
          <a:noFill/>
        </p:spPr>
        <p:txBody>
          <a:bodyPr wrap="square">
            <a:spAutoFit/>
          </a:bodyPr>
          <a:lstStyle/>
          <a:p>
            <a:pPr algn="ctr">
              <a:defRPr sz="1000" b="1">
                <a:solidFill>
                  <a:srgbClr val="FFFFFF"/>
                </a:solidFill>
                <a:latin typeface="Calibri"/>
              </a:defRPr>
            </a:pPr>
            <a:r>
              <a:t>Tool Executes</a:t>
            </a:r>
            <a:br/>
            <a:r>
              <a:t>(SQL / Search / MCP)</a:t>
            </a:r>
          </a:p>
        </p:txBody>
      </p:sp>
      <p:sp>
        <p:nvSpPr>
          <p:cNvPr id="18" name="Right Arrow 17"/>
          <p:cNvSpPr/>
          <p:nvPr/>
        </p:nvSpPr>
        <p:spPr>
          <a:xfrm>
            <a:off x="9555480" y="1508760"/>
            <a:ext cx="182880" cy="1371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784080" y="1280160"/>
            <a:ext cx="2103120" cy="64008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9800" y="1307592"/>
            <a:ext cx="2011680" cy="594360"/>
          </a:xfrm>
          <a:prstGeom prst="rect">
            <a:avLst/>
          </a:prstGeom>
          <a:noFill/>
        </p:spPr>
        <p:txBody>
          <a:bodyPr wrap="square">
            <a:spAutoFit/>
          </a:bodyPr>
          <a:lstStyle/>
          <a:p>
            <a:pPr algn="ctr">
              <a:defRPr sz="1000" b="1">
                <a:solidFill>
                  <a:srgbClr val="FFFFFF"/>
                </a:solidFill>
                <a:latin typeface="Calibri"/>
              </a:defRPr>
            </a:pPr>
            <a:r>
              <a:t>Response Composed</a:t>
            </a:r>
            <a:br/>
            <a:r>
              <a:t>with Citations</a:t>
            </a:r>
          </a:p>
        </p:txBody>
      </p:sp>
      <p:sp>
        <p:nvSpPr>
          <p:cNvPr id="21" name="TextBox 20"/>
          <p:cNvSpPr txBox="1"/>
          <p:nvPr/>
        </p:nvSpPr>
        <p:spPr>
          <a:xfrm>
            <a:off x="274320" y="2148840"/>
            <a:ext cx="5486400" cy="274320"/>
          </a:xfrm>
          <a:prstGeom prst="rect">
            <a:avLst/>
          </a:prstGeom>
          <a:noFill/>
        </p:spPr>
        <p:txBody>
          <a:bodyPr wrap="square">
            <a:spAutoFit/>
          </a:bodyPr>
          <a:lstStyle/>
          <a:p>
            <a:pPr algn="l">
              <a:defRPr sz="1300" b="1">
                <a:solidFill>
                  <a:srgbClr val="112746"/>
                </a:solidFill>
                <a:latin typeface="Calibri"/>
              </a:defRPr>
            </a:pPr>
            <a:r>
              <a:t>Routing Rules (Unified Enterprise Agent)</a:t>
            </a:r>
          </a:p>
        </p:txBody>
      </p:sp>
      <p:graphicFrame>
        <p:nvGraphicFramePr>
          <p:cNvPr id="22" name="Table 21"/>
          <p:cNvGraphicFramePr>
            <a:graphicFrameLocks noGrp="1"/>
          </p:cNvGraphicFramePr>
          <p:nvPr/>
        </p:nvGraphicFramePr>
        <p:xfrm>
          <a:off x="274320" y="2468880"/>
          <a:ext cx="11612880" cy="2743200"/>
        </p:xfrm>
        <a:graphic>
          <a:graphicData uri="http://schemas.openxmlformats.org/drawingml/2006/table">
            <a:tbl>
              <a:tblPr firstRow="1" bandRow="1">
                <a:tableStyleId>{5C22544A-7EE6-4342-B048-85BDC9FD1C3A}</a:tableStyleId>
              </a:tblPr>
              <a:tblGrid>
                <a:gridCol w="2926080"/>
                <a:gridCol w="2743200"/>
                <a:gridCol w="1828800"/>
                <a:gridCol w="4114800"/>
              </a:tblGrid>
              <a:tr h="304800">
                <a:tc>
                  <a:txBody>
                    <a:bodyPr/>
                    <a:lstStyle/>
                    <a:p>
                      <a:pPr>
                        <a:defRPr sz="1000" b="1">
                          <a:solidFill>
                            <a:srgbClr val="FFFFFF"/>
                          </a:solidFill>
                          <a:latin typeface="Calibri"/>
                        </a:defRPr>
                      </a:pPr>
                      <a:r>
                        <a:t>User Intent</a:t>
                      </a:r>
                    </a:p>
                  </a:txBody>
                  <a:tcPr anchor="ctr">
                    <a:solidFill>
                      <a:srgbClr val="112746"/>
                    </a:solidFill>
                  </a:tcPr>
                </a:tc>
                <a:tc>
                  <a:txBody>
                    <a:bodyPr/>
                    <a:lstStyle/>
                    <a:p>
                      <a:pPr>
                        <a:defRPr sz="1000" b="1">
                          <a:solidFill>
                            <a:srgbClr val="FFFFFF"/>
                          </a:solidFill>
                          <a:latin typeface="Calibri"/>
                        </a:defRPr>
                      </a:pPr>
                      <a:r>
                        <a:t>Routed To</a:t>
                      </a:r>
                    </a:p>
                  </a:txBody>
                  <a:tcPr anchor="ctr">
                    <a:solidFill>
                      <a:srgbClr val="112746"/>
                    </a:solidFill>
                  </a:tcPr>
                </a:tc>
                <a:tc>
                  <a:txBody>
                    <a:bodyPr/>
                    <a:lstStyle/>
                    <a:p>
                      <a:pPr>
                        <a:defRPr sz="1000" b="1">
                          <a:solidFill>
                            <a:srgbClr val="FFFFFF"/>
                          </a:solidFill>
                          <a:latin typeface="Calibri"/>
                        </a:defRPr>
                      </a:pPr>
                      <a:r>
                        <a:t>Tool Type</a:t>
                      </a:r>
                    </a:p>
                  </a:txBody>
                  <a:tcPr anchor="ctr">
                    <a:solidFill>
                      <a:srgbClr val="112746"/>
                    </a:solidFill>
                  </a:tcPr>
                </a:tc>
                <a:tc>
                  <a:txBody>
                    <a:bodyPr/>
                    <a:lstStyle/>
                    <a:p>
                      <a:pPr>
                        <a:defRPr sz="1000" b="1">
                          <a:solidFill>
                            <a:srgbClr val="FFFFFF"/>
                          </a:solidFill>
                          <a:latin typeface="Calibri"/>
                        </a:defRPr>
                      </a:pPr>
                      <a:r>
                        <a:t>Data Source</a:t>
                      </a:r>
                    </a:p>
                  </a:txBody>
                  <a:tcPr anchor="ctr">
                    <a:solidFill>
                      <a:srgbClr val="112746"/>
                    </a:solidFill>
                  </a:tcPr>
                </a:tc>
              </a:tr>
              <a:tr h="304800">
                <a:tc>
                  <a:txBody>
                    <a:bodyPr/>
                    <a:lstStyle/>
                    <a:p>
                      <a:pPr>
                        <a:defRPr sz="900">
                          <a:solidFill>
                            <a:srgbClr val="1E293B"/>
                          </a:solidFill>
                          <a:latin typeface="Calibri"/>
                        </a:defRPr>
                      </a:pPr>
                      <a:r>
                        <a:t>Customers, policies, claims, KPIs</a:t>
                      </a:r>
                    </a:p>
                  </a:txBody>
                  <a:tcPr anchor="ctr">
                    <a:solidFill>
                      <a:srgbClr val="FFFFFF"/>
                    </a:solidFill>
                  </a:tcPr>
                </a:tc>
                <a:tc>
                  <a:txBody>
                    <a:bodyPr/>
                    <a:lstStyle/>
                    <a:p>
                      <a:pPr>
                        <a:defRPr sz="900">
                          <a:solidFill>
                            <a:srgbClr val="1E293B"/>
                          </a:solidFill>
                          <a:latin typeface="Calibri"/>
                        </a:defRPr>
                      </a:pPr>
                      <a:r>
                        <a:t>insurance_operations_analyst</a:t>
                      </a:r>
                    </a:p>
                  </a:txBody>
                  <a:tcPr anchor="ctr">
                    <a:solidFill>
                      <a:srgbClr val="FFFFFF"/>
                    </a:solidFill>
                  </a:tcPr>
                </a:tc>
                <a:tc>
                  <a:txBody>
                    <a:bodyPr/>
                    <a:lstStyle/>
                    <a:p>
                      <a:pPr>
                        <a:defRPr sz="900">
                          <a:solidFill>
                            <a:srgbClr val="1E293B"/>
                          </a:solidFill>
                          <a:latin typeface="Calibri"/>
                        </a:defRPr>
                      </a:pPr>
                      <a:r>
                        <a:t>Cortex Analyst</a:t>
                      </a:r>
                    </a:p>
                  </a:txBody>
                  <a:tcPr anchor="ctr">
                    <a:solidFill>
                      <a:srgbClr val="FFFFFF"/>
                    </a:solidFill>
                  </a:tcPr>
                </a:tc>
                <a:tc>
                  <a:txBody>
                    <a:bodyPr/>
                    <a:lstStyle/>
                    <a:p>
                      <a:pPr>
                        <a:defRPr sz="900">
                          <a:solidFill>
                            <a:srgbClr val="1E293B"/>
                          </a:solidFill>
                          <a:latin typeface="Calibri"/>
                        </a:defRPr>
                      </a:pPr>
                      <a:r>
                        <a:t>SV_INSURANCE_OPS</a:t>
                      </a:r>
                    </a:p>
                  </a:txBody>
                  <a:tcPr anchor="ctr">
                    <a:solidFill>
                      <a:srgbClr val="FFFFFF"/>
                    </a:solidFill>
                  </a:tcPr>
                </a:tc>
              </a:tr>
              <a:tr h="304800">
                <a:tc>
                  <a:txBody>
                    <a:bodyPr/>
                    <a:lstStyle/>
                    <a:p>
                      <a:pPr>
                        <a:defRPr sz="900">
                          <a:solidFill>
                            <a:srgbClr val="1E293B"/>
                          </a:solidFill>
                          <a:latin typeface="Calibri"/>
                        </a:defRPr>
                      </a:pPr>
                      <a:r>
                        <a:t>Data quality scores, failed rules</a:t>
                      </a:r>
                    </a:p>
                  </a:txBody>
                  <a:tcPr anchor="ctr">
                    <a:solidFill>
                      <a:srgbClr val="EEF4FA"/>
                    </a:solidFill>
                  </a:tcPr>
                </a:tc>
                <a:tc>
                  <a:txBody>
                    <a:bodyPr/>
                    <a:lstStyle/>
                    <a:p>
                      <a:pPr>
                        <a:defRPr sz="900">
                          <a:solidFill>
                            <a:srgbClr val="1E293B"/>
                          </a:solidFill>
                          <a:latin typeface="Calibri"/>
                        </a:defRPr>
                      </a:pPr>
                      <a:r>
                        <a:t>data_quality_analyst</a:t>
                      </a:r>
                    </a:p>
                  </a:txBody>
                  <a:tcPr anchor="ctr">
                    <a:solidFill>
                      <a:srgbClr val="EEF4FA"/>
                    </a:solidFill>
                  </a:tcPr>
                </a:tc>
                <a:tc>
                  <a:txBody>
                    <a:bodyPr/>
                    <a:lstStyle/>
                    <a:p>
                      <a:pPr>
                        <a:defRPr sz="900">
                          <a:solidFill>
                            <a:srgbClr val="1E293B"/>
                          </a:solidFill>
                          <a:latin typeface="Calibri"/>
                        </a:defRPr>
                      </a:pPr>
                      <a:r>
                        <a:t>Cortex Analyst</a:t>
                      </a:r>
                    </a:p>
                  </a:txBody>
                  <a:tcPr anchor="ctr">
                    <a:solidFill>
                      <a:srgbClr val="EEF4FA"/>
                    </a:solidFill>
                  </a:tcPr>
                </a:tc>
                <a:tc>
                  <a:txBody>
                    <a:bodyPr/>
                    <a:lstStyle/>
                    <a:p>
                      <a:pPr>
                        <a:defRPr sz="900">
                          <a:solidFill>
                            <a:srgbClr val="1E293B"/>
                          </a:solidFill>
                          <a:latin typeface="Calibri"/>
                        </a:defRPr>
                      </a:pPr>
                      <a:r>
                        <a:t>SV_DATA_QUALITY</a:t>
                      </a:r>
                    </a:p>
                  </a:txBody>
                  <a:tcPr anchor="ctr">
                    <a:solidFill>
                      <a:srgbClr val="EEF4FA"/>
                    </a:solidFill>
                  </a:tcPr>
                </a:tc>
              </a:tr>
              <a:tr h="304800">
                <a:tc>
                  <a:txBody>
                    <a:bodyPr/>
                    <a:lstStyle/>
                    <a:p>
                      <a:pPr>
                        <a:defRPr sz="900">
                          <a:solidFill>
                            <a:srgbClr val="1E293B"/>
                          </a:solidFill>
                          <a:latin typeface="Calibri"/>
                        </a:defRPr>
                      </a:pPr>
                      <a:r>
                        <a:t>Policy coverage, exclusions, benefits</a:t>
                      </a:r>
                    </a:p>
                  </a:txBody>
                  <a:tcPr anchor="ctr">
                    <a:solidFill>
                      <a:srgbClr val="FFFFFF"/>
                    </a:solidFill>
                  </a:tcPr>
                </a:tc>
                <a:tc>
                  <a:txBody>
                    <a:bodyPr/>
                    <a:lstStyle/>
                    <a:p>
                      <a:pPr>
                        <a:defRPr sz="900">
                          <a:solidFill>
                            <a:srgbClr val="1E293B"/>
                          </a:solidFill>
                          <a:latin typeface="Calibri"/>
                        </a:defRPr>
                      </a:pPr>
                      <a:r>
                        <a:t>policy_document_search</a:t>
                      </a:r>
                    </a:p>
                  </a:txBody>
                  <a:tcPr anchor="ctr">
                    <a:solidFill>
                      <a:srgbClr val="FFFFFF"/>
                    </a:solidFill>
                  </a:tcPr>
                </a:tc>
                <a:tc>
                  <a:txBody>
                    <a:bodyPr/>
                    <a:lstStyle/>
                    <a:p>
                      <a:pPr>
                        <a:defRPr sz="900">
                          <a:solidFill>
                            <a:srgbClr val="1E293B"/>
                          </a:solidFill>
                          <a:latin typeface="Calibri"/>
                        </a:defRPr>
                      </a:pPr>
                      <a:r>
                        <a:t>Cortex Search</a:t>
                      </a:r>
                    </a:p>
                  </a:txBody>
                  <a:tcPr anchor="ctr">
                    <a:solidFill>
                      <a:srgbClr val="FFFFFF"/>
                    </a:solidFill>
                  </a:tcPr>
                </a:tc>
                <a:tc>
                  <a:txBody>
                    <a:bodyPr/>
                    <a:lstStyle/>
                    <a:p>
                      <a:pPr>
                        <a:defRPr sz="900">
                          <a:solidFill>
                            <a:srgbClr val="1E293B"/>
                          </a:solidFill>
                          <a:latin typeface="Calibri"/>
                        </a:defRPr>
                      </a:pPr>
                      <a:r>
                        <a:t>CORTEX_SEARCH_SVC</a:t>
                      </a:r>
                    </a:p>
                  </a:txBody>
                  <a:tcPr anchor="ctr">
                    <a:solidFill>
                      <a:srgbClr val="FFFFFF"/>
                    </a:solidFill>
                  </a:tcPr>
                </a:tc>
              </a:tr>
              <a:tr h="304800">
                <a:tc>
                  <a:txBody>
                    <a:bodyPr/>
                    <a:lstStyle/>
                    <a:p>
                      <a:pPr>
                        <a:defRPr sz="900">
                          <a:solidFill>
                            <a:srgbClr val="1E293B"/>
                          </a:solidFill>
                          <a:latin typeface="Calibri"/>
                        </a:defRPr>
                      </a:pPr>
                      <a:r>
                        <a:t>Competitor pricing, market position</a:t>
                      </a:r>
                    </a:p>
                  </a:txBody>
                  <a:tcPr anchor="ctr">
                    <a:solidFill>
                      <a:srgbClr val="EEF4FA"/>
                    </a:solidFill>
                  </a:tcPr>
                </a:tc>
                <a:tc>
                  <a:txBody>
                    <a:bodyPr/>
                    <a:lstStyle/>
                    <a:p>
                      <a:pPr>
                        <a:defRPr sz="900">
                          <a:solidFill>
                            <a:srgbClr val="1E293B"/>
                          </a:solidFill>
                          <a:latin typeface="Calibri"/>
                        </a:defRPr>
                      </a:pPr>
                      <a:r>
                        <a:t>competitive_intel_analyst</a:t>
                      </a:r>
                    </a:p>
                  </a:txBody>
                  <a:tcPr anchor="ctr">
                    <a:solidFill>
                      <a:srgbClr val="EEF4FA"/>
                    </a:solidFill>
                  </a:tcPr>
                </a:tc>
                <a:tc>
                  <a:txBody>
                    <a:bodyPr/>
                    <a:lstStyle/>
                    <a:p>
                      <a:pPr>
                        <a:defRPr sz="900">
                          <a:solidFill>
                            <a:srgbClr val="1E293B"/>
                          </a:solidFill>
                          <a:latin typeface="Calibri"/>
                        </a:defRPr>
                      </a:pPr>
                      <a:r>
                        <a:t>Cortex Analyst</a:t>
                      </a:r>
                    </a:p>
                  </a:txBody>
                  <a:tcPr anchor="ctr">
                    <a:solidFill>
                      <a:srgbClr val="EEF4FA"/>
                    </a:solidFill>
                  </a:tcPr>
                </a:tc>
                <a:tc>
                  <a:txBody>
                    <a:bodyPr/>
                    <a:lstStyle/>
                    <a:p>
                      <a:pPr>
                        <a:defRPr sz="900">
                          <a:solidFill>
                            <a:srgbClr val="1E293B"/>
                          </a:solidFill>
                          <a:latin typeface="Calibri"/>
                        </a:defRPr>
                      </a:pPr>
                      <a:r>
                        <a:t>SV_COMPETITIVE_INTEL</a:t>
                      </a:r>
                    </a:p>
                  </a:txBody>
                  <a:tcPr anchor="ctr">
                    <a:solidFill>
                      <a:srgbClr val="EEF4FA"/>
                    </a:solidFill>
                  </a:tcPr>
                </a:tc>
              </a:tr>
              <a:tr h="304800">
                <a:tc>
                  <a:txBody>
                    <a:bodyPr/>
                    <a:lstStyle/>
                    <a:p>
                      <a:pPr>
                        <a:defRPr sz="900">
                          <a:solidFill>
                            <a:srgbClr val="1E293B"/>
                          </a:solidFill>
                          <a:latin typeface="Calibri"/>
                        </a:defRPr>
                      </a:pPr>
                      <a:r>
                        <a:t>Market trends, benchmarks, forecasting</a:t>
                      </a:r>
                    </a:p>
                  </a:txBody>
                  <a:tcPr anchor="ctr">
                    <a:solidFill>
                      <a:srgbClr val="FFFFFF"/>
                    </a:solidFill>
                  </a:tcPr>
                </a:tc>
                <a:tc>
                  <a:txBody>
                    <a:bodyPr/>
                    <a:lstStyle/>
                    <a:p>
                      <a:pPr>
                        <a:defRPr sz="900">
                          <a:solidFill>
                            <a:srgbClr val="1E293B"/>
                          </a:solidFill>
                          <a:latin typeface="Calibri"/>
                        </a:defRPr>
                      </a:pPr>
                      <a:r>
                        <a:t>market_intelligence_analyst</a:t>
                      </a:r>
                    </a:p>
                  </a:txBody>
                  <a:tcPr anchor="ctr">
                    <a:solidFill>
                      <a:srgbClr val="FFFFFF"/>
                    </a:solidFill>
                  </a:tcPr>
                </a:tc>
                <a:tc>
                  <a:txBody>
                    <a:bodyPr/>
                    <a:lstStyle/>
                    <a:p>
                      <a:pPr>
                        <a:defRPr sz="900">
                          <a:solidFill>
                            <a:srgbClr val="1E293B"/>
                          </a:solidFill>
                          <a:latin typeface="Calibri"/>
                        </a:defRPr>
                      </a:pPr>
                      <a:r>
                        <a:t>Cortex Analyst</a:t>
                      </a:r>
                    </a:p>
                  </a:txBody>
                  <a:tcPr anchor="ctr">
                    <a:solidFill>
                      <a:srgbClr val="FFFFFF"/>
                    </a:solidFill>
                  </a:tcPr>
                </a:tc>
                <a:tc>
                  <a:txBody>
                    <a:bodyPr/>
                    <a:lstStyle/>
                    <a:p>
                      <a:pPr>
                        <a:defRPr sz="900">
                          <a:solidFill>
                            <a:srgbClr val="1E293B"/>
                          </a:solidFill>
                          <a:latin typeface="Calibri"/>
                        </a:defRPr>
                      </a:pPr>
                      <a:r>
                        <a:t>SV_MARKET_INTELLIGENCE</a:t>
                      </a:r>
                    </a:p>
                  </a:txBody>
                  <a:tcPr anchor="ctr">
                    <a:solidFill>
                      <a:srgbClr val="FFFFFF"/>
                    </a:solidFill>
                  </a:tcPr>
                </a:tc>
              </a:tr>
              <a:tr h="304800">
                <a:tc>
                  <a:txBody>
                    <a:bodyPr/>
                    <a:lstStyle/>
                    <a:p>
                      <a:pPr>
                        <a:defRPr sz="900">
                          <a:solidFill>
                            <a:srgbClr val="1E293B"/>
                          </a:solidFill>
                          <a:latin typeface="Calibri"/>
                        </a:defRPr>
                      </a:pPr>
                      <a:r>
                        <a:t>Product recommendations, match scores</a:t>
                      </a:r>
                    </a:p>
                  </a:txBody>
                  <a:tcPr anchor="ctr">
                    <a:solidFill>
                      <a:srgbClr val="EEF4FA"/>
                    </a:solidFill>
                  </a:tcPr>
                </a:tc>
                <a:tc>
                  <a:txBody>
                    <a:bodyPr/>
                    <a:lstStyle/>
                    <a:p>
                      <a:pPr>
                        <a:defRPr sz="900">
                          <a:solidFill>
                            <a:srgbClr val="1E293B"/>
                          </a:solidFill>
                          <a:latin typeface="Calibri"/>
                        </a:defRPr>
                      </a:pPr>
                      <a:r>
                        <a:t>product_matching_analyst</a:t>
                      </a:r>
                    </a:p>
                  </a:txBody>
                  <a:tcPr anchor="ctr">
                    <a:solidFill>
                      <a:srgbClr val="EEF4FA"/>
                    </a:solidFill>
                  </a:tcPr>
                </a:tc>
                <a:tc>
                  <a:txBody>
                    <a:bodyPr/>
                    <a:lstStyle/>
                    <a:p>
                      <a:pPr>
                        <a:defRPr sz="900">
                          <a:solidFill>
                            <a:srgbClr val="1E293B"/>
                          </a:solidFill>
                          <a:latin typeface="Calibri"/>
                        </a:defRPr>
                      </a:pPr>
                      <a:r>
                        <a:t>Cortex Analyst</a:t>
                      </a:r>
                    </a:p>
                  </a:txBody>
                  <a:tcPr anchor="ctr">
                    <a:solidFill>
                      <a:srgbClr val="EEF4FA"/>
                    </a:solidFill>
                  </a:tcPr>
                </a:tc>
                <a:tc>
                  <a:txBody>
                    <a:bodyPr/>
                    <a:lstStyle/>
                    <a:p>
                      <a:pPr>
                        <a:defRPr sz="900">
                          <a:solidFill>
                            <a:srgbClr val="1E293B"/>
                          </a:solidFill>
                          <a:latin typeface="Calibri"/>
                        </a:defRPr>
                      </a:pPr>
                      <a:r>
                        <a:t>SV_PRODUCT_MATCHING</a:t>
                      </a:r>
                    </a:p>
                  </a:txBody>
                  <a:tcPr anchor="ctr">
                    <a:solidFill>
                      <a:srgbClr val="EEF4FA"/>
                    </a:solidFill>
                  </a:tcPr>
                </a:tc>
              </a:tr>
              <a:tr h="304800">
                <a:tc>
                  <a:txBody>
                    <a:bodyPr/>
                    <a:lstStyle/>
                    <a:p>
                      <a:pPr>
                        <a:defRPr sz="900">
                          <a:solidFill>
                            <a:srgbClr val="1E293B"/>
                          </a:solidFill>
                          <a:latin typeface="Calibri"/>
                        </a:defRPr>
                      </a:pPr>
                      <a:r>
                        <a:t>Charts and visualizations</a:t>
                      </a:r>
                    </a:p>
                  </a:txBody>
                  <a:tcPr anchor="ctr">
                    <a:solidFill>
                      <a:srgbClr val="FFFFFF"/>
                    </a:solidFill>
                  </a:tcPr>
                </a:tc>
                <a:tc>
                  <a:txBody>
                    <a:bodyPr/>
                    <a:lstStyle/>
                    <a:p>
                      <a:pPr>
                        <a:defRPr sz="900">
                          <a:solidFill>
                            <a:srgbClr val="1E293B"/>
                          </a:solidFill>
                          <a:latin typeface="Calibri"/>
                        </a:defRPr>
                      </a:pPr>
                      <a:r>
                        <a:t>data_to_chart</a:t>
                      </a:r>
                    </a:p>
                  </a:txBody>
                  <a:tcPr anchor="ctr">
                    <a:solidFill>
                      <a:srgbClr val="FFFFFF"/>
                    </a:solidFill>
                  </a:tcPr>
                </a:tc>
                <a:tc>
                  <a:txBody>
                    <a:bodyPr/>
                    <a:lstStyle/>
                    <a:p>
                      <a:pPr>
                        <a:defRPr sz="900">
                          <a:solidFill>
                            <a:srgbClr val="1E293B"/>
                          </a:solidFill>
                          <a:latin typeface="Calibri"/>
                        </a:defRPr>
                      </a:pPr>
                      <a:r>
                        <a:t>Built-in</a:t>
                      </a:r>
                    </a:p>
                  </a:txBody>
                  <a:tcPr anchor="ctr">
                    <a:solidFill>
                      <a:srgbClr val="FFFFFF"/>
                    </a:solidFill>
                  </a:tcPr>
                </a:tc>
                <a:tc>
                  <a:txBody>
                    <a:bodyPr/>
                    <a:lstStyle/>
                    <a:p>
                      <a:pPr>
                        <a:defRPr sz="900">
                          <a:solidFill>
                            <a:srgbClr val="1E293B"/>
                          </a:solidFill>
                          <a:latin typeface="Calibri"/>
                        </a:defRPr>
                      </a:pPr>
                      <a:r>
                        <a:t>Query results from above</a:t>
                      </a:r>
                    </a:p>
                  </a:txBody>
                  <a:tcPr anchor="ctr">
                    <a:solidFill>
                      <a:srgbClr val="FFFFFF"/>
                    </a:solidFill>
                  </a:tcPr>
                </a:tc>
              </a:tr>
              <a:tr h="304800">
                <a:tc>
                  <a:txBody>
                    <a:bodyPr/>
                    <a:lstStyle/>
                    <a:p>
                      <a:pPr>
                        <a:defRPr sz="900">
                          <a:solidFill>
                            <a:srgbClr val="1E293B"/>
                          </a:solidFill>
                          <a:latin typeface="Calibri"/>
                        </a:defRPr>
                      </a:pPr>
                      <a:r>
                        <a:t>Create/search Jira tickets</a:t>
                      </a:r>
                    </a:p>
                  </a:txBody>
                  <a:tcPr anchor="ctr">
                    <a:solidFill>
                      <a:srgbClr val="EEF4FA"/>
                    </a:solidFill>
                  </a:tcPr>
                </a:tc>
                <a:tc>
                  <a:txBody>
                    <a:bodyPr/>
                    <a:lstStyle/>
                    <a:p>
                      <a:pPr>
                        <a:defRPr sz="900">
                          <a:solidFill>
                            <a:srgbClr val="1E293B"/>
                          </a:solidFill>
                          <a:latin typeface="Calibri"/>
                        </a:defRPr>
                      </a:pPr>
                      <a:r>
                        <a:t>Atlassian MCP tools</a:t>
                      </a:r>
                    </a:p>
                  </a:txBody>
                  <a:tcPr anchor="ctr">
                    <a:solidFill>
                      <a:srgbClr val="EEF4FA"/>
                    </a:solidFill>
                  </a:tcPr>
                </a:tc>
                <a:tc>
                  <a:txBody>
                    <a:bodyPr/>
                    <a:lstStyle/>
                    <a:p>
                      <a:pPr>
                        <a:defRPr sz="900">
                          <a:solidFill>
                            <a:srgbClr val="1E293B"/>
                          </a:solidFill>
                          <a:latin typeface="Calibri"/>
                        </a:defRPr>
                      </a:pPr>
                      <a:r>
                        <a:t>External MCP</a:t>
                      </a:r>
                    </a:p>
                  </a:txBody>
                  <a:tcPr anchor="ctr">
                    <a:solidFill>
                      <a:srgbClr val="EEF4FA"/>
                    </a:solidFill>
                  </a:tcPr>
                </a:tc>
                <a:tc>
                  <a:txBody>
                    <a:bodyPr/>
                    <a:lstStyle/>
                    <a:p>
                      <a:pPr>
                        <a:defRPr sz="900">
                          <a:solidFill>
                            <a:srgbClr val="1E293B"/>
                          </a:solidFill>
                          <a:latin typeface="Calibri"/>
                        </a:defRPr>
                      </a:pPr>
                      <a:r>
                        <a:t>Jira / Confluence API</a:t>
                      </a:r>
                    </a:p>
                  </a:txBody>
                  <a:tcPr anchor="ctr">
                    <a:solidFill>
                      <a:srgbClr val="EEF4FA"/>
                    </a:solidFill>
                  </a:tcPr>
                </a:tc>
              </a:tr>
            </a:tbl>
          </a:graphicData>
        </a:graphic>
      </p:graphicFrame>
      <p:sp>
        <p:nvSpPr>
          <p:cNvPr id="23" name="TextBox 22"/>
          <p:cNvSpPr txBox="1"/>
          <p:nvPr/>
        </p:nvSpPr>
        <p:spPr>
          <a:xfrm>
            <a:off x="274320" y="5349240"/>
            <a:ext cx="5486400" cy="274320"/>
          </a:xfrm>
          <a:prstGeom prst="rect">
            <a:avLst/>
          </a:prstGeom>
          <a:noFill/>
        </p:spPr>
        <p:txBody>
          <a:bodyPr wrap="square">
            <a:spAutoFit/>
          </a:bodyPr>
          <a:lstStyle/>
          <a:p>
            <a:pPr algn="l">
              <a:defRPr sz="1300" b="1">
                <a:solidFill>
                  <a:srgbClr val="112746"/>
                </a:solidFill>
                <a:latin typeface="Calibri"/>
              </a:defRPr>
            </a:pPr>
            <a:r>
              <a:t>Key Agent Behaviors</a:t>
            </a:r>
          </a:p>
        </p:txBody>
      </p:sp>
      <p:sp>
        <p:nvSpPr>
          <p:cNvPr id="24" name="TextBox 23"/>
          <p:cNvSpPr txBox="1"/>
          <p:nvPr/>
        </p:nvSpPr>
        <p:spPr>
          <a:xfrm>
            <a:off x="274320" y="5623560"/>
            <a:ext cx="11430000" cy="1097280"/>
          </a:xfrm>
          <a:prstGeom prst="rect">
            <a:avLst/>
          </a:prstGeom>
          <a:noFill/>
        </p:spPr>
        <p:txBody>
          <a:bodyPr wrap="square">
            <a:spAutoFit/>
          </a:bodyPr>
          <a:lstStyle/>
          <a:p>
            <a:pPr>
              <a:spcAft>
                <a:spcPts val="400"/>
              </a:spcAft>
            </a:pPr>
            <a:r>
              <a:rPr sz="1100">
                <a:solidFill>
                  <a:srgbClr val="1E293B"/>
                </a:solidFill>
                <a:latin typeface="Calibri"/>
              </a:rPr>
              <a:t>▸  Cross-domain decomposition: Multi-tool queries are split and executed sequentially</a:t>
            </a:r>
          </a:p>
          <a:p>
            <a:pPr>
              <a:spcAft>
                <a:spcPts val="400"/>
              </a:spcAft>
            </a:pPr>
            <a:r>
              <a:rPr sz="1100">
                <a:solidFill>
                  <a:srgbClr val="1E293B"/>
                </a:solidFill>
                <a:latin typeface="Calibri"/>
              </a:rPr>
              <a:t>▸  Grounded responses: Every factual claim must cite tool results; no fabrication</a:t>
            </a:r>
          </a:p>
          <a:p>
            <a:pPr>
              <a:spcAft>
                <a:spcPts val="400"/>
              </a:spcAft>
            </a:pPr>
            <a:r>
              <a:rPr sz="1100">
                <a:solidFill>
                  <a:srgbClr val="1E293B"/>
                </a:solidFill>
                <a:latin typeface="Calibri"/>
              </a:rPr>
              <a:t>▸  Proactive actions: When insights reveal issues, the agent offers to create Jira tickets</a:t>
            </a:r>
          </a:p>
          <a:p>
            <a:pPr>
              <a:spcAft>
                <a:spcPts val="400"/>
              </a:spcAft>
            </a:pPr>
            <a:r>
              <a:rPr sz="1100">
                <a:solidFill>
                  <a:srgbClr val="1E293B"/>
                </a:solidFill>
                <a:latin typeface="Calibri"/>
              </a:rPr>
              <a:t>▸  Analytical search: Enabled for large-scale document aggregation across Cortex 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2600" b="1">
                <a:solidFill>
                  <a:srgbClr val="FFFFFF"/>
                </a:solidFill>
                <a:latin typeface="Calibri"/>
              </a:defRPr>
            </a:pPr>
            <a:r>
              <a:t>Semantic Layer &amp; Verified Queries</a:t>
            </a:r>
          </a:p>
        </p:txBody>
      </p:sp>
      <p:sp>
        <p:nvSpPr>
          <p:cNvPr id="4" name="TextBox 3"/>
          <p:cNvSpPr txBox="1"/>
          <p:nvPr/>
        </p:nvSpPr>
        <p:spPr>
          <a:xfrm>
            <a:off x="548640" y="548640"/>
            <a:ext cx="10058400" cy="365760"/>
          </a:xfrm>
          <a:prstGeom prst="rect">
            <a:avLst/>
          </a:prstGeom>
          <a:noFill/>
        </p:spPr>
        <p:txBody>
          <a:bodyPr wrap="square">
            <a:spAutoFit/>
          </a:bodyPr>
          <a:lstStyle/>
          <a:p>
            <a:pPr algn="l">
              <a:defRPr sz="1300" b="0">
                <a:solidFill>
                  <a:srgbClr val="29B5E8"/>
                </a:solidFill>
                <a:latin typeface="Calibri"/>
              </a:defRPr>
            </a:pPr>
            <a:r>
              <a:t>How Cortex Analyst translates natural language to accurate SQL</a:t>
            </a:r>
          </a:p>
        </p:txBody>
      </p:sp>
      <p:sp>
        <p:nvSpPr>
          <p:cNvPr id="5" name="Rectangle 4"/>
          <p:cNvSpPr/>
          <p:nvPr/>
        </p:nvSpPr>
        <p:spPr>
          <a:xfrm>
            <a:off x="0" y="1005840"/>
            <a:ext cx="12191695"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731520" cy="274320"/>
          </a:xfrm>
          <a:prstGeom prst="rect">
            <a:avLst/>
          </a:prstGeom>
          <a:noFill/>
        </p:spPr>
        <p:txBody>
          <a:bodyPr wrap="square">
            <a:spAutoFit/>
          </a:bodyPr>
          <a:lstStyle/>
          <a:p>
            <a:pPr algn="r">
              <a:defRPr sz="900" b="0">
                <a:solidFill>
                  <a:srgbClr val="8A94A6"/>
                </a:solidFill>
                <a:latin typeface="Calibri"/>
              </a:defRPr>
            </a:pPr>
            <a:r>
              <a:t>6/10</a:t>
            </a:r>
          </a:p>
        </p:txBody>
      </p:sp>
      <p:sp>
        <p:nvSpPr>
          <p:cNvPr id="7" name="TextBox 6"/>
          <p:cNvSpPr txBox="1"/>
          <p:nvPr/>
        </p:nvSpPr>
        <p:spPr>
          <a:xfrm>
            <a:off x="365760" y="1234440"/>
            <a:ext cx="7315200" cy="274320"/>
          </a:xfrm>
          <a:prstGeom prst="rect">
            <a:avLst/>
          </a:prstGeom>
          <a:noFill/>
        </p:spPr>
        <p:txBody>
          <a:bodyPr wrap="square">
            <a:spAutoFit/>
          </a:bodyPr>
          <a:lstStyle/>
          <a:p>
            <a:pPr algn="l">
              <a:defRPr sz="1400" b="1">
                <a:solidFill>
                  <a:srgbClr val="112746"/>
                </a:solidFill>
                <a:latin typeface="Calibri"/>
              </a:defRPr>
            </a:pPr>
            <a:r>
              <a:t>How Cortex Analyst Works (NL → SQL Pipeline)</a:t>
            </a:r>
          </a:p>
        </p:txBody>
      </p:sp>
      <p:sp>
        <p:nvSpPr>
          <p:cNvPr id="8" name="Rectangle 7"/>
          <p:cNvSpPr/>
          <p:nvPr/>
        </p:nvSpPr>
        <p:spPr>
          <a:xfrm>
            <a:off x="365760" y="1554480"/>
            <a:ext cx="2103120" cy="777240"/>
          </a:xfrm>
          <a:prstGeom prst="rect">
            <a:avLst/>
          </a:prstGeom>
          <a:solidFill>
            <a:srgbClr val="112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581912"/>
            <a:ext cx="2011680" cy="731520"/>
          </a:xfrm>
          <a:prstGeom prst="rect">
            <a:avLst/>
          </a:prstGeom>
          <a:noFill/>
        </p:spPr>
        <p:txBody>
          <a:bodyPr wrap="square">
            <a:spAutoFit/>
          </a:bodyPr>
          <a:lstStyle/>
          <a:p>
            <a:pPr algn="ctr">
              <a:defRPr sz="900" b="1">
                <a:solidFill>
                  <a:srgbClr val="FFFFFF"/>
                </a:solidFill>
                <a:latin typeface="Calibri"/>
              </a:defRPr>
            </a:pPr>
            <a:r>
              <a:t>User asks:</a:t>
            </a:r>
            <a:br/>
            <a:r>
              <a:t>"Revenue by</a:t>
            </a:r>
            <a:br/>
            <a:r>
              <a:t>policy type"</a:t>
            </a:r>
          </a:p>
        </p:txBody>
      </p:sp>
      <p:sp>
        <p:nvSpPr>
          <p:cNvPr id="10" name="Right Arrow 9"/>
          <p:cNvSpPr/>
          <p:nvPr/>
        </p:nvSpPr>
        <p:spPr>
          <a:xfrm>
            <a:off x="2514600" y="1828800"/>
            <a:ext cx="137160" cy="137160"/>
          </a:xfrm>
          <a:prstGeom prst="rightArrow">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97480" y="1554480"/>
            <a:ext cx="2103120" cy="777240"/>
          </a:xfrm>
          <a:prstGeom prst="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1581912"/>
            <a:ext cx="2011680" cy="731520"/>
          </a:xfrm>
          <a:prstGeom prst="rect">
            <a:avLst/>
          </a:prstGeom>
          <a:noFill/>
        </p:spPr>
        <p:txBody>
          <a:bodyPr wrap="square">
            <a:spAutoFit/>
          </a:bodyPr>
          <a:lstStyle/>
          <a:p>
            <a:pPr algn="ctr">
              <a:defRPr sz="900" b="1">
                <a:solidFill>
                  <a:srgbClr val="FFFFFF"/>
                </a:solidFill>
                <a:latin typeface="Calibri"/>
              </a:defRPr>
            </a:pPr>
            <a:r>
              <a:t>Agent selects</a:t>
            </a:r>
            <a:br/>
            <a:r>
              <a:t>Semantic View</a:t>
            </a:r>
            <a:br/>
            <a:r>
              <a:t>for this domain</a:t>
            </a:r>
          </a:p>
        </p:txBody>
      </p:sp>
      <p:sp>
        <p:nvSpPr>
          <p:cNvPr id="13" name="Right Arrow 12"/>
          <p:cNvSpPr/>
          <p:nvPr/>
        </p:nvSpPr>
        <p:spPr>
          <a:xfrm>
            <a:off x="4846320" y="1828800"/>
            <a:ext cx="137160" cy="137160"/>
          </a:xfrm>
          <a:prstGeom prst="rightArrow">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0" y="1554480"/>
            <a:ext cx="2103120" cy="77724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74920" y="1581912"/>
            <a:ext cx="2011680" cy="731520"/>
          </a:xfrm>
          <a:prstGeom prst="rect">
            <a:avLst/>
          </a:prstGeom>
          <a:noFill/>
        </p:spPr>
        <p:txBody>
          <a:bodyPr wrap="square">
            <a:spAutoFit/>
          </a:bodyPr>
          <a:lstStyle/>
          <a:p>
            <a:pPr algn="ctr">
              <a:defRPr sz="900" b="1">
                <a:solidFill>
                  <a:srgbClr val="FFFFFF"/>
                </a:solidFill>
                <a:latin typeface="Calibri"/>
              </a:defRPr>
            </a:pPr>
            <a:r>
              <a:t>Analyst checks</a:t>
            </a:r>
            <a:br/>
            <a:r>
              <a:t>VQRs for exact</a:t>
            </a:r>
            <a:br/>
            <a:r>
              <a:t>query match</a:t>
            </a:r>
          </a:p>
        </p:txBody>
      </p:sp>
      <p:sp>
        <p:nvSpPr>
          <p:cNvPr id="16" name="Right Arrow 15"/>
          <p:cNvSpPr/>
          <p:nvPr/>
        </p:nvSpPr>
        <p:spPr>
          <a:xfrm>
            <a:off x="7178040" y="1828800"/>
            <a:ext cx="137160" cy="137160"/>
          </a:xfrm>
          <a:prstGeom prst="rightArrow">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60919" y="1554480"/>
            <a:ext cx="2103120" cy="777240"/>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39" y="1581912"/>
            <a:ext cx="2011680" cy="731520"/>
          </a:xfrm>
          <a:prstGeom prst="rect">
            <a:avLst/>
          </a:prstGeom>
          <a:noFill/>
        </p:spPr>
        <p:txBody>
          <a:bodyPr wrap="square">
            <a:spAutoFit/>
          </a:bodyPr>
          <a:lstStyle/>
          <a:p>
            <a:pPr algn="ctr">
              <a:defRPr sz="900" b="1">
                <a:solidFill>
                  <a:srgbClr val="FFFFFF"/>
                </a:solidFill>
                <a:latin typeface="Calibri"/>
              </a:defRPr>
            </a:pPr>
            <a:r>
              <a:t>If matched:</a:t>
            </a:r>
            <a:br/>
            <a:r>
              <a:t>use verified SQL</a:t>
            </a:r>
            <a:br/>
            <a:r>
              <a:t>If not: generate</a:t>
            </a:r>
          </a:p>
        </p:txBody>
      </p:sp>
      <p:sp>
        <p:nvSpPr>
          <p:cNvPr id="19" name="Right Arrow 18"/>
          <p:cNvSpPr/>
          <p:nvPr/>
        </p:nvSpPr>
        <p:spPr>
          <a:xfrm>
            <a:off x="9509759" y="1828800"/>
            <a:ext cx="137160" cy="1371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692640" y="1554480"/>
            <a:ext cx="2103120" cy="77724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60" y="1581912"/>
            <a:ext cx="2011680" cy="731520"/>
          </a:xfrm>
          <a:prstGeom prst="rect">
            <a:avLst/>
          </a:prstGeom>
          <a:noFill/>
        </p:spPr>
        <p:txBody>
          <a:bodyPr wrap="square">
            <a:spAutoFit/>
          </a:bodyPr>
          <a:lstStyle/>
          <a:p>
            <a:pPr algn="ctr">
              <a:defRPr sz="900" b="1">
                <a:solidFill>
                  <a:srgbClr val="FFFFFF"/>
                </a:solidFill>
                <a:latin typeface="Calibri"/>
              </a:defRPr>
            </a:pPr>
            <a:r>
              <a:t>SQL executed on</a:t>
            </a:r>
            <a:br/>
            <a:r>
              <a:t>COMPUTE_WH</a:t>
            </a:r>
            <a:br/>
            <a:r>
              <a:t>Results returned</a:t>
            </a:r>
          </a:p>
        </p:txBody>
      </p:sp>
      <p:sp>
        <p:nvSpPr>
          <p:cNvPr id="22" name="TextBox 21"/>
          <p:cNvSpPr txBox="1"/>
          <p:nvPr/>
        </p:nvSpPr>
        <p:spPr>
          <a:xfrm>
            <a:off x="365760" y="2560320"/>
            <a:ext cx="7315200" cy="274320"/>
          </a:xfrm>
          <a:prstGeom prst="rect">
            <a:avLst/>
          </a:prstGeom>
          <a:noFill/>
        </p:spPr>
        <p:txBody>
          <a:bodyPr wrap="square">
            <a:spAutoFit/>
          </a:bodyPr>
          <a:lstStyle/>
          <a:p>
            <a:pPr algn="l">
              <a:defRPr sz="1400" b="1">
                <a:solidFill>
                  <a:srgbClr val="112746"/>
                </a:solidFill>
                <a:latin typeface="Calibri"/>
              </a:defRPr>
            </a:pPr>
            <a:r>
              <a:t>5 Semantic Views</a:t>
            </a:r>
          </a:p>
        </p:txBody>
      </p:sp>
      <p:graphicFrame>
        <p:nvGraphicFramePr>
          <p:cNvPr id="23" name="Table 22"/>
          <p:cNvGraphicFramePr>
            <a:graphicFrameLocks noGrp="1"/>
          </p:cNvGraphicFramePr>
          <p:nvPr/>
        </p:nvGraphicFramePr>
        <p:xfrm>
          <a:off x="365760" y="2834640"/>
          <a:ext cx="11430000" cy="2011680"/>
        </p:xfrm>
        <a:graphic>
          <a:graphicData uri="http://schemas.openxmlformats.org/drawingml/2006/table">
            <a:tbl>
              <a:tblPr firstRow="1" bandRow="1">
                <a:tableStyleId>{5C22544A-7EE6-4342-B048-85BDC9FD1C3A}</a:tableStyleId>
              </a:tblPr>
              <a:tblGrid>
                <a:gridCol w="2103120"/>
                <a:gridCol w="1188720"/>
                <a:gridCol w="731520"/>
                <a:gridCol w="640080"/>
                <a:gridCol w="640080"/>
                <a:gridCol w="640080"/>
                <a:gridCol w="5486400"/>
              </a:tblGrid>
              <a:tr h="335280">
                <a:tc>
                  <a:txBody>
                    <a:bodyPr/>
                    <a:lstStyle/>
                    <a:p>
                      <a:pPr>
                        <a:defRPr sz="1000" b="1">
                          <a:solidFill>
                            <a:srgbClr val="FFFFFF"/>
                          </a:solidFill>
                          <a:latin typeface="Calibri"/>
                        </a:defRPr>
                      </a:pPr>
                      <a:r>
                        <a:t>Semantic View</a:t>
                      </a:r>
                    </a:p>
                  </a:txBody>
                  <a:tcPr anchor="ctr">
                    <a:solidFill>
                      <a:srgbClr val="112746"/>
                    </a:solidFill>
                  </a:tcPr>
                </a:tc>
                <a:tc>
                  <a:txBody>
                    <a:bodyPr/>
                    <a:lstStyle/>
                    <a:p>
                      <a:pPr>
                        <a:defRPr sz="1000" b="1">
                          <a:solidFill>
                            <a:srgbClr val="FFFFFF"/>
                          </a:solidFill>
                          <a:latin typeface="Calibri"/>
                        </a:defRPr>
                      </a:pPr>
                      <a:r>
                        <a:t>Schema</a:t>
                      </a:r>
                    </a:p>
                  </a:txBody>
                  <a:tcPr anchor="ctr">
                    <a:solidFill>
                      <a:srgbClr val="112746"/>
                    </a:solidFill>
                  </a:tcPr>
                </a:tc>
                <a:tc>
                  <a:txBody>
                    <a:bodyPr/>
                    <a:lstStyle/>
                    <a:p>
                      <a:pPr>
                        <a:defRPr sz="1000" b="1">
                          <a:solidFill>
                            <a:srgbClr val="FFFFFF"/>
                          </a:solidFill>
                          <a:latin typeface="Calibri"/>
                        </a:defRPr>
                      </a:pPr>
                      <a:r>
                        <a:t>Tables</a:t>
                      </a:r>
                    </a:p>
                  </a:txBody>
                  <a:tcPr anchor="ctr">
                    <a:solidFill>
                      <a:srgbClr val="112746"/>
                    </a:solidFill>
                  </a:tcPr>
                </a:tc>
                <a:tc>
                  <a:txBody>
                    <a:bodyPr/>
                    <a:lstStyle/>
                    <a:p>
                      <a:pPr>
                        <a:defRPr sz="1000" b="1">
                          <a:solidFill>
                            <a:srgbClr val="FFFFFF"/>
                          </a:solidFill>
                          <a:latin typeface="Calibri"/>
                        </a:defRPr>
                      </a:pPr>
                      <a:r>
                        <a:t>Facts</a:t>
                      </a:r>
                    </a:p>
                  </a:txBody>
                  <a:tcPr anchor="ctr">
                    <a:solidFill>
                      <a:srgbClr val="112746"/>
                    </a:solidFill>
                  </a:tcPr>
                </a:tc>
                <a:tc>
                  <a:txBody>
                    <a:bodyPr/>
                    <a:lstStyle/>
                    <a:p>
                      <a:pPr>
                        <a:defRPr sz="1000" b="1">
                          <a:solidFill>
                            <a:srgbClr val="FFFFFF"/>
                          </a:solidFill>
                          <a:latin typeface="Calibri"/>
                        </a:defRPr>
                      </a:pPr>
                      <a:r>
                        <a:t>Dims</a:t>
                      </a:r>
                    </a:p>
                  </a:txBody>
                  <a:tcPr anchor="ctr">
                    <a:solidFill>
                      <a:srgbClr val="112746"/>
                    </a:solidFill>
                  </a:tcPr>
                </a:tc>
                <a:tc>
                  <a:txBody>
                    <a:bodyPr/>
                    <a:lstStyle/>
                    <a:p>
                      <a:pPr>
                        <a:defRPr sz="1000" b="1">
                          <a:solidFill>
                            <a:srgbClr val="FFFFFF"/>
                          </a:solidFill>
                          <a:latin typeface="Calibri"/>
                        </a:defRPr>
                      </a:pPr>
                      <a:r>
                        <a:t>VQRs</a:t>
                      </a:r>
                    </a:p>
                  </a:txBody>
                  <a:tcPr anchor="ctr">
                    <a:solidFill>
                      <a:srgbClr val="112746"/>
                    </a:solidFill>
                  </a:tcPr>
                </a:tc>
                <a:tc>
                  <a:txBody>
                    <a:bodyPr/>
                    <a:lstStyle/>
                    <a:p>
                      <a:pPr>
                        <a:defRPr sz="1000" b="1">
                          <a:solidFill>
                            <a:srgbClr val="FFFFFF"/>
                          </a:solidFill>
                          <a:latin typeface="Calibri"/>
                        </a:defRPr>
                      </a:pPr>
                      <a:r>
                        <a:t>Key Domain</a:t>
                      </a:r>
                    </a:p>
                  </a:txBody>
                  <a:tcPr anchor="ctr">
                    <a:solidFill>
                      <a:srgbClr val="112746"/>
                    </a:solidFill>
                  </a:tcPr>
                </a:tc>
              </a:tr>
              <a:tr h="335280">
                <a:tc>
                  <a:txBody>
                    <a:bodyPr/>
                    <a:lstStyle/>
                    <a:p>
                      <a:pPr>
                        <a:defRPr sz="900">
                          <a:solidFill>
                            <a:srgbClr val="1E293B"/>
                          </a:solidFill>
                          <a:latin typeface="Calibri"/>
                        </a:defRPr>
                      </a:pPr>
                      <a:r>
                        <a:t>SV_INSURANCE_OPS</a:t>
                      </a:r>
                    </a:p>
                  </a:txBody>
                  <a:tcPr anchor="ctr">
                    <a:solidFill>
                      <a:srgbClr val="FFFFFF"/>
                    </a:solidFill>
                  </a:tcPr>
                </a:tc>
                <a:tc>
                  <a:txBody>
                    <a:bodyPr/>
                    <a:lstStyle/>
                    <a:p>
                      <a:pPr>
                        <a:defRPr sz="900">
                          <a:solidFill>
                            <a:srgbClr val="1E293B"/>
                          </a:solidFill>
                          <a:latin typeface="Calibri"/>
                        </a:defRPr>
                      </a:pPr>
                      <a:r>
                        <a:t>ANALYTICS</a:t>
                      </a:r>
                    </a:p>
                  </a:txBody>
                  <a:tcPr anchor="ctr">
                    <a:solidFill>
                      <a:srgbClr val="FFFFFF"/>
                    </a:solidFill>
                  </a:tcPr>
                </a:tc>
                <a:tc>
                  <a:txBody>
                    <a:bodyPr/>
                    <a:lstStyle/>
                    <a:p>
                      <a:pPr>
                        <a:defRPr sz="900">
                          <a:solidFill>
                            <a:srgbClr val="1E293B"/>
                          </a:solidFill>
                          <a:latin typeface="Calibri"/>
                        </a:defRPr>
                      </a:pPr>
                      <a:r>
                        <a:t>6</a:t>
                      </a:r>
                    </a:p>
                  </a:txBody>
                  <a:tcPr anchor="ctr">
                    <a:solidFill>
                      <a:srgbClr val="FFFFFF"/>
                    </a:solidFill>
                  </a:tcPr>
                </a:tc>
                <a:tc>
                  <a:txBody>
                    <a:bodyPr/>
                    <a:lstStyle/>
                    <a:p>
                      <a:pPr>
                        <a:defRPr sz="900">
                          <a:solidFill>
                            <a:srgbClr val="1E293B"/>
                          </a:solidFill>
                          <a:latin typeface="Calibri"/>
                        </a:defRPr>
                      </a:pPr>
                      <a:r>
                        <a:t>15</a:t>
                      </a:r>
                    </a:p>
                  </a:txBody>
                  <a:tcPr anchor="ctr">
                    <a:solidFill>
                      <a:srgbClr val="FFFFFF"/>
                    </a:solidFill>
                  </a:tcPr>
                </a:tc>
                <a:tc>
                  <a:txBody>
                    <a:bodyPr/>
                    <a:lstStyle/>
                    <a:p>
                      <a:pPr>
                        <a:defRPr sz="900">
                          <a:solidFill>
                            <a:srgbClr val="1E293B"/>
                          </a:solidFill>
                          <a:latin typeface="Calibri"/>
                        </a:defRPr>
                      </a:pPr>
                      <a:r>
                        <a:t>66</a:t>
                      </a:r>
                    </a:p>
                  </a:txBody>
                  <a:tcPr anchor="ctr">
                    <a:solidFill>
                      <a:srgbClr val="FFFFFF"/>
                    </a:solidFill>
                  </a:tcPr>
                </a:tc>
                <a:tc>
                  <a:txBody>
                    <a:bodyPr/>
                    <a:lstStyle/>
                    <a:p>
                      <a:pPr>
                        <a:defRPr sz="900">
                          <a:solidFill>
                            <a:srgbClr val="1E293B"/>
                          </a:solidFill>
                          <a:latin typeface="Calibri"/>
                        </a:defRPr>
                      </a:pPr>
                      <a:r>
                        <a:t>10</a:t>
                      </a:r>
                    </a:p>
                  </a:txBody>
                  <a:tcPr anchor="ctr">
                    <a:solidFill>
                      <a:srgbClr val="FFFFFF"/>
                    </a:solidFill>
                  </a:tcPr>
                </a:tc>
                <a:tc>
                  <a:txBody>
                    <a:bodyPr/>
                    <a:lstStyle/>
                    <a:p>
                      <a:pPr>
                        <a:defRPr sz="900">
                          <a:solidFill>
                            <a:srgbClr val="1E293B"/>
                          </a:solidFill>
                          <a:latin typeface="Calibri"/>
                        </a:defRPr>
                      </a:pPr>
                      <a:r>
                        <a:t>Operations, claims, billing, risk</a:t>
                      </a:r>
                    </a:p>
                  </a:txBody>
                  <a:tcPr anchor="ctr">
                    <a:solidFill>
                      <a:srgbClr val="FFFFFF"/>
                    </a:solidFill>
                  </a:tcPr>
                </a:tc>
              </a:tr>
              <a:tr h="335280">
                <a:tc>
                  <a:txBody>
                    <a:bodyPr/>
                    <a:lstStyle/>
                    <a:p>
                      <a:pPr>
                        <a:defRPr sz="900">
                          <a:solidFill>
                            <a:srgbClr val="1E293B"/>
                          </a:solidFill>
                          <a:latin typeface="Calibri"/>
                        </a:defRPr>
                      </a:pPr>
                      <a:r>
                        <a:t>SV_DATA_QUALITY</a:t>
                      </a:r>
                    </a:p>
                  </a:txBody>
                  <a:tcPr anchor="ctr">
                    <a:solidFill>
                      <a:srgbClr val="EEF4FA"/>
                    </a:solidFill>
                  </a:tcPr>
                </a:tc>
                <a:tc>
                  <a:txBody>
                    <a:bodyPr/>
                    <a:lstStyle/>
                    <a:p>
                      <a:pPr>
                        <a:defRPr sz="900">
                          <a:solidFill>
                            <a:srgbClr val="1E293B"/>
                          </a:solidFill>
                          <a:latin typeface="Calibri"/>
                        </a:defRPr>
                      </a:pPr>
                      <a:r>
                        <a:t>DATA_QUALITY</a:t>
                      </a:r>
                    </a:p>
                  </a:txBody>
                  <a:tcPr anchor="ctr">
                    <a:solidFill>
                      <a:srgbClr val="EEF4FA"/>
                    </a:solidFill>
                  </a:tcPr>
                </a:tc>
                <a:tc>
                  <a:txBody>
                    <a:bodyPr/>
                    <a:lstStyle/>
                    <a:p>
                      <a:pPr>
                        <a:defRPr sz="900">
                          <a:solidFill>
                            <a:srgbClr val="1E293B"/>
                          </a:solidFill>
                          <a:latin typeface="Calibri"/>
                        </a:defRPr>
                      </a:pPr>
                      <a:r>
                        <a:t>4</a:t>
                      </a:r>
                    </a:p>
                  </a:txBody>
                  <a:tcPr anchor="ctr">
                    <a:solidFill>
                      <a:srgbClr val="EEF4FA"/>
                    </a:solidFill>
                  </a:tcPr>
                </a:tc>
                <a:tc>
                  <a:txBody>
                    <a:bodyPr/>
                    <a:lstStyle/>
                    <a:p>
                      <a:pPr>
                        <a:defRPr sz="900">
                          <a:solidFill>
                            <a:srgbClr val="1E293B"/>
                          </a:solidFill>
                          <a:latin typeface="Calibri"/>
                        </a:defRPr>
                      </a:pPr>
                      <a:r>
                        <a:t>10</a:t>
                      </a:r>
                    </a:p>
                  </a:txBody>
                  <a:tcPr anchor="ctr">
                    <a:solidFill>
                      <a:srgbClr val="EEF4FA"/>
                    </a:solidFill>
                  </a:tcPr>
                </a:tc>
                <a:tc>
                  <a:txBody>
                    <a:bodyPr/>
                    <a:lstStyle/>
                    <a:p>
                      <a:pPr>
                        <a:defRPr sz="900">
                          <a:solidFill>
                            <a:srgbClr val="1E293B"/>
                          </a:solidFill>
                          <a:latin typeface="Calibri"/>
                        </a:defRPr>
                      </a:pPr>
                      <a:r>
                        <a:t>40</a:t>
                      </a:r>
                    </a:p>
                  </a:txBody>
                  <a:tcPr anchor="ctr">
                    <a:solidFill>
                      <a:srgbClr val="EEF4FA"/>
                    </a:solidFill>
                  </a:tcPr>
                </a:tc>
                <a:tc>
                  <a:txBody>
                    <a:bodyPr/>
                    <a:lstStyle/>
                    <a:p>
                      <a:pPr>
                        <a:defRPr sz="900">
                          <a:solidFill>
                            <a:srgbClr val="1E293B"/>
                          </a:solidFill>
                          <a:latin typeface="Calibri"/>
                        </a:defRPr>
                      </a:pPr>
                      <a:r>
                        <a:t>5</a:t>
                      </a:r>
                    </a:p>
                  </a:txBody>
                  <a:tcPr anchor="ctr">
                    <a:solidFill>
                      <a:srgbClr val="EEF4FA"/>
                    </a:solidFill>
                  </a:tcPr>
                </a:tc>
                <a:tc>
                  <a:txBody>
                    <a:bodyPr/>
                    <a:lstStyle/>
                    <a:p>
                      <a:pPr>
                        <a:defRPr sz="900">
                          <a:solidFill>
                            <a:srgbClr val="1E293B"/>
                          </a:solidFill>
                          <a:latin typeface="Calibri"/>
                        </a:defRPr>
                      </a:pPr>
                      <a:r>
                        <a:t>DQ rules, scores, column health</a:t>
                      </a:r>
                    </a:p>
                  </a:txBody>
                  <a:tcPr anchor="ctr">
                    <a:solidFill>
                      <a:srgbClr val="EEF4FA"/>
                    </a:solidFill>
                  </a:tcPr>
                </a:tc>
              </a:tr>
              <a:tr h="335280">
                <a:tc>
                  <a:txBody>
                    <a:bodyPr/>
                    <a:lstStyle/>
                    <a:p>
                      <a:pPr>
                        <a:defRPr sz="900">
                          <a:solidFill>
                            <a:srgbClr val="1E293B"/>
                          </a:solidFill>
                          <a:latin typeface="Calibri"/>
                        </a:defRPr>
                      </a:pPr>
                      <a:r>
                        <a:t>SV_COMPETITIVE_INTEL</a:t>
                      </a:r>
                    </a:p>
                  </a:txBody>
                  <a:tcPr anchor="ctr">
                    <a:solidFill>
                      <a:srgbClr val="FFFFFF"/>
                    </a:solidFill>
                  </a:tcPr>
                </a:tc>
                <a:tc>
                  <a:txBody>
                    <a:bodyPr/>
                    <a:lstStyle/>
                    <a:p>
                      <a:pPr>
                        <a:defRPr sz="900">
                          <a:solidFill>
                            <a:srgbClr val="1E293B"/>
                          </a:solidFill>
                          <a:latin typeface="Calibri"/>
                        </a:defRPr>
                      </a:pPr>
                      <a:r>
                        <a:t>ANALYTICS</a:t>
                      </a:r>
                    </a:p>
                  </a:txBody>
                  <a:tcPr anchor="ctr">
                    <a:solidFill>
                      <a:srgbClr val="FFFFFF"/>
                    </a:solidFill>
                  </a:tcPr>
                </a:tc>
                <a:tc>
                  <a:txBody>
                    <a:bodyPr/>
                    <a:lstStyle/>
                    <a:p>
                      <a:pPr>
                        <a:defRPr sz="900">
                          <a:solidFill>
                            <a:srgbClr val="1E293B"/>
                          </a:solidFill>
                          <a:latin typeface="Calibri"/>
                        </a:defRPr>
                      </a:pPr>
                      <a:r>
                        <a:t>4</a:t>
                      </a:r>
                    </a:p>
                  </a:txBody>
                  <a:tcPr anchor="ctr">
                    <a:solidFill>
                      <a:srgbClr val="FFFFFF"/>
                    </a:solidFill>
                  </a:tcPr>
                </a:tc>
                <a:tc>
                  <a:txBody>
                    <a:bodyPr/>
                    <a:lstStyle/>
                    <a:p>
                      <a:pPr>
                        <a:defRPr sz="900">
                          <a:solidFill>
                            <a:srgbClr val="1E293B"/>
                          </a:solidFill>
                          <a:latin typeface="Calibri"/>
                        </a:defRPr>
                      </a:pPr>
                      <a:r>
                        <a:t>17</a:t>
                      </a:r>
                    </a:p>
                  </a:txBody>
                  <a:tcPr anchor="ctr">
                    <a:solidFill>
                      <a:srgbClr val="FFFFFF"/>
                    </a:solidFill>
                  </a:tcPr>
                </a:tc>
                <a:tc>
                  <a:txBody>
                    <a:bodyPr/>
                    <a:lstStyle/>
                    <a:p>
                      <a:pPr>
                        <a:defRPr sz="900">
                          <a:solidFill>
                            <a:srgbClr val="1E293B"/>
                          </a:solidFill>
                          <a:latin typeface="Calibri"/>
                        </a:defRPr>
                      </a:pPr>
                      <a:r>
                        <a:t>17</a:t>
                      </a:r>
                    </a:p>
                  </a:txBody>
                  <a:tcPr anchor="ctr">
                    <a:solidFill>
                      <a:srgbClr val="FFFFFF"/>
                    </a:solidFill>
                  </a:tcPr>
                </a:tc>
                <a:tc>
                  <a:txBody>
                    <a:bodyPr/>
                    <a:lstStyle/>
                    <a:p>
                      <a:pPr>
                        <a:defRPr sz="900">
                          <a:solidFill>
                            <a:srgbClr val="1E293B"/>
                          </a:solidFill>
                          <a:latin typeface="Calibri"/>
                        </a:defRPr>
                      </a:pPr>
                      <a:r>
                        <a:t>4</a:t>
                      </a:r>
                    </a:p>
                  </a:txBody>
                  <a:tcPr anchor="ctr">
                    <a:solidFill>
                      <a:srgbClr val="FFFFFF"/>
                    </a:solidFill>
                  </a:tcPr>
                </a:tc>
                <a:tc>
                  <a:txBody>
                    <a:bodyPr/>
                    <a:lstStyle/>
                    <a:p>
                      <a:pPr>
                        <a:defRPr sz="900">
                          <a:solidFill>
                            <a:srgbClr val="1E293B"/>
                          </a:solidFill>
                          <a:latin typeface="Calibri"/>
                        </a:defRPr>
                      </a:pPr>
                      <a:r>
                        <a:t>Competitor pricing, scenarios</a:t>
                      </a:r>
                    </a:p>
                  </a:txBody>
                  <a:tcPr anchor="ctr">
                    <a:solidFill>
                      <a:srgbClr val="FFFFFF"/>
                    </a:solidFill>
                  </a:tcPr>
                </a:tc>
              </a:tr>
              <a:tr h="335280">
                <a:tc>
                  <a:txBody>
                    <a:bodyPr/>
                    <a:lstStyle/>
                    <a:p>
                      <a:pPr>
                        <a:defRPr sz="900">
                          <a:solidFill>
                            <a:srgbClr val="1E293B"/>
                          </a:solidFill>
                          <a:latin typeface="Calibri"/>
                        </a:defRPr>
                      </a:pPr>
                      <a:r>
                        <a:t>SV_MARKET_INTELLIGENCE</a:t>
                      </a:r>
                    </a:p>
                  </a:txBody>
                  <a:tcPr anchor="ctr">
                    <a:solidFill>
                      <a:srgbClr val="EEF4FA"/>
                    </a:solidFill>
                  </a:tcPr>
                </a:tc>
                <a:tc>
                  <a:txBody>
                    <a:bodyPr/>
                    <a:lstStyle/>
                    <a:p>
                      <a:pPr>
                        <a:defRPr sz="900">
                          <a:solidFill>
                            <a:srgbClr val="1E293B"/>
                          </a:solidFill>
                          <a:latin typeface="Calibri"/>
                        </a:defRPr>
                      </a:pPr>
                      <a:r>
                        <a:t>ANALYTICS</a:t>
                      </a:r>
                    </a:p>
                  </a:txBody>
                  <a:tcPr anchor="ctr">
                    <a:solidFill>
                      <a:srgbClr val="EEF4FA"/>
                    </a:solidFill>
                  </a:tcPr>
                </a:tc>
                <a:tc>
                  <a:txBody>
                    <a:bodyPr/>
                    <a:lstStyle/>
                    <a:p>
                      <a:pPr>
                        <a:defRPr sz="900">
                          <a:solidFill>
                            <a:srgbClr val="1E293B"/>
                          </a:solidFill>
                          <a:latin typeface="Calibri"/>
                        </a:defRPr>
                      </a:pPr>
                      <a:r>
                        <a:t>2</a:t>
                      </a:r>
                    </a:p>
                  </a:txBody>
                  <a:tcPr anchor="ctr">
                    <a:solidFill>
                      <a:srgbClr val="EEF4FA"/>
                    </a:solidFill>
                  </a:tcPr>
                </a:tc>
                <a:tc>
                  <a:txBody>
                    <a:bodyPr/>
                    <a:lstStyle/>
                    <a:p>
                      <a:pPr>
                        <a:defRPr sz="900">
                          <a:solidFill>
                            <a:srgbClr val="1E293B"/>
                          </a:solidFill>
                          <a:latin typeface="Calibri"/>
                        </a:defRPr>
                      </a:pPr>
                      <a:r>
                        <a:t>8</a:t>
                      </a:r>
                    </a:p>
                  </a:txBody>
                  <a:tcPr anchor="ctr">
                    <a:solidFill>
                      <a:srgbClr val="EEF4FA"/>
                    </a:solidFill>
                  </a:tcPr>
                </a:tc>
                <a:tc>
                  <a:txBody>
                    <a:bodyPr/>
                    <a:lstStyle/>
                    <a:p>
                      <a:pPr>
                        <a:defRPr sz="900">
                          <a:solidFill>
                            <a:srgbClr val="1E293B"/>
                          </a:solidFill>
                          <a:latin typeface="Calibri"/>
                        </a:defRPr>
                      </a:pPr>
                      <a:r>
                        <a:t>11</a:t>
                      </a:r>
                    </a:p>
                  </a:txBody>
                  <a:tcPr anchor="ctr">
                    <a:solidFill>
                      <a:srgbClr val="EEF4FA"/>
                    </a:solidFill>
                  </a:tcPr>
                </a:tc>
                <a:tc>
                  <a:txBody>
                    <a:bodyPr/>
                    <a:lstStyle/>
                    <a:p>
                      <a:pPr>
                        <a:defRPr sz="900">
                          <a:solidFill>
                            <a:srgbClr val="1E293B"/>
                          </a:solidFill>
                          <a:latin typeface="Calibri"/>
                        </a:defRPr>
                      </a:pPr>
                      <a:r>
                        <a:t>3</a:t>
                      </a:r>
                    </a:p>
                  </a:txBody>
                  <a:tcPr anchor="ctr">
                    <a:solidFill>
                      <a:srgbClr val="EEF4FA"/>
                    </a:solidFill>
                  </a:tcPr>
                </a:tc>
                <a:tc>
                  <a:txBody>
                    <a:bodyPr/>
                    <a:lstStyle/>
                    <a:p>
                      <a:pPr>
                        <a:defRPr sz="900">
                          <a:solidFill>
                            <a:srgbClr val="1E293B"/>
                          </a:solidFill>
                          <a:latin typeface="Calibri"/>
                        </a:defRPr>
                      </a:pPr>
                      <a:r>
                        <a:t>Market trends, benchmarks</a:t>
                      </a:r>
                    </a:p>
                  </a:txBody>
                  <a:tcPr anchor="ctr">
                    <a:solidFill>
                      <a:srgbClr val="EEF4FA"/>
                    </a:solidFill>
                  </a:tcPr>
                </a:tc>
              </a:tr>
              <a:tr h="335280">
                <a:tc>
                  <a:txBody>
                    <a:bodyPr/>
                    <a:lstStyle/>
                    <a:p>
                      <a:pPr>
                        <a:defRPr sz="900">
                          <a:solidFill>
                            <a:srgbClr val="1E293B"/>
                          </a:solidFill>
                          <a:latin typeface="Calibri"/>
                        </a:defRPr>
                      </a:pPr>
                      <a:r>
                        <a:t>SV_PRODUCT_MATCHING</a:t>
                      </a:r>
                    </a:p>
                  </a:txBody>
                  <a:tcPr anchor="ctr">
                    <a:solidFill>
                      <a:srgbClr val="FFFFFF"/>
                    </a:solidFill>
                  </a:tcPr>
                </a:tc>
                <a:tc>
                  <a:txBody>
                    <a:bodyPr/>
                    <a:lstStyle/>
                    <a:p>
                      <a:pPr>
                        <a:defRPr sz="900">
                          <a:solidFill>
                            <a:srgbClr val="1E293B"/>
                          </a:solidFill>
                          <a:latin typeface="Calibri"/>
                        </a:defRPr>
                      </a:pPr>
                      <a:r>
                        <a:t>ANALYTICS</a:t>
                      </a:r>
                    </a:p>
                  </a:txBody>
                  <a:tcPr anchor="ctr">
                    <a:solidFill>
                      <a:srgbClr val="FFFFFF"/>
                    </a:solidFill>
                  </a:tcPr>
                </a:tc>
                <a:tc>
                  <a:txBody>
                    <a:bodyPr/>
                    <a:lstStyle/>
                    <a:p>
                      <a:pPr>
                        <a:defRPr sz="900">
                          <a:solidFill>
                            <a:srgbClr val="1E293B"/>
                          </a:solidFill>
                          <a:latin typeface="Calibri"/>
                        </a:defRPr>
                      </a:pPr>
                      <a:r>
                        <a:t>3</a:t>
                      </a:r>
                    </a:p>
                  </a:txBody>
                  <a:tcPr anchor="ctr">
                    <a:solidFill>
                      <a:srgbClr val="FFFFFF"/>
                    </a:solidFill>
                  </a:tcPr>
                </a:tc>
                <a:tc>
                  <a:txBody>
                    <a:bodyPr/>
                    <a:lstStyle/>
                    <a:p>
                      <a:pPr>
                        <a:defRPr sz="900">
                          <a:solidFill>
                            <a:srgbClr val="1E293B"/>
                          </a:solidFill>
                          <a:latin typeface="Calibri"/>
                        </a:defRPr>
                      </a:pPr>
                      <a:r>
                        <a:t>8</a:t>
                      </a:r>
                    </a:p>
                  </a:txBody>
                  <a:tcPr anchor="ctr">
                    <a:solidFill>
                      <a:srgbClr val="FFFFFF"/>
                    </a:solidFill>
                  </a:tcPr>
                </a:tc>
                <a:tc>
                  <a:txBody>
                    <a:bodyPr/>
                    <a:lstStyle/>
                    <a:p>
                      <a:pPr>
                        <a:defRPr sz="900">
                          <a:solidFill>
                            <a:srgbClr val="1E293B"/>
                          </a:solidFill>
                          <a:latin typeface="Calibri"/>
                        </a:defRPr>
                      </a:pPr>
                      <a:r>
                        <a:t>19</a:t>
                      </a:r>
                    </a:p>
                  </a:txBody>
                  <a:tcPr anchor="ctr">
                    <a:solidFill>
                      <a:srgbClr val="FFFFFF"/>
                    </a:solidFill>
                  </a:tcPr>
                </a:tc>
                <a:tc>
                  <a:txBody>
                    <a:bodyPr/>
                    <a:lstStyle/>
                    <a:p>
                      <a:pPr>
                        <a:defRPr sz="900">
                          <a:solidFill>
                            <a:srgbClr val="1E293B"/>
                          </a:solidFill>
                          <a:latin typeface="Calibri"/>
                        </a:defRPr>
                      </a:pPr>
                      <a:r>
                        <a:t>3</a:t>
                      </a:r>
                    </a:p>
                  </a:txBody>
                  <a:tcPr anchor="ctr">
                    <a:solidFill>
                      <a:srgbClr val="FFFFFF"/>
                    </a:solidFill>
                  </a:tcPr>
                </a:tc>
                <a:tc>
                  <a:txBody>
                    <a:bodyPr/>
                    <a:lstStyle/>
                    <a:p>
                      <a:pPr>
                        <a:defRPr sz="900">
                          <a:solidFill>
                            <a:srgbClr val="1E293B"/>
                          </a:solidFill>
                          <a:latin typeface="Calibri"/>
                        </a:defRPr>
                      </a:pPr>
                      <a:r>
                        <a:t>Match scores, strategies</a:t>
                      </a:r>
                    </a:p>
                  </a:txBody>
                  <a:tcPr anchor="ctr">
                    <a:solidFill>
                      <a:srgbClr val="FFFFFF"/>
                    </a:solidFill>
                  </a:tcPr>
                </a:tc>
              </a:tr>
            </a:tbl>
          </a:graphicData>
        </a:graphic>
      </p:graphicFrame>
      <p:sp>
        <p:nvSpPr>
          <p:cNvPr id="24" name="TextBox 23"/>
          <p:cNvSpPr txBox="1"/>
          <p:nvPr/>
        </p:nvSpPr>
        <p:spPr>
          <a:xfrm>
            <a:off x="365760" y="5029200"/>
            <a:ext cx="10972800" cy="274320"/>
          </a:xfrm>
          <a:prstGeom prst="rect">
            <a:avLst/>
          </a:prstGeom>
          <a:noFill/>
        </p:spPr>
        <p:txBody>
          <a:bodyPr wrap="square">
            <a:spAutoFit/>
          </a:bodyPr>
          <a:lstStyle/>
          <a:p>
            <a:pPr algn="l">
              <a:defRPr sz="1300" b="1">
                <a:solidFill>
                  <a:srgbClr val="112746"/>
                </a:solidFill>
                <a:latin typeface="Calibri"/>
              </a:defRPr>
            </a:pPr>
            <a:r>
              <a:t>Sample Verified Queries (VQRs) — Pre-validated SQL for Common Questions</a:t>
            </a:r>
          </a:p>
        </p:txBody>
      </p:sp>
      <p:sp>
        <p:nvSpPr>
          <p:cNvPr id="25" name="TextBox 24"/>
          <p:cNvSpPr txBox="1"/>
          <p:nvPr/>
        </p:nvSpPr>
        <p:spPr>
          <a:xfrm>
            <a:off x="365760" y="5303520"/>
            <a:ext cx="11430000" cy="1371600"/>
          </a:xfrm>
          <a:prstGeom prst="rect">
            <a:avLst/>
          </a:prstGeom>
          <a:noFill/>
        </p:spPr>
        <p:txBody>
          <a:bodyPr wrap="square">
            <a:spAutoFit/>
          </a:bodyPr>
          <a:lstStyle/>
          <a:p>
            <a:pPr>
              <a:spcAft>
                <a:spcPts val="500"/>
              </a:spcAft>
            </a:pPr>
            <a:r>
              <a:rPr sz="1000">
                <a:solidFill>
                  <a:srgbClr val="1E293B"/>
                </a:solidFill>
                <a:latin typeface="Calibri"/>
              </a:rPr>
              <a:t>●  "Total premium revenue by policy type" → SUM(PREMIUM_AMOUNT) WHERE POLICY_STATUS = 'Active' GROUP BY POLICY_TYPE</a:t>
            </a:r>
          </a:p>
          <a:p>
            <a:pPr>
              <a:spcAft>
                <a:spcPts val="500"/>
              </a:spcAft>
            </a:pPr>
            <a:r>
              <a:rPr sz="1000">
                <a:solidFill>
                  <a:srgbClr val="1E293B"/>
                </a:solidFill>
                <a:latin typeface="Calibri"/>
              </a:rPr>
              <a:t>●  "Revenue at risk by risk category" → SUM(REVENUE_AT_RISK), AVG(RISK_SCORE) GROUP BY RISK_CATEGORY</a:t>
            </a:r>
          </a:p>
          <a:p>
            <a:pPr>
              <a:spcAft>
                <a:spcPts val="500"/>
              </a:spcAft>
            </a:pPr>
            <a:r>
              <a:rPr sz="1000">
                <a:solidFill>
                  <a:srgbClr val="1E293B"/>
                </a:solidFill>
                <a:latin typeface="Calibri"/>
              </a:rPr>
              <a:t>●  "How does our pricing compare to competitors?" → JOIN our AVG vs COMPETITOR_PRICING.AVG_PREMIUM, compute PRICE_RATIO</a:t>
            </a:r>
          </a:p>
          <a:p>
            <a:pPr>
              <a:spcAft>
                <a:spcPts val="500"/>
              </a:spcAft>
            </a:pPr>
            <a:r>
              <a:rPr sz="1000">
                <a:solidFill>
                  <a:srgbClr val="1E293B"/>
                </a:solidFill>
                <a:latin typeface="Calibri"/>
              </a:rPr>
              <a:t>●  "Which matching strategy performs best?" → AVG(MATCH_SCORE), ELIGIBILITY_RATE GROUP BY MATCH_STRATEGY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2600" b="1">
                <a:solidFill>
                  <a:srgbClr val="FFFFFF"/>
                </a:solidFill>
                <a:latin typeface="Calibri"/>
              </a:defRPr>
            </a:pPr>
            <a:r>
              <a:t>MCP Connector &amp; CoWork Integration</a:t>
            </a:r>
          </a:p>
        </p:txBody>
      </p:sp>
      <p:sp>
        <p:nvSpPr>
          <p:cNvPr id="4" name="TextBox 3"/>
          <p:cNvSpPr txBox="1"/>
          <p:nvPr/>
        </p:nvSpPr>
        <p:spPr>
          <a:xfrm>
            <a:off x="548640" y="548640"/>
            <a:ext cx="10058400" cy="365760"/>
          </a:xfrm>
          <a:prstGeom prst="rect">
            <a:avLst/>
          </a:prstGeom>
          <a:noFill/>
        </p:spPr>
        <p:txBody>
          <a:bodyPr wrap="square">
            <a:spAutoFit/>
          </a:bodyPr>
          <a:lstStyle/>
          <a:p>
            <a:pPr algn="l">
              <a:defRPr sz="1300" b="0">
                <a:solidFill>
                  <a:srgbClr val="29B5E8"/>
                </a:solidFill>
                <a:latin typeface="Calibri"/>
              </a:defRPr>
            </a:pPr>
            <a:r>
              <a:t>From insight to action — creating Jira tickets directly from AI-generated analytics</a:t>
            </a:r>
          </a:p>
        </p:txBody>
      </p:sp>
      <p:sp>
        <p:nvSpPr>
          <p:cNvPr id="5" name="Rectangle 4"/>
          <p:cNvSpPr/>
          <p:nvPr/>
        </p:nvSpPr>
        <p:spPr>
          <a:xfrm>
            <a:off x="0" y="1005840"/>
            <a:ext cx="12191695"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731520" cy="274320"/>
          </a:xfrm>
          <a:prstGeom prst="rect">
            <a:avLst/>
          </a:prstGeom>
          <a:noFill/>
        </p:spPr>
        <p:txBody>
          <a:bodyPr wrap="square">
            <a:spAutoFit/>
          </a:bodyPr>
          <a:lstStyle/>
          <a:p>
            <a:pPr algn="r">
              <a:defRPr sz="900" b="0">
                <a:solidFill>
                  <a:srgbClr val="8A94A6"/>
                </a:solidFill>
                <a:latin typeface="Calibri"/>
              </a:defRPr>
            </a:pPr>
            <a:r>
              <a:t>7/10</a:t>
            </a:r>
          </a:p>
        </p:txBody>
      </p:sp>
      <p:sp>
        <p:nvSpPr>
          <p:cNvPr id="7" name="TextBox 6"/>
          <p:cNvSpPr txBox="1"/>
          <p:nvPr/>
        </p:nvSpPr>
        <p:spPr>
          <a:xfrm>
            <a:off x="365760" y="1234440"/>
            <a:ext cx="5486400" cy="274320"/>
          </a:xfrm>
          <a:prstGeom prst="rect">
            <a:avLst/>
          </a:prstGeom>
          <a:noFill/>
        </p:spPr>
        <p:txBody>
          <a:bodyPr wrap="square">
            <a:spAutoFit/>
          </a:bodyPr>
          <a:lstStyle/>
          <a:p>
            <a:pPr algn="l">
              <a:defRPr sz="1500" b="1">
                <a:solidFill>
                  <a:srgbClr val="112746"/>
                </a:solidFill>
                <a:latin typeface="Calibri"/>
              </a:defRPr>
            </a:pPr>
            <a:r>
              <a:t>MCP Connector Architecture</a:t>
            </a:r>
          </a:p>
        </p:txBody>
      </p:sp>
      <p:sp>
        <p:nvSpPr>
          <p:cNvPr id="8" name="Rectangle 7"/>
          <p:cNvSpPr/>
          <p:nvPr/>
        </p:nvSpPr>
        <p:spPr>
          <a:xfrm>
            <a:off x="274320" y="1554480"/>
            <a:ext cx="2148840" cy="411480"/>
          </a:xfrm>
          <a:prstGeom prst="rect">
            <a:avLst/>
          </a:prstGeom>
          <a:solidFill>
            <a:srgbClr val="112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572768"/>
            <a:ext cx="2057400" cy="365760"/>
          </a:xfrm>
          <a:prstGeom prst="rect">
            <a:avLst/>
          </a:prstGeom>
          <a:noFill/>
        </p:spPr>
        <p:txBody>
          <a:bodyPr wrap="square">
            <a:spAutoFit/>
          </a:bodyPr>
          <a:lstStyle/>
          <a:p>
            <a:pPr algn="ctr">
              <a:defRPr sz="900" b="1">
                <a:solidFill>
                  <a:srgbClr val="FFFFFF"/>
                </a:solidFill>
                <a:latin typeface="Calibri"/>
              </a:defRPr>
            </a:pPr>
            <a:r>
              <a:t>Account Admin</a:t>
            </a:r>
            <a:br/>
            <a:r>
              <a:t>Registers App</a:t>
            </a:r>
          </a:p>
        </p:txBody>
      </p:sp>
      <p:sp>
        <p:nvSpPr>
          <p:cNvPr id="10" name="Rectangle 9"/>
          <p:cNvSpPr/>
          <p:nvPr/>
        </p:nvSpPr>
        <p:spPr>
          <a:xfrm>
            <a:off x="274320" y="1984248"/>
            <a:ext cx="2148840" cy="914400"/>
          </a:xfrm>
          <a:prstGeom prst="rect">
            <a:avLst/>
          </a:prstGeom>
          <a:solidFill>
            <a:srgbClr val="F0F2F5"/>
          </a:solidFill>
          <a:ln w="12700">
            <a:solidFill>
              <a:srgbClr val="1127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2011680"/>
            <a:ext cx="2011680" cy="137160"/>
          </a:xfrm>
          <a:prstGeom prst="rect">
            <a:avLst/>
          </a:prstGeom>
          <a:noFill/>
        </p:spPr>
        <p:txBody>
          <a:bodyPr wrap="square">
            <a:spAutoFit/>
          </a:bodyPr>
          <a:lstStyle/>
          <a:p>
            <a:pPr algn="l">
              <a:defRPr sz="800" b="0">
                <a:solidFill>
                  <a:srgbClr val="1E293B"/>
                </a:solidFill>
                <a:latin typeface="Calibri"/>
              </a:defRPr>
            </a:pPr>
            <a:r>
              <a:t>admin.atlassian.com</a:t>
            </a:r>
          </a:p>
        </p:txBody>
      </p:sp>
      <p:sp>
        <p:nvSpPr>
          <p:cNvPr id="12" name="TextBox 11"/>
          <p:cNvSpPr txBox="1"/>
          <p:nvPr/>
        </p:nvSpPr>
        <p:spPr>
          <a:xfrm>
            <a:off x="347472" y="2170430"/>
            <a:ext cx="2011680" cy="137160"/>
          </a:xfrm>
          <a:prstGeom prst="rect">
            <a:avLst/>
          </a:prstGeom>
          <a:noFill/>
        </p:spPr>
        <p:txBody>
          <a:bodyPr wrap="square">
            <a:spAutoFit/>
          </a:bodyPr>
          <a:lstStyle/>
          <a:p>
            <a:pPr algn="l">
              <a:defRPr sz="800" b="0">
                <a:solidFill>
                  <a:srgbClr val="1E293B"/>
                </a:solidFill>
                <a:latin typeface="Calibri"/>
              </a:defRPr>
            </a:pPr>
            <a:r>
              <a:t>Add callback URL:</a:t>
            </a:r>
          </a:p>
        </p:txBody>
      </p:sp>
      <p:sp>
        <p:nvSpPr>
          <p:cNvPr id="13" name="TextBox 12"/>
          <p:cNvSpPr txBox="1"/>
          <p:nvPr/>
        </p:nvSpPr>
        <p:spPr>
          <a:xfrm>
            <a:off x="347472" y="2329180"/>
            <a:ext cx="2011680" cy="137160"/>
          </a:xfrm>
          <a:prstGeom prst="rect">
            <a:avLst/>
          </a:prstGeom>
          <a:noFill/>
        </p:spPr>
        <p:txBody>
          <a:bodyPr wrap="square">
            <a:spAutoFit/>
          </a:bodyPr>
          <a:lstStyle/>
          <a:p>
            <a:pPr algn="l">
              <a:defRPr sz="800" b="0">
                <a:solidFill>
                  <a:srgbClr val="1E293B"/>
                </a:solidFill>
                <a:latin typeface="Calibri"/>
              </a:defRPr>
            </a:pPr>
            <a:r>
              <a:t>identity.snowflake.com</a:t>
            </a:r>
          </a:p>
        </p:txBody>
      </p:sp>
      <p:sp>
        <p:nvSpPr>
          <p:cNvPr id="14" name="TextBox 13"/>
          <p:cNvSpPr txBox="1"/>
          <p:nvPr/>
        </p:nvSpPr>
        <p:spPr>
          <a:xfrm>
            <a:off x="347472" y="2487930"/>
            <a:ext cx="2011680" cy="137160"/>
          </a:xfrm>
          <a:prstGeom prst="rect">
            <a:avLst/>
          </a:prstGeom>
          <a:noFill/>
        </p:spPr>
        <p:txBody>
          <a:bodyPr wrap="square">
            <a:spAutoFit/>
          </a:bodyPr>
          <a:lstStyle/>
          <a:p>
            <a:pPr algn="l">
              <a:defRPr sz="800" b="0">
                <a:solidFill>
                  <a:srgbClr val="1E293B"/>
                </a:solidFill>
                <a:latin typeface="Calibri"/>
              </a:defRPr>
            </a:pPr>
            <a:r>
              <a:t>/oauth2/callback</a:t>
            </a:r>
          </a:p>
        </p:txBody>
      </p:sp>
      <p:sp>
        <p:nvSpPr>
          <p:cNvPr id="15" name="Right Arrow 14"/>
          <p:cNvSpPr/>
          <p:nvPr/>
        </p:nvSpPr>
        <p:spPr>
          <a:xfrm>
            <a:off x="2468880" y="1691640"/>
            <a:ext cx="137160" cy="109728"/>
          </a:xfrm>
          <a:prstGeom prst="rightArrow">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51760" y="1554480"/>
            <a:ext cx="2148840" cy="41148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97480" y="1572768"/>
            <a:ext cx="2057400" cy="365760"/>
          </a:xfrm>
          <a:prstGeom prst="rect">
            <a:avLst/>
          </a:prstGeom>
          <a:noFill/>
        </p:spPr>
        <p:txBody>
          <a:bodyPr wrap="square">
            <a:spAutoFit/>
          </a:bodyPr>
          <a:lstStyle/>
          <a:p>
            <a:pPr algn="ctr">
              <a:defRPr sz="900" b="1">
                <a:solidFill>
                  <a:srgbClr val="FFFFFF"/>
                </a:solidFill>
                <a:latin typeface="Calibri"/>
              </a:defRPr>
            </a:pPr>
            <a:r>
              <a:t>API Integration</a:t>
            </a:r>
            <a:br/>
            <a:r>
              <a:t>Created</a:t>
            </a:r>
          </a:p>
        </p:txBody>
      </p:sp>
      <p:sp>
        <p:nvSpPr>
          <p:cNvPr id="18" name="Rectangle 17"/>
          <p:cNvSpPr/>
          <p:nvPr/>
        </p:nvSpPr>
        <p:spPr>
          <a:xfrm>
            <a:off x="2651760" y="1984248"/>
            <a:ext cx="2148840" cy="914400"/>
          </a:xfrm>
          <a:prstGeom prst="rect">
            <a:avLst/>
          </a:prstGeom>
          <a:solidFill>
            <a:srgbClr val="F0F2F5"/>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24912" y="2011680"/>
            <a:ext cx="2011680" cy="137160"/>
          </a:xfrm>
          <a:prstGeom prst="rect">
            <a:avLst/>
          </a:prstGeom>
          <a:noFill/>
        </p:spPr>
        <p:txBody>
          <a:bodyPr wrap="square">
            <a:spAutoFit/>
          </a:bodyPr>
          <a:lstStyle/>
          <a:p>
            <a:pPr algn="l">
              <a:defRPr sz="800" b="0">
                <a:solidFill>
                  <a:srgbClr val="1E293B"/>
                </a:solidFill>
                <a:latin typeface="Calibri"/>
              </a:defRPr>
            </a:pPr>
            <a:r>
              <a:t>CREATE API INTEGRATION</a:t>
            </a:r>
          </a:p>
        </p:txBody>
      </p:sp>
      <p:sp>
        <p:nvSpPr>
          <p:cNvPr id="20" name="TextBox 19"/>
          <p:cNvSpPr txBox="1"/>
          <p:nvPr/>
        </p:nvSpPr>
        <p:spPr>
          <a:xfrm>
            <a:off x="2724912" y="2170430"/>
            <a:ext cx="2011680" cy="137160"/>
          </a:xfrm>
          <a:prstGeom prst="rect">
            <a:avLst/>
          </a:prstGeom>
          <a:noFill/>
        </p:spPr>
        <p:txBody>
          <a:bodyPr wrap="square">
            <a:spAutoFit/>
          </a:bodyPr>
          <a:lstStyle/>
          <a:p>
            <a:pPr algn="l">
              <a:defRPr sz="800" b="0">
                <a:solidFill>
                  <a:srgbClr val="1E293B"/>
                </a:solidFill>
                <a:latin typeface="Calibri"/>
              </a:defRPr>
            </a:pPr>
            <a:r>
              <a:t>API_PROVIDER = external_mcp</a:t>
            </a:r>
          </a:p>
        </p:txBody>
      </p:sp>
      <p:sp>
        <p:nvSpPr>
          <p:cNvPr id="21" name="TextBox 20"/>
          <p:cNvSpPr txBox="1"/>
          <p:nvPr/>
        </p:nvSpPr>
        <p:spPr>
          <a:xfrm>
            <a:off x="2724912" y="2329180"/>
            <a:ext cx="2011680" cy="137160"/>
          </a:xfrm>
          <a:prstGeom prst="rect">
            <a:avLst/>
          </a:prstGeom>
          <a:noFill/>
        </p:spPr>
        <p:txBody>
          <a:bodyPr wrap="square">
            <a:spAutoFit/>
          </a:bodyPr>
          <a:lstStyle/>
          <a:p>
            <a:pPr algn="l">
              <a:defRPr sz="800" b="0">
                <a:solidFill>
                  <a:srgbClr val="1E293B"/>
                </a:solidFill>
                <a:latin typeface="Calibri"/>
              </a:defRPr>
            </a:pPr>
            <a:r>
              <a:t>OAUTH_DYNAMIC_CLIENT</a:t>
            </a:r>
          </a:p>
        </p:txBody>
      </p:sp>
      <p:sp>
        <p:nvSpPr>
          <p:cNvPr id="22" name="TextBox 21"/>
          <p:cNvSpPr txBox="1"/>
          <p:nvPr/>
        </p:nvSpPr>
        <p:spPr>
          <a:xfrm>
            <a:off x="2724912" y="2487930"/>
            <a:ext cx="2011680" cy="137160"/>
          </a:xfrm>
          <a:prstGeom prst="rect">
            <a:avLst/>
          </a:prstGeom>
          <a:noFill/>
        </p:spPr>
        <p:txBody>
          <a:bodyPr wrap="square">
            <a:spAutoFit/>
          </a:bodyPr>
          <a:lstStyle/>
          <a:p>
            <a:pPr algn="l">
              <a:defRPr sz="800" b="0">
                <a:solidFill>
                  <a:srgbClr val="1E293B"/>
                </a:solidFill>
                <a:latin typeface="Calibri"/>
              </a:defRPr>
            </a:pPr>
            <a:r>
              <a:t>(DCR - no secrets)</a:t>
            </a:r>
          </a:p>
        </p:txBody>
      </p:sp>
      <p:sp>
        <p:nvSpPr>
          <p:cNvPr id="23" name="Right Arrow 22"/>
          <p:cNvSpPr/>
          <p:nvPr/>
        </p:nvSpPr>
        <p:spPr>
          <a:xfrm>
            <a:off x="4846320" y="1691640"/>
            <a:ext cx="137160" cy="109728"/>
          </a:xfrm>
          <a:prstGeom prst="rightArrow">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0" y="1554480"/>
            <a:ext cx="2148840" cy="411480"/>
          </a:xfrm>
          <a:prstGeom prst="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74920" y="1572768"/>
            <a:ext cx="2057400" cy="365760"/>
          </a:xfrm>
          <a:prstGeom prst="rect">
            <a:avLst/>
          </a:prstGeom>
          <a:noFill/>
        </p:spPr>
        <p:txBody>
          <a:bodyPr wrap="square">
            <a:spAutoFit/>
          </a:bodyPr>
          <a:lstStyle/>
          <a:p>
            <a:pPr algn="ctr">
              <a:defRPr sz="900" b="1">
                <a:solidFill>
                  <a:srgbClr val="FFFFFF"/>
                </a:solidFill>
                <a:latin typeface="Calibri"/>
              </a:defRPr>
            </a:pPr>
            <a:r>
              <a:t>External MCP</a:t>
            </a:r>
            <a:br/>
            <a:r>
              <a:t>Server Created</a:t>
            </a:r>
          </a:p>
        </p:txBody>
      </p:sp>
      <p:sp>
        <p:nvSpPr>
          <p:cNvPr id="26" name="Rectangle 25"/>
          <p:cNvSpPr/>
          <p:nvPr/>
        </p:nvSpPr>
        <p:spPr>
          <a:xfrm>
            <a:off x="5029200" y="1984248"/>
            <a:ext cx="2148840" cy="914400"/>
          </a:xfrm>
          <a:prstGeom prst="rect">
            <a:avLst/>
          </a:prstGeom>
          <a:solidFill>
            <a:srgbClr val="F0F2F5"/>
          </a:solidFill>
          <a:ln w="12700">
            <a:solidFill>
              <a:srgbClr val="6C5C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02352" y="2011680"/>
            <a:ext cx="2011680" cy="137160"/>
          </a:xfrm>
          <a:prstGeom prst="rect">
            <a:avLst/>
          </a:prstGeom>
          <a:noFill/>
        </p:spPr>
        <p:txBody>
          <a:bodyPr wrap="square">
            <a:spAutoFit/>
          </a:bodyPr>
          <a:lstStyle/>
          <a:p>
            <a:pPr algn="l">
              <a:defRPr sz="800" b="0">
                <a:solidFill>
                  <a:srgbClr val="1E293B"/>
                </a:solidFill>
                <a:latin typeface="Calibri"/>
              </a:defRPr>
            </a:pPr>
            <a:r>
              <a:t>CREATE EXTERNAL</a:t>
            </a:r>
          </a:p>
        </p:txBody>
      </p:sp>
      <p:sp>
        <p:nvSpPr>
          <p:cNvPr id="28" name="TextBox 27"/>
          <p:cNvSpPr txBox="1"/>
          <p:nvPr/>
        </p:nvSpPr>
        <p:spPr>
          <a:xfrm>
            <a:off x="5102352" y="2170430"/>
            <a:ext cx="2011680" cy="137160"/>
          </a:xfrm>
          <a:prstGeom prst="rect">
            <a:avLst/>
          </a:prstGeom>
          <a:noFill/>
        </p:spPr>
        <p:txBody>
          <a:bodyPr wrap="square">
            <a:spAutoFit/>
          </a:bodyPr>
          <a:lstStyle/>
          <a:p>
            <a:pPr algn="l">
              <a:defRPr sz="800" b="0">
                <a:solidFill>
                  <a:srgbClr val="1E293B"/>
                </a:solidFill>
                <a:latin typeface="Calibri"/>
              </a:defRPr>
            </a:pPr>
            <a:r>
              <a:t>MCP SERVER</a:t>
            </a:r>
          </a:p>
        </p:txBody>
      </p:sp>
      <p:sp>
        <p:nvSpPr>
          <p:cNvPr id="29" name="TextBox 28"/>
          <p:cNvSpPr txBox="1"/>
          <p:nvPr/>
        </p:nvSpPr>
        <p:spPr>
          <a:xfrm>
            <a:off x="5102352" y="2329180"/>
            <a:ext cx="2011680" cy="137160"/>
          </a:xfrm>
          <a:prstGeom prst="rect">
            <a:avLst/>
          </a:prstGeom>
          <a:noFill/>
        </p:spPr>
        <p:txBody>
          <a:bodyPr wrap="square">
            <a:spAutoFit/>
          </a:bodyPr>
          <a:lstStyle/>
          <a:p>
            <a:pPr algn="l">
              <a:defRPr sz="800" b="0">
                <a:solidFill>
                  <a:srgbClr val="1E293B"/>
                </a:solidFill>
                <a:latin typeface="Calibri"/>
              </a:defRPr>
            </a:pPr>
            <a:r>
              <a:t>URL = mcp.atlassian.com</a:t>
            </a:r>
          </a:p>
        </p:txBody>
      </p:sp>
      <p:sp>
        <p:nvSpPr>
          <p:cNvPr id="30" name="TextBox 29"/>
          <p:cNvSpPr txBox="1"/>
          <p:nvPr/>
        </p:nvSpPr>
        <p:spPr>
          <a:xfrm>
            <a:off x="5102352" y="2487930"/>
            <a:ext cx="2011680" cy="137160"/>
          </a:xfrm>
          <a:prstGeom prst="rect">
            <a:avLst/>
          </a:prstGeom>
          <a:noFill/>
        </p:spPr>
        <p:txBody>
          <a:bodyPr wrap="square">
            <a:spAutoFit/>
          </a:bodyPr>
          <a:lstStyle/>
          <a:p>
            <a:pPr algn="l">
              <a:defRPr sz="800" b="0">
                <a:solidFill>
                  <a:srgbClr val="1E293B"/>
                </a:solidFill>
                <a:latin typeface="Calibri"/>
              </a:defRPr>
            </a:pPr>
            <a:r>
              <a:t>REF → API integration</a:t>
            </a:r>
          </a:p>
        </p:txBody>
      </p:sp>
      <p:sp>
        <p:nvSpPr>
          <p:cNvPr id="31" name="Right Arrow 30"/>
          <p:cNvSpPr/>
          <p:nvPr/>
        </p:nvSpPr>
        <p:spPr>
          <a:xfrm>
            <a:off x="7223760" y="1691640"/>
            <a:ext cx="137160" cy="109728"/>
          </a:xfrm>
          <a:prstGeom prst="rightArrow">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06640" y="1554480"/>
            <a:ext cx="2148840" cy="411480"/>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52360" y="1572768"/>
            <a:ext cx="2057400" cy="365760"/>
          </a:xfrm>
          <a:prstGeom prst="rect">
            <a:avLst/>
          </a:prstGeom>
          <a:noFill/>
        </p:spPr>
        <p:txBody>
          <a:bodyPr wrap="square">
            <a:spAutoFit/>
          </a:bodyPr>
          <a:lstStyle/>
          <a:p>
            <a:pPr algn="ctr">
              <a:defRPr sz="900" b="1">
                <a:solidFill>
                  <a:srgbClr val="FFFFFF"/>
                </a:solidFill>
                <a:latin typeface="Calibri"/>
              </a:defRPr>
            </a:pPr>
            <a:r>
              <a:t>Agent References</a:t>
            </a:r>
            <a:br/>
            <a:r>
              <a:t>MCP Server</a:t>
            </a:r>
          </a:p>
        </p:txBody>
      </p:sp>
      <p:sp>
        <p:nvSpPr>
          <p:cNvPr id="34" name="Rectangle 33"/>
          <p:cNvSpPr/>
          <p:nvPr/>
        </p:nvSpPr>
        <p:spPr>
          <a:xfrm>
            <a:off x="7406640" y="1984248"/>
            <a:ext cx="2148840" cy="914400"/>
          </a:xfrm>
          <a:prstGeom prst="rect">
            <a:avLst/>
          </a:prstGeom>
          <a:solidFill>
            <a:srgbClr val="F0F2F5"/>
          </a:solidFill>
          <a:ln w="12700">
            <a:solidFill>
              <a:srgbClr val="F39C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79792" y="2011680"/>
            <a:ext cx="2011680" cy="137160"/>
          </a:xfrm>
          <a:prstGeom prst="rect">
            <a:avLst/>
          </a:prstGeom>
          <a:noFill/>
        </p:spPr>
        <p:txBody>
          <a:bodyPr wrap="square">
            <a:spAutoFit/>
          </a:bodyPr>
          <a:lstStyle/>
          <a:p>
            <a:pPr algn="l">
              <a:defRPr sz="800" b="0">
                <a:solidFill>
                  <a:srgbClr val="1E293B"/>
                </a:solidFill>
                <a:latin typeface="Calibri"/>
              </a:defRPr>
            </a:pPr>
            <a:r>
              <a:t>Agent spec includes:</a:t>
            </a:r>
          </a:p>
        </p:txBody>
      </p:sp>
      <p:sp>
        <p:nvSpPr>
          <p:cNvPr id="36" name="TextBox 35"/>
          <p:cNvSpPr txBox="1"/>
          <p:nvPr/>
        </p:nvSpPr>
        <p:spPr>
          <a:xfrm>
            <a:off x="7479792" y="2170430"/>
            <a:ext cx="2011680" cy="137160"/>
          </a:xfrm>
          <a:prstGeom prst="rect">
            <a:avLst/>
          </a:prstGeom>
          <a:noFill/>
        </p:spPr>
        <p:txBody>
          <a:bodyPr wrap="square">
            <a:spAutoFit/>
          </a:bodyPr>
          <a:lstStyle/>
          <a:p>
            <a:pPr algn="l">
              <a:defRPr sz="800" b="0">
                <a:solidFill>
                  <a:srgbClr val="1E293B"/>
                </a:solidFill>
                <a:latin typeface="Calibri"/>
              </a:defRPr>
            </a:pPr>
            <a:r>
              <a:t>mcp_servers:</a:t>
            </a:r>
          </a:p>
        </p:txBody>
      </p:sp>
      <p:sp>
        <p:nvSpPr>
          <p:cNvPr id="37" name="TextBox 36"/>
          <p:cNvSpPr txBox="1"/>
          <p:nvPr/>
        </p:nvSpPr>
        <p:spPr>
          <a:xfrm>
            <a:off x="7479792" y="2329180"/>
            <a:ext cx="2011680" cy="137160"/>
          </a:xfrm>
          <a:prstGeom prst="rect">
            <a:avLst/>
          </a:prstGeom>
          <a:noFill/>
        </p:spPr>
        <p:txBody>
          <a:bodyPr wrap="square">
            <a:spAutoFit/>
          </a:bodyPr>
          <a:lstStyle/>
          <a:p>
            <a:pPr algn="l">
              <a:defRPr sz="800" b="0">
                <a:solidFill>
                  <a:srgbClr val="1E293B"/>
                </a:solidFill>
                <a:latin typeface="Calibri"/>
              </a:defRPr>
            </a:pPr>
            <a:r>
              <a:t>  - server_spec:</a:t>
            </a:r>
          </a:p>
        </p:txBody>
      </p:sp>
      <p:sp>
        <p:nvSpPr>
          <p:cNvPr id="38" name="TextBox 37"/>
          <p:cNvSpPr txBox="1"/>
          <p:nvPr/>
        </p:nvSpPr>
        <p:spPr>
          <a:xfrm>
            <a:off x="7479792" y="2487930"/>
            <a:ext cx="2011680" cy="137160"/>
          </a:xfrm>
          <a:prstGeom prst="rect">
            <a:avLst/>
          </a:prstGeom>
          <a:noFill/>
        </p:spPr>
        <p:txBody>
          <a:bodyPr wrap="square">
            <a:spAutoFit/>
          </a:bodyPr>
          <a:lstStyle/>
          <a:p>
            <a:pPr algn="l">
              <a:defRPr sz="800" b="0">
                <a:solidFill>
                  <a:srgbClr val="1E293B"/>
                </a:solidFill>
                <a:latin typeface="Calibri"/>
              </a:defRPr>
            </a:pPr>
            <a:r>
              <a:t>      name: ...MCP_SERVER</a:t>
            </a:r>
          </a:p>
        </p:txBody>
      </p:sp>
      <p:sp>
        <p:nvSpPr>
          <p:cNvPr id="39" name="Right Arrow 38"/>
          <p:cNvSpPr/>
          <p:nvPr/>
        </p:nvSpPr>
        <p:spPr>
          <a:xfrm>
            <a:off x="9601200" y="1691640"/>
            <a:ext cx="137160" cy="109728"/>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84080" y="1554480"/>
            <a:ext cx="2148840" cy="41148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29800" y="1572768"/>
            <a:ext cx="2057400" cy="365760"/>
          </a:xfrm>
          <a:prstGeom prst="rect">
            <a:avLst/>
          </a:prstGeom>
          <a:noFill/>
        </p:spPr>
        <p:txBody>
          <a:bodyPr wrap="square">
            <a:spAutoFit/>
          </a:bodyPr>
          <a:lstStyle/>
          <a:p>
            <a:pPr algn="ctr">
              <a:defRPr sz="900" b="1">
                <a:solidFill>
                  <a:srgbClr val="FFFFFF"/>
                </a:solidFill>
                <a:latin typeface="Calibri"/>
              </a:defRPr>
            </a:pPr>
            <a:r>
              <a:t>User Authenticates</a:t>
            </a:r>
            <a:br/>
            <a:r>
              <a:t>in CoWork</a:t>
            </a:r>
          </a:p>
        </p:txBody>
      </p:sp>
      <p:sp>
        <p:nvSpPr>
          <p:cNvPr id="42" name="Rectangle 41"/>
          <p:cNvSpPr/>
          <p:nvPr/>
        </p:nvSpPr>
        <p:spPr>
          <a:xfrm>
            <a:off x="9784080" y="1984248"/>
            <a:ext cx="2148840" cy="914400"/>
          </a:xfrm>
          <a:prstGeom prst="rect">
            <a:avLst/>
          </a:prstGeom>
          <a:solidFill>
            <a:srgbClr val="F0F2F5"/>
          </a:solidFill>
          <a:ln w="127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57232" y="2011680"/>
            <a:ext cx="2011680" cy="137160"/>
          </a:xfrm>
          <a:prstGeom prst="rect">
            <a:avLst/>
          </a:prstGeom>
          <a:noFill/>
        </p:spPr>
        <p:txBody>
          <a:bodyPr wrap="square">
            <a:spAutoFit/>
          </a:bodyPr>
          <a:lstStyle/>
          <a:p>
            <a:pPr algn="l">
              <a:defRPr sz="800" b="0">
                <a:solidFill>
                  <a:srgbClr val="1E293B"/>
                </a:solidFill>
                <a:latin typeface="Calibri"/>
              </a:defRPr>
            </a:pPr>
            <a:r>
              <a:t>Per-user OAuth</a:t>
            </a:r>
          </a:p>
        </p:txBody>
      </p:sp>
      <p:sp>
        <p:nvSpPr>
          <p:cNvPr id="44" name="TextBox 43"/>
          <p:cNvSpPr txBox="1"/>
          <p:nvPr/>
        </p:nvSpPr>
        <p:spPr>
          <a:xfrm>
            <a:off x="9857232" y="2170430"/>
            <a:ext cx="2011680" cy="137160"/>
          </a:xfrm>
          <a:prstGeom prst="rect">
            <a:avLst/>
          </a:prstGeom>
          <a:noFill/>
        </p:spPr>
        <p:txBody>
          <a:bodyPr wrap="square">
            <a:spAutoFit/>
          </a:bodyPr>
          <a:lstStyle/>
          <a:p>
            <a:pPr algn="l">
              <a:defRPr sz="800" b="0">
                <a:solidFill>
                  <a:srgbClr val="1E293B"/>
                </a:solidFill>
                <a:latin typeface="Calibri"/>
              </a:defRPr>
            </a:pPr>
            <a:r>
              <a:t>Browser popup</a:t>
            </a:r>
          </a:p>
        </p:txBody>
      </p:sp>
      <p:sp>
        <p:nvSpPr>
          <p:cNvPr id="45" name="TextBox 44"/>
          <p:cNvSpPr txBox="1"/>
          <p:nvPr/>
        </p:nvSpPr>
        <p:spPr>
          <a:xfrm>
            <a:off x="9857232" y="2329180"/>
            <a:ext cx="2011680" cy="137160"/>
          </a:xfrm>
          <a:prstGeom prst="rect">
            <a:avLst/>
          </a:prstGeom>
          <a:noFill/>
        </p:spPr>
        <p:txBody>
          <a:bodyPr wrap="square">
            <a:spAutoFit/>
          </a:bodyPr>
          <a:lstStyle/>
          <a:p>
            <a:pPr algn="l">
              <a:defRPr sz="800" b="0">
                <a:solidFill>
                  <a:srgbClr val="1E293B"/>
                </a:solidFill>
                <a:latin typeface="Calibri"/>
              </a:defRPr>
            </a:pPr>
            <a:r>
              <a:t>Token stored per-user</a:t>
            </a:r>
          </a:p>
        </p:txBody>
      </p:sp>
      <p:sp>
        <p:nvSpPr>
          <p:cNvPr id="46" name="TextBox 45"/>
          <p:cNvSpPr txBox="1"/>
          <p:nvPr/>
        </p:nvSpPr>
        <p:spPr>
          <a:xfrm>
            <a:off x="9857232" y="2487930"/>
            <a:ext cx="2011680" cy="137160"/>
          </a:xfrm>
          <a:prstGeom prst="rect">
            <a:avLst/>
          </a:prstGeom>
          <a:noFill/>
        </p:spPr>
        <p:txBody>
          <a:bodyPr wrap="square">
            <a:spAutoFit/>
          </a:bodyPr>
          <a:lstStyle/>
          <a:p>
            <a:pPr algn="l">
              <a:defRPr sz="800" b="0">
                <a:solidFill>
                  <a:srgbClr val="1E293B"/>
                </a:solidFill>
                <a:latin typeface="Calibri"/>
              </a:defRPr>
            </a:pPr>
            <a:r>
              <a:t>Tools discovered</a:t>
            </a:r>
          </a:p>
        </p:txBody>
      </p:sp>
      <p:sp>
        <p:nvSpPr>
          <p:cNvPr id="47" name="TextBox 46"/>
          <p:cNvSpPr txBox="1"/>
          <p:nvPr/>
        </p:nvSpPr>
        <p:spPr>
          <a:xfrm>
            <a:off x="365760" y="3200400"/>
            <a:ext cx="5486400" cy="274320"/>
          </a:xfrm>
          <a:prstGeom prst="rect">
            <a:avLst/>
          </a:prstGeom>
          <a:noFill/>
        </p:spPr>
        <p:txBody>
          <a:bodyPr wrap="square">
            <a:spAutoFit/>
          </a:bodyPr>
          <a:lstStyle/>
          <a:p>
            <a:pPr algn="l">
              <a:defRPr sz="1500" b="1">
                <a:solidFill>
                  <a:srgbClr val="112746"/>
                </a:solidFill>
                <a:latin typeface="Calibri"/>
              </a:defRPr>
            </a:pPr>
            <a:r>
              <a:t>Snowflake CoWork Integration</a:t>
            </a:r>
          </a:p>
        </p:txBody>
      </p:sp>
      <p:sp>
        <p:nvSpPr>
          <p:cNvPr id="48" name="TextBox 47"/>
          <p:cNvSpPr txBox="1"/>
          <p:nvPr/>
        </p:nvSpPr>
        <p:spPr>
          <a:xfrm>
            <a:off x="365760" y="3520440"/>
            <a:ext cx="5029200" cy="274320"/>
          </a:xfrm>
          <a:prstGeom prst="rect">
            <a:avLst/>
          </a:prstGeom>
          <a:noFill/>
        </p:spPr>
        <p:txBody>
          <a:bodyPr wrap="square">
            <a:spAutoFit/>
          </a:bodyPr>
          <a:lstStyle/>
          <a:p>
            <a:pPr algn="l">
              <a:defRPr sz="1200" b="1">
                <a:solidFill>
                  <a:srgbClr val="112746"/>
                </a:solidFill>
                <a:latin typeface="Calibri"/>
              </a:defRPr>
            </a:pPr>
            <a:r>
              <a:t>CoWork Capabilities</a:t>
            </a:r>
          </a:p>
        </p:txBody>
      </p:sp>
      <p:sp>
        <p:nvSpPr>
          <p:cNvPr id="49" name="TextBox 48"/>
          <p:cNvSpPr txBox="1"/>
          <p:nvPr/>
        </p:nvSpPr>
        <p:spPr>
          <a:xfrm>
            <a:off x="365760" y="3794760"/>
            <a:ext cx="5303520" cy="2286000"/>
          </a:xfrm>
          <a:prstGeom prst="rect">
            <a:avLst/>
          </a:prstGeom>
          <a:noFill/>
        </p:spPr>
        <p:txBody>
          <a:bodyPr wrap="square">
            <a:spAutoFit/>
          </a:bodyPr>
          <a:lstStyle/>
          <a:p>
            <a:pPr>
              <a:spcAft>
                <a:spcPts val="500"/>
              </a:spcAft>
            </a:pPr>
            <a:r>
              <a:rPr sz="1100">
                <a:solidFill>
                  <a:srgbClr val="1E293B"/>
                </a:solidFill>
                <a:latin typeface="Calibri"/>
              </a:rPr>
              <a:t>▸  Conversational BI: Business users interact in natural language</a:t>
            </a:r>
          </a:p>
          <a:p>
            <a:pPr>
              <a:spcAft>
                <a:spcPts val="500"/>
              </a:spcAft>
            </a:pPr>
            <a:r>
              <a:rPr sz="1100">
                <a:solidFill>
                  <a:srgbClr val="1E293B"/>
                </a:solidFill>
                <a:latin typeface="Calibri"/>
              </a:rPr>
              <a:t>▸  Agent Selection: Choose domain-specific or unified agent per conversation</a:t>
            </a:r>
          </a:p>
          <a:p>
            <a:pPr>
              <a:spcAft>
                <a:spcPts val="500"/>
              </a:spcAft>
            </a:pPr>
            <a:r>
              <a:rPr sz="1100">
                <a:solidFill>
                  <a:srgbClr val="1E293B"/>
                </a:solidFill>
                <a:latin typeface="Calibri"/>
              </a:rPr>
              <a:t>▸  In-Chat Charts: Data-to-Chart tool renders visualizations inline</a:t>
            </a:r>
          </a:p>
          <a:p>
            <a:pPr>
              <a:spcAft>
                <a:spcPts val="500"/>
              </a:spcAft>
            </a:pPr>
            <a:r>
              <a:rPr sz="1100">
                <a:solidFill>
                  <a:srgbClr val="1E293B"/>
                </a:solidFill>
                <a:latin typeface="Calibri"/>
              </a:rPr>
              <a:t>▸  MCP Authentication: Per-user OAuth flow for Atlassian tools</a:t>
            </a:r>
          </a:p>
          <a:p>
            <a:pPr>
              <a:spcAft>
                <a:spcPts val="500"/>
              </a:spcAft>
            </a:pPr>
            <a:r>
              <a:rPr sz="1100">
                <a:solidFill>
                  <a:srgbClr val="1E293B"/>
                </a:solidFill>
                <a:latin typeface="Calibri"/>
              </a:rPr>
              <a:t>▸  Automated Reports: Schedule recurring insights to email/Slack</a:t>
            </a:r>
          </a:p>
          <a:p>
            <a:pPr>
              <a:spcAft>
                <a:spcPts val="500"/>
              </a:spcAft>
            </a:pPr>
            <a:r>
              <a:rPr sz="1100">
                <a:solidFill>
                  <a:srgbClr val="1E293B"/>
                </a:solidFill>
                <a:latin typeface="Calibri"/>
              </a:rPr>
              <a:t>▸  Artifact Sharing: Share conversations and results across teams</a:t>
            </a:r>
          </a:p>
          <a:p>
            <a:pPr>
              <a:spcAft>
                <a:spcPts val="500"/>
              </a:spcAft>
            </a:pPr>
            <a:r>
              <a:rPr sz="1100">
                <a:solidFill>
                  <a:srgbClr val="1E293B"/>
                </a:solidFill>
                <a:latin typeface="Calibri"/>
              </a:rPr>
              <a:t>▸  Intelligence Object: Account-level registry controls agent visibility</a:t>
            </a:r>
          </a:p>
        </p:txBody>
      </p:sp>
      <p:sp>
        <p:nvSpPr>
          <p:cNvPr id="50" name="TextBox 49"/>
          <p:cNvSpPr txBox="1"/>
          <p:nvPr/>
        </p:nvSpPr>
        <p:spPr>
          <a:xfrm>
            <a:off x="6217920" y="3520440"/>
            <a:ext cx="5486400" cy="274320"/>
          </a:xfrm>
          <a:prstGeom prst="rect">
            <a:avLst/>
          </a:prstGeom>
          <a:noFill/>
        </p:spPr>
        <p:txBody>
          <a:bodyPr wrap="square">
            <a:spAutoFit/>
          </a:bodyPr>
          <a:lstStyle/>
          <a:p>
            <a:pPr algn="l">
              <a:defRPr sz="1200" b="1">
                <a:solidFill>
                  <a:srgbClr val="112746"/>
                </a:solidFill>
                <a:latin typeface="Calibri"/>
              </a:defRPr>
            </a:pPr>
            <a:r>
              <a:t>Example: Insight → Action Flow</a:t>
            </a:r>
          </a:p>
        </p:txBody>
      </p:sp>
      <p:sp>
        <p:nvSpPr>
          <p:cNvPr id="51" name="TextBox 50"/>
          <p:cNvSpPr txBox="1"/>
          <p:nvPr/>
        </p:nvSpPr>
        <p:spPr>
          <a:xfrm>
            <a:off x="6217920" y="3794760"/>
            <a:ext cx="5486400" cy="2743200"/>
          </a:xfrm>
          <a:prstGeom prst="rect">
            <a:avLst/>
          </a:prstGeom>
          <a:noFill/>
        </p:spPr>
        <p:txBody>
          <a:bodyPr wrap="square">
            <a:spAutoFit/>
          </a:bodyPr>
          <a:lstStyle/>
          <a:p>
            <a:pPr>
              <a:spcAft>
                <a:spcPts val="600"/>
              </a:spcAft>
            </a:pPr>
            <a:r>
              <a:rPr sz="1000" b="1">
                <a:solidFill>
                  <a:srgbClr val="1E293B"/>
                </a:solidFill>
                <a:latin typeface="Calibri"/>
              </a:rPr>
              <a:t>1. User asks:</a:t>
            </a:r>
          </a:p>
          <a:p>
            <a:pPr>
              <a:spcAft>
                <a:spcPts val="600"/>
              </a:spcAft>
            </a:pPr>
            <a:r>
              <a:rPr sz="1000" b="0">
                <a:solidFill>
                  <a:srgbClr val="6C5CE7"/>
                </a:solidFill>
                <a:latin typeface="Calibri"/>
              </a:rPr>
              <a:t>   "Which regions have the highest revenue at risk?"</a:t>
            </a:r>
          </a:p>
          <a:p>
            <a:pPr>
              <a:spcAft>
                <a:spcPts val="600"/>
              </a:spcAft>
            </a:pPr>
            <a:r>
              <a:rPr sz="1000" b="0">
                <a:solidFill>
                  <a:srgbClr val="1E293B"/>
                </a:solidFill>
                <a:latin typeface="Calibri"/>
              </a:rPr>
              <a:t>2. Agent routes to: insurance_operations_analyst</a:t>
            </a:r>
          </a:p>
          <a:p>
            <a:pPr>
              <a:spcAft>
                <a:spcPts val="600"/>
              </a:spcAft>
            </a:pPr>
            <a:r>
              <a:rPr sz="1000" b="0">
                <a:solidFill>
                  <a:srgbClr val="1E293B"/>
                </a:solidFill>
                <a:latin typeface="Calibri"/>
              </a:rPr>
              <a:t>3. Cortex Analyst generates SQL from SV_INSURANCE_OPS</a:t>
            </a:r>
          </a:p>
          <a:p>
            <a:pPr>
              <a:spcAft>
                <a:spcPts val="600"/>
              </a:spcAft>
            </a:pPr>
            <a:r>
              <a:rPr sz="1000" b="0">
                <a:solidFill>
                  <a:srgbClr val="2ECC71"/>
                </a:solidFill>
                <a:latin typeface="Calibri"/>
              </a:rPr>
              <a:t>4. Results: Northeast $2.1M, Southeast $1.8M at risk</a:t>
            </a:r>
          </a:p>
          <a:p>
            <a:pPr>
              <a:spcAft>
                <a:spcPts val="600"/>
              </a:spcAft>
            </a:pPr>
            <a:r>
              <a:rPr sz="1000" b="0">
                <a:solidFill>
                  <a:srgbClr val="1E293B"/>
                </a:solidFill>
                <a:latin typeface="Calibri"/>
              </a:rPr>
              <a:t>5. Agent offers: "Create a Jira ticket to review?"</a:t>
            </a:r>
          </a:p>
          <a:p>
            <a:pPr>
              <a:spcAft>
                <a:spcPts val="600"/>
              </a:spcAft>
            </a:pPr>
            <a:r>
              <a:rPr sz="1000" b="0">
                <a:solidFill>
                  <a:srgbClr val="1E293B"/>
                </a:solidFill>
                <a:latin typeface="Calibri"/>
              </a:rPr>
              <a:t>6. User confirms → MCP calls Jira createIssue API</a:t>
            </a:r>
          </a:p>
          <a:p>
            <a:pPr>
              <a:spcAft>
                <a:spcPts val="600"/>
              </a:spcAft>
            </a:pPr>
            <a:r>
              <a:rPr sz="1000" b="1">
                <a:solidFill>
                  <a:srgbClr val="F39C12"/>
                </a:solidFill>
                <a:latin typeface="Calibri"/>
              </a:rPr>
              <a:t>7. Ticket JRA-1234 created with data-backed description</a:t>
            </a:r>
          </a:p>
        </p:txBody>
      </p:sp>
      <p:sp>
        <p:nvSpPr>
          <p:cNvPr id="52" name="Rectangle 51"/>
          <p:cNvSpPr/>
          <p:nvPr/>
        </p:nvSpPr>
        <p:spPr>
          <a:xfrm>
            <a:off x="365760" y="6035040"/>
            <a:ext cx="11430000" cy="457200"/>
          </a:xfrm>
          <a:prstGeom prst="rect">
            <a:avLst/>
          </a:prstGeom>
          <a:solidFill>
            <a:srgbClr val="112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 y="6080760"/>
            <a:ext cx="11064240" cy="365760"/>
          </a:xfrm>
          <a:prstGeom prst="rect">
            <a:avLst/>
          </a:prstGeom>
          <a:noFill/>
        </p:spPr>
        <p:txBody>
          <a:bodyPr wrap="square">
            <a:spAutoFit/>
          </a:bodyPr>
          <a:lstStyle/>
          <a:p>
            <a:pPr algn="l">
              <a:defRPr sz="1100" b="0">
                <a:solidFill>
                  <a:srgbClr val="FFFFFF"/>
                </a:solidFill>
                <a:latin typeface="Calibri"/>
              </a:defRPr>
            </a:pPr>
            <a:r>
              <a:t>Result: Insights become actions. No copy-paste, no context-switching, no manual ticket creation. The AI agent handles the entire workflow from data query to Jira ticket within one conversation.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2600" b="1">
                <a:solidFill>
                  <a:srgbClr val="FFFFFF"/>
                </a:solidFill>
                <a:latin typeface="Calibri"/>
              </a:defRPr>
            </a:pPr>
            <a:r>
              <a:t>Governance &amp; Security Architecture</a:t>
            </a:r>
          </a:p>
        </p:txBody>
      </p:sp>
      <p:sp>
        <p:nvSpPr>
          <p:cNvPr id="4" name="TextBox 3"/>
          <p:cNvSpPr txBox="1"/>
          <p:nvPr/>
        </p:nvSpPr>
        <p:spPr>
          <a:xfrm>
            <a:off x="548640" y="548640"/>
            <a:ext cx="10058400" cy="365760"/>
          </a:xfrm>
          <a:prstGeom prst="rect">
            <a:avLst/>
          </a:prstGeom>
          <a:noFill/>
        </p:spPr>
        <p:txBody>
          <a:bodyPr wrap="square">
            <a:spAutoFit/>
          </a:bodyPr>
          <a:lstStyle/>
          <a:p>
            <a:pPr algn="l">
              <a:defRPr sz="1300" b="0">
                <a:solidFill>
                  <a:srgbClr val="29B5E8"/>
                </a:solidFill>
                <a:latin typeface="Calibri"/>
              </a:defRPr>
            </a:pPr>
            <a:r>
              <a:t>Data protection, access control, and compliance — built in, not bolted on</a:t>
            </a:r>
          </a:p>
        </p:txBody>
      </p:sp>
      <p:sp>
        <p:nvSpPr>
          <p:cNvPr id="5" name="Rectangle 4"/>
          <p:cNvSpPr/>
          <p:nvPr/>
        </p:nvSpPr>
        <p:spPr>
          <a:xfrm>
            <a:off x="0" y="1005840"/>
            <a:ext cx="12191695"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731520" cy="274320"/>
          </a:xfrm>
          <a:prstGeom prst="rect">
            <a:avLst/>
          </a:prstGeom>
          <a:noFill/>
        </p:spPr>
        <p:txBody>
          <a:bodyPr wrap="square">
            <a:spAutoFit/>
          </a:bodyPr>
          <a:lstStyle/>
          <a:p>
            <a:pPr algn="r">
              <a:defRPr sz="900" b="0">
                <a:solidFill>
                  <a:srgbClr val="8A94A6"/>
                </a:solidFill>
                <a:latin typeface="Calibri"/>
              </a:defRPr>
            </a:pPr>
            <a:r>
              <a:t>8/10</a:t>
            </a:r>
          </a:p>
        </p:txBody>
      </p:sp>
      <p:sp>
        <p:nvSpPr>
          <p:cNvPr id="7" name="TextBox 6"/>
          <p:cNvSpPr txBox="1"/>
          <p:nvPr/>
        </p:nvSpPr>
        <p:spPr>
          <a:xfrm>
            <a:off x="365760" y="1234440"/>
            <a:ext cx="5486400" cy="274320"/>
          </a:xfrm>
          <a:prstGeom prst="rect">
            <a:avLst/>
          </a:prstGeom>
          <a:noFill/>
        </p:spPr>
        <p:txBody>
          <a:bodyPr wrap="square">
            <a:spAutoFit/>
          </a:bodyPr>
          <a:lstStyle/>
          <a:p>
            <a:pPr algn="l">
              <a:defRPr sz="1400" b="1">
                <a:solidFill>
                  <a:srgbClr val="112746"/>
                </a:solidFill>
                <a:latin typeface="Calibri"/>
              </a:defRPr>
            </a:pPr>
            <a:r>
              <a:t>RBAC Role Hierarchy (6 Database Roles)</a:t>
            </a:r>
          </a:p>
        </p:txBody>
      </p:sp>
      <p:sp>
        <p:nvSpPr>
          <p:cNvPr id="8" name="Rectangle 7"/>
          <p:cNvSpPr/>
          <p:nvPr/>
        </p:nvSpPr>
        <p:spPr>
          <a:xfrm>
            <a:off x="2743200" y="1554480"/>
            <a:ext cx="2286000" cy="41148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88920" y="1572768"/>
            <a:ext cx="2194560" cy="365760"/>
          </a:xfrm>
          <a:prstGeom prst="rect">
            <a:avLst/>
          </a:prstGeom>
          <a:noFill/>
        </p:spPr>
        <p:txBody>
          <a:bodyPr wrap="square">
            <a:spAutoFit/>
          </a:bodyPr>
          <a:lstStyle/>
          <a:p>
            <a:pPr algn="ctr">
              <a:defRPr sz="900" b="1">
                <a:solidFill>
                  <a:srgbClr val="FFFFFF"/>
                </a:solidFill>
                <a:latin typeface="Calibri"/>
              </a:defRPr>
            </a:pPr>
            <a:r>
              <a:t>INSURANCE_ADMIN_ROLE</a:t>
            </a:r>
            <a:br/>
            <a:r>
              <a:t>Full access + masking bypass</a:t>
            </a:r>
          </a:p>
        </p:txBody>
      </p:sp>
      <p:sp>
        <p:nvSpPr>
          <p:cNvPr id="10" name="Rectangle 9"/>
          <p:cNvSpPr/>
          <p:nvPr/>
        </p:nvSpPr>
        <p:spPr>
          <a:xfrm>
            <a:off x="365760" y="2194560"/>
            <a:ext cx="1920240" cy="411480"/>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212848"/>
            <a:ext cx="1828800" cy="365760"/>
          </a:xfrm>
          <a:prstGeom prst="rect">
            <a:avLst/>
          </a:prstGeom>
          <a:noFill/>
        </p:spPr>
        <p:txBody>
          <a:bodyPr wrap="square">
            <a:spAutoFit/>
          </a:bodyPr>
          <a:lstStyle/>
          <a:p>
            <a:pPr algn="ctr">
              <a:defRPr sz="800" b="1">
                <a:solidFill>
                  <a:srgbClr val="FFFFFF"/>
                </a:solidFill>
                <a:latin typeface="Calibri"/>
              </a:defRPr>
            </a:pPr>
            <a:r>
              <a:t>DATA_STEWARD</a:t>
            </a:r>
            <a:br/>
            <a:r>
              <a:t>DQ schema read</a:t>
            </a:r>
          </a:p>
        </p:txBody>
      </p:sp>
      <p:sp>
        <p:nvSpPr>
          <p:cNvPr id="12" name="Rectangle 11"/>
          <p:cNvSpPr/>
          <p:nvPr/>
        </p:nvSpPr>
        <p:spPr>
          <a:xfrm>
            <a:off x="2468880" y="2194560"/>
            <a:ext cx="1920240" cy="411480"/>
          </a:xfrm>
          <a:prstGeom prst="rect">
            <a:avLst/>
          </a:prstGeom>
          <a:solidFill>
            <a:srgbClr val="112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4600" y="2212848"/>
            <a:ext cx="1828800" cy="365760"/>
          </a:xfrm>
          <a:prstGeom prst="rect">
            <a:avLst/>
          </a:prstGeom>
          <a:noFill/>
        </p:spPr>
        <p:txBody>
          <a:bodyPr wrap="square">
            <a:spAutoFit/>
          </a:bodyPr>
          <a:lstStyle/>
          <a:p>
            <a:pPr algn="ctr">
              <a:defRPr sz="800" b="1">
                <a:solidFill>
                  <a:srgbClr val="FFFFFF"/>
                </a:solidFill>
                <a:latin typeface="Calibri"/>
              </a:defRPr>
            </a:pPr>
            <a:r>
              <a:t>EXEC_ROLE</a:t>
            </a:r>
            <a:br/>
            <a:r>
              <a:t>Analytics read</a:t>
            </a:r>
          </a:p>
        </p:txBody>
      </p:sp>
      <p:sp>
        <p:nvSpPr>
          <p:cNvPr id="14" name="Rectangle 13"/>
          <p:cNvSpPr/>
          <p:nvPr/>
        </p:nvSpPr>
        <p:spPr>
          <a:xfrm>
            <a:off x="4572000" y="2194560"/>
            <a:ext cx="1920240" cy="41148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2212848"/>
            <a:ext cx="1828800" cy="365760"/>
          </a:xfrm>
          <a:prstGeom prst="rect">
            <a:avLst/>
          </a:prstGeom>
          <a:noFill/>
        </p:spPr>
        <p:txBody>
          <a:bodyPr wrap="square">
            <a:spAutoFit/>
          </a:bodyPr>
          <a:lstStyle/>
          <a:p>
            <a:pPr algn="ctr">
              <a:defRPr sz="800" b="1">
                <a:solidFill>
                  <a:srgbClr val="FFFFFF"/>
                </a:solidFill>
                <a:latin typeface="Calibri"/>
              </a:defRPr>
            </a:pPr>
            <a:r>
              <a:t>UW_ROLE</a:t>
            </a:r>
            <a:br/>
            <a:r>
              <a:t>Analytics read</a:t>
            </a:r>
          </a:p>
        </p:txBody>
      </p:sp>
      <p:sp>
        <p:nvSpPr>
          <p:cNvPr id="16" name="Rectangle 15"/>
          <p:cNvSpPr/>
          <p:nvPr/>
        </p:nvSpPr>
        <p:spPr>
          <a:xfrm>
            <a:off x="6675120" y="2194560"/>
            <a:ext cx="1920240" cy="411480"/>
          </a:xfrm>
          <a:prstGeom prst="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2212848"/>
            <a:ext cx="1828800" cy="365760"/>
          </a:xfrm>
          <a:prstGeom prst="rect">
            <a:avLst/>
          </a:prstGeom>
          <a:noFill/>
        </p:spPr>
        <p:txBody>
          <a:bodyPr wrap="square">
            <a:spAutoFit/>
          </a:bodyPr>
          <a:lstStyle/>
          <a:p>
            <a:pPr algn="ctr">
              <a:defRPr sz="800" b="1">
                <a:solidFill>
                  <a:srgbClr val="FFFFFF"/>
                </a:solidFill>
                <a:latin typeface="Calibri"/>
              </a:defRPr>
            </a:pPr>
            <a:r>
              <a:t>CLAIMS_ROLE</a:t>
            </a:r>
            <a:br/>
            <a:r>
              <a:t>Analytics + Docs</a:t>
            </a:r>
          </a:p>
        </p:txBody>
      </p:sp>
      <p:sp>
        <p:nvSpPr>
          <p:cNvPr id="18" name="Down Arrow 17"/>
          <p:cNvSpPr/>
          <p:nvPr/>
        </p:nvSpPr>
        <p:spPr>
          <a:xfrm>
            <a:off x="1280160" y="1984248"/>
            <a:ext cx="137160" cy="182880"/>
          </a:xfrm>
          <a:prstGeom prst="downArrow">
            <a:avLst/>
          </a:prstGeom>
          <a:solidFill>
            <a:srgbClr val="8A9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3383280" y="1984248"/>
            <a:ext cx="137160" cy="182880"/>
          </a:xfrm>
          <a:prstGeom prst="downArrow">
            <a:avLst/>
          </a:prstGeom>
          <a:solidFill>
            <a:srgbClr val="8A9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5486400" y="1984248"/>
            <a:ext cx="137160" cy="182880"/>
          </a:xfrm>
          <a:prstGeom prst="downArrow">
            <a:avLst/>
          </a:prstGeom>
          <a:solidFill>
            <a:srgbClr val="8A9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7589520" y="1984248"/>
            <a:ext cx="137160" cy="182880"/>
          </a:xfrm>
          <a:prstGeom prst="downArrow">
            <a:avLst/>
          </a:prstGeom>
          <a:solidFill>
            <a:srgbClr val="8A9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0" y="2834640"/>
            <a:ext cx="2286000" cy="36576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6120" y="2852928"/>
            <a:ext cx="2194560" cy="320040"/>
          </a:xfrm>
          <a:prstGeom prst="rect">
            <a:avLst/>
          </a:prstGeom>
          <a:noFill/>
        </p:spPr>
        <p:txBody>
          <a:bodyPr wrap="square">
            <a:spAutoFit/>
          </a:bodyPr>
          <a:lstStyle/>
          <a:p>
            <a:pPr algn="ctr">
              <a:defRPr sz="900" b="1">
                <a:solidFill>
                  <a:srgbClr val="FFFFFF"/>
                </a:solidFill>
                <a:latin typeface="Calibri"/>
              </a:defRPr>
            </a:pPr>
            <a:r>
              <a:t>INSURANCE_ANALYST_ROLE</a:t>
            </a:r>
            <a:br/>
            <a:r>
              <a:t>Base read: ANALYTICS only</a:t>
            </a:r>
          </a:p>
        </p:txBody>
      </p:sp>
      <p:sp>
        <p:nvSpPr>
          <p:cNvPr id="24" name="Down Arrow 23"/>
          <p:cNvSpPr/>
          <p:nvPr/>
        </p:nvSpPr>
        <p:spPr>
          <a:xfrm>
            <a:off x="4297680" y="2624328"/>
            <a:ext cx="137160" cy="182880"/>
          </a:xfrm>
          <a:prstGeom prst="downArrow">
            <a:avLst/>
          </a:prstGeom>
          <a:solidFill>
            <a:srgbClr val="8A9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wn Arrow 24"/>
          <p:cNvSpPr/>
          <p:nvPr/>
        </p:nvSpPr>
        <p:spPr>
          <a:xfrm>
            <a:off x="4297680" y="2624328"/>
            <a:ext cx="137160" cy="182880"/>
          </a:xfrm>
          <a:prstGeom prst="downArrow">
            <a:avLst/>
          </a:prstGeom>
          <a:solidFill>
            <a:srgbClr val="8A9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wn Arrow 25"/>
          <p:cNvSpPr/>
          <p:nvPr/>
        </p:nvSpPr>
        <p:spPr>
          <a:xfrm>
            <a:off x="4297680" y="2624328"/>
            <a:ext cx="137160" cy="182880"/>
          </a:xfrm>
          <a:prstGeom prst="downArrow">
            <a:avLst/>
          </a:prstGeom>
          <a:solidFill>
            <a:srgbClr val="8A9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3474720"/>
            <a:ext cx="5486400" cy="274320"/>
          </a:xfrm>
          <a:prstGeom prst="rect">
            <a:avLst/>
          </a:prstGeom>
          <a:noFill/>
        </p:spPr>
        <p:txBody>
          <a:bodyPr wrap="square">
            <a:spAutoFit/>
          </a:bodyPr>
          <a:lstStyle/>
          <a:p>
            <a:pPr algn="l">
              <a:defRPr sz="1400" b="1">
                <a:solidFill>
                  <a:srgbClr val="112746"/>
                </a:solidFill>
                <a:latin typeface="Calibri"/>
              </a:defRPr>
            </a:pPr>
            <a:r>
              <a:t>Dynamic Data Masking</a:t>
            </a:r>
          </a:p>
        </p:txBody>
      </p:sp>
      <p:graphicFrame>
        <p:nvGraphicFramePr>
          <p:cNvPr id="28" name="Table 27"/>
          <p:cNvGraphicFramePr>
            <a:graphicFrameLocks noGrp="1"/>
          </p:cNvGraphicFramePr>
          <p:nvPr/>
        </p:nvGraphicFramePr>
        <p:xfrm>
          <a:off x="365760" y="3749039"/>
          <a:ext cx="5486400" cy="1097280"/>
        </p:xfrm>
        <a:graphic>
          <a:graphicData uri="http://schemas.openxmlformats.org/drawingml/2006/table">
            <a:tbl>
              <a:tblPr firstRow="1" bandRow="1">
                <a:tableStyleId>{5C22544A-7EE6-4342-B048-85BDC9FD1C3A}</a:tableStyleId>
              </a:tblPr>
              <a:tblGrid>
                <a:gridCol w="1097280"/>
                <a:gridCol w="1371600"/>
                <a:gridCol w="731520"/>
                <a:gridCol w="1188720"/>
                <a:gridCol w="1097280"/>
              </a:tblGrid>
              <a:tr h="274320">
                <a:tc>
                  <a:txBody>
                    <a:bodyPr/>
                    <a:lstStyle/>
                    <a:p>
                      <a:pPr>
                        <a:defRPr sz="1000" b="1">
                          <a:solidFill>
                            <a:srgbClr val="FFFFFF"/>
                          </a:solidFill>
                          <a:latin typeface="Calibri"/>
                        </a:defRPr>
                      </a:pPr>
                      <a:r>
                        <a:t>Policy</a:t>
                      </a:r>
                    </a:p>
                  </a:txBody>
                  <a:tcPr anchor="ctr">
                    <a:solidFill>
                      <a:srgbClr val="112746"/>
                    </a:solidFill>
                  </a:tcPr>
                </a:tc>
                <a:tc>
                  <a:txBody>
                    <a:bodyPr/>
                    <a:lstStyle/>
                    <a:p>
                      <a:pPr>
                        <a:defRPr sz="1000" b="1">
                          <a:solidFill>
                            <a:srgbClr val="FFFFFF"/>
                          </a:solidFill>
                          <a:latin typeface="Calibri"/>
                        </a:defRPr>
                      </a:pPr>
                      <a:r>
                        <a:t>Column</a:t>
                      </a:r>
                    </a:p>
                  </a:txBody>
                  <a:tcPr anchor="ctr">
                    <a:solidFill>
                      <a:srgbClr val="112746"/>
                    </a:solidFill>
                  </a:tcPr>
                </a:tc>
                <a:tc>
                  <a:txBody>
                    <a:bodyPr/>
                    <a:lstStyle/>
                    <a:p>
                      <a:pPr>
                        <a:defRPr sz="1000" b="1">
                          <a:solidFill>
                            <a:srgbClr val="FFFFFF"/>
                          </a:solidFill>
                          <a:latin typeface="Calibri"/>
                        </a:defRPr>
                      </a:pPr>
                      <a:r>
                        <a:t>PII Level</a:t>
                      </a:r>
                    </a:p>
                  </a:txBody>
                  <a:tcPr anchor="ctr">
                    <a:solidFill>
                      <a:srgbClr val="112746"/>
                    </a:solidFill>
                  </a:tcPr>
                </a:tc>
                <a:tc>
                  <a:txBody>
                    <a:bodyPr/>
                    <a:lstStyle/>
                    <a:p>
                      <a:pPr>
                        <a:defRPr sz="1000" b="1">
                          <a:solidFill>
                            <a:srgbClr val="FFFFFF"/>
                          </a:solidFill>
                          <a:latin typeface="Calibri"/>
                        </a:defRPr>
                      </a:pPr>
                      <a:r>
                        <a:t>Non-Admin Sees</a:t>
                      </a:r>
                    </a:p>
                  </a:txBody>
                  <a:tcPr anchor="ctr">
                    <a:solidFill>
                      <a:srgbClr val="112746"/>
                    </a:solidFill>
                  </a:tcPr>
                </a:tc>
                <a:tc>
                  <a:txBody>
                    <a:bodyPr/>
                    <a:lstStyle/>
                    <a:p>
                      <a:pPr>
                        <a:defRPr sz="1000" b="1">
                          <a:solidFill>
                            <a:srgbClr val="FFFFFF"/>
                          </a:solidFill>
                          <a:latin typeface="Calibri"/>
                        </a:defRPr>
                      </a:pPr>
                      <a:r>
                        <a:t>Admin Sees</a:t>
                      </a:r>
                    </a:p>
                  </a:txBody>
                  <a:tcPr anchor="ctr">
                    <a:solidFill>
                      <a:srgbClr val="112746"/>
                    </a:solidFill>
                  </a:tcPr>
                </a:tc>
              </a:tr>
              <a:tr h="274320">
                <a:tc>
                  <a:txBody>
                    <a:bodyPr/>
                    <a:lstStyle/>
                    <a:p>
                      <a:pPr>
                        <a:defRPr sz="900">
                          <a:solidFill>
                            <a:srgbClr val="1E293B"/>
                          </a:solidFill>
                          <a:latin typeface="Calibri"/>
                        </a:defRPr>
                      </a:pPr>
                      <a:r>
                        <a:t>MASK_EMAIL</a:t>
                      </a:r>
                    </a:p>
                  </a:txBody>
                  <a:tcPr anchor="ctr">
                    <a:solidFill>
                      <a:srgbClr val="FFFFFF"/>
                    </a:solidFill>
                  </a:tcPr>
                </a:tc>
                <a:tc>
                  <a:txBody>
                    <a:bodyPr/>
                    <a:lstStyle/>
                    <a:p>
                      <a:pPr>
                        <a:defRPr sz="900">
                          <a:solidFill>
                            <a:srgbClr val="1E293B"/>
                          </a:solidFill>
                          <a:latin typeface="Calibri"/>
                        </a:defRPr>
                      </a:pPr>
                      <a:r>
                        <a:t>CUSTOMERS.EMAIL</a:t>
                      </a:r>
                    </a:p>
                  </a:txBody>
                  <a:tcPr anchor="ctr">
                    <a:solidFill>
                      <a:srgbClr val="FFFFFF"/>
                    </a:solidFill>
                  </a:tcPr>
                </a:tc>
                <a:tc>
                  <a:txBody>
                    <a:bodyPr/>
                    <a:lstStyle/>
                    <a:p>
                      <a:pPr>
                        <a:defRPr sz="900">
                          <a:solidFill>
                            <a:srgbClr val="1E293B"/>
                          </a:solidFill>
                          <a:latin typeface="Calibri"/>
                        </a:defRPr>
                      </a:pPr>
                      <a:r>
                        <a:t>HIGH</a:t>
                      </a:r>
                    </a:p>
                  </a:txBody>
                  <a:tcPr anchor="ctr">
                    <a:solidFill>
                      <a:srgbClr val="FFFFFF"/>
                    </a:solidFill>
                  </a:tcPr>
                </a:tc>
                <a:tc>
                  <a:txBody>
                    <a:bodyPr/>
                    <a:lstStyle/>
                    <a:p>
                      <a:pPr>
                        <a:defRPr sz="900">
                          <a:solidFill>
                            <a:srgbClr val="1E293B"/>
                          </a:solidFill>
                          <a:latin typeface="Calibri"/>
                        </a:defRPr>
                      </a:pPr>
                      <a:r>
                        <a:t>ra***@domain.com</a:t>
                      </a:r>
                    </a:p>
                  </a:txBody>
                  <a:tcPr anchor="ctr">
                    <a:solidFill>
                      <a:srgbClr val="FFFFFF"/>
                    </a:solidFill>
                  </a:tcPr>
                </a:tc>
                <a:tc>
                  <a:txBody>
                    <a:bodyPr/>
                    <a:lstStyle/>
                    <a:p>
                      <a:pPr>
                        <a:defRPr sz="900">
                          <a:solidFill>
                            <a:srgbClr val="1E293B"/>
                          </a:solidFill>
                          <a:latin typeface="Calibri"/>
                        </a:defRPr>
                      </a:pPr>
                      <a:r>
                        <a:t>Full email</a:t>
                      </a:r>
                    </a:p>
                  </a:txBody>
                  <a:tcPr anchor="ctr">
                    <a:solidFill>
                      <a:srgbClr val="FFFFFF"/>
                    </a:solidFill>
                  </a:tcPr>
                </a:tc>
              </a:tr>
              <a:tr h="274320">
                <a:tc>
                  <a:txBody>
                    <a:bodyPr/>
                    <a:lstStyle/>
                    <a:p>
                      <a:pPr>
                        <a:defRPr sz="900">
                          <a:solidFill>
                            <a:srgbClr val="1E293B"/>
                          </a:solidFill>
                          <a:latin typeface="Calibri"/>
                        </a:defRPr>
                      </a:pPr>
                      <a:r>
                        <a:t>MASK_PHONE</a:t>
                      </a:r>
                    </a:p>
                  </a:txBody>
                  <a:tcPr anchor="ctr">
                    <a:solidFill>
                      <a:srgbClr val="EEF4FA"/>
                    </a:solidFill>
                  </a:tcPr>
                </a:tc>
                <a:tc>
                  <a:txBody>
                    <a:bodyPr/>
                    <a:lstStyle/>
                    <a:p>
                      <a:pPr>
                        <a:defRPr sz="900">
                          <a:solidFill>
                            <a:srgbClr val="1E293B"/>
                          </a:solidFill>
                          <a:latin typeface="Calibri"/>
                        </a:defRPr>
                      </a:pPr>
                      <a:r>
                        <a:t>CUSTOMERS.PHONE</a:t>
                      </a:r>
                    </a:p>
                  </a:txBody>
                  <a:tcPr anchor="ctr">
                    <a:solidFill>
                      <a:srgbClr val="EEF4FA"/>
                    </a:solidFill>
                  </a:tcPr>
                </a:tc>
                <a:tc>
                  <a:txBody>
                    <a:bodyPr/>
                    <a:lstStyle/>
                    <a:p>
                      <a:pPr>
                        <a:defRPr sz="900">
                          <a:solidFill>
                            <a:srgbClr val="1E293B"/>
                          </a:solidFill>
                          <a:latin typeface="Calibri"/>
                        </a:defRPr>
                      </a:pPr>
                      <a:r>
                        <a:t>HIGH</a:t>
                      </a:r>
                    </a:p>
                  </a:txBody>
                  <a:tcPr anchor="ctr">
                    <a:solidFill>
                      <a:srgbClr val="EEF4FA"/>
                    </a:solidFill>
                  </a:tcPr>
                </a:tc>
                <a:tc>
                  <a:txBody>
                    <a:bodyPr/>
                    <a:lstStyle/>
                    <a:p>
                      <a:pPr>
                        <a:defRPr sz="900">
                          <a:solidFill>
                            <a:srgbClr val="1E293B"/>
                          </a:solidFill>
                          <a:latin typeface="Calibri"/>
                        </a:defRPr>
                      </a:pPr>
                      <a:r>
                        <a:t>***-****</a:t>
                      </a:r>
                    </a:p>
                  </a:txBody>
                  <a:tcPr anchor="ctr">
                    <a:solidFill>
                      <a:srgbClr val="EEF4FA"/>
                    </a:solidFill>
                  </a:tcPr>
                </a:tc>
                <a:tc>
                  <a:txBody>
                    <a:bodyPr/>
                    <a:lstStyle/>
                    <a:p>
                      <a:pPr>
                        <a:defRPr sz="900">
                          <a:solidFill>
                            <a:srgbClr val="1E293B"/>
                          </a:solidFill>
                          <a:latin typeface="Calibri"/>
                        </a:defRPr>
                      </a:pPr>
                      <a:r>
                        <a:t>Full phone</a:t>
                      </a:r>
                    </a:p>
                  </a:txBody>
                  <a:tcPr anchor="ctr">
                    <a:solidFill>
                      <a:srgbClr val="EEF4FA"/>
                    </a:solidFill>
                  </a:tcPr>
                </a:tc>
              </a:tr>
              <a:tr h="274320">
                <a:tc>
                  <a:txBody>
                    <a:bodyPr/>
                    <a:lstStyle/>
                    <a:p>
                      <a:pPr>
                        <a:defRPr sz="900">
                          <a:solidFill>
                            <a:srgbClr val="1E293B"/>
                          </a:solidFill>
                          <a:latin typeface="Calibri"/>
                        </a:defRPr>
                      </a:pPr>
                      <a:r>
                        <a:t>MASK_ADDRESS</a:t>
                      </a:r>
                    </a:p>
                  </a:txBody>
                  <a:tcPr anchor="ctr">
                    <a:solidFill>
                      <a:srgbClr val="FFFFFF"/>
                    </a:solidFill>
                  </a:tcPr>
                </a:tc>
                <a:tc>
                  <a:txBody>
                    <a:bodyPr/>
                    <a:lstStyle/>
                    <a:p>
                      <a:pPr>
                        <a:defRPr sz="900">
                          <a:solidFill>
                            <a:srgbClr val="1E293B"/>
                          </a:solidFill>
                          <a:latin typeface="Calibri"/>
                        </a:defRPr>
                      </a:pPr>
                      <a:r>
                        <a:t>CUSTOMERS.ADDRESS</a:t>
                      </a:r>
                    </a:p>
                  </a:txBody>
                  <a:tcPr anchor="ctr">
                    <a:solidFill>
                      <a:srgbClr val="FFFFFF"/>
                    </a:solidFill>
                  </a:tcPr>
                </a:tc>
                <a:tc>
                  <a:txBody>
                    <a:bodyPr/>
                    <a:lstStyle/>
                    <a:p>
                      <a:pPr>
                        <a:defRPr sz="900">
                          <a:solidFill>
                            <a:srgbClr val="1E293B"/>
                          </a:solidFill>
                          <a:latin typeface="Calibri"/>
                        </a:defRPr>
                      </a:pPr>
                      <a:r>
                        <a:t>HIGH</a:t>
                      </a:r>
                    </a:p>
                  </a:txBody>
                  <a:tcPr anchor="ctr">
                    <a:solidFill>
                      <a:srgbClr val="FFFFFF"/>
                    </a:solidFill>
                  </a:tcPr>
                </a:tc>
                <a:tc>
                  <a:txBody>
                    <a:bodyPr/>
                    <a:lstStyle/>
                    <a:p>
                      <a:pPr>
                        <a:defRPr sz="900">
                          <a:solidFill>
                            <a:srgbClr val="1E293B"/>
                          </a:solidFill>
                          <a:latin typeface="Calibri"/>
                        </a:defRPr>
                      </a:pPr>
                      <a:r>
                        <a:t>*** REDACTED ***</a:t>
                      </a:r>
                    </a:p>
                  </a:txBody>
                  <a:tcPr anchor="ctr">
                    <a:solidFill>
                      <a:srgbClr val="FFFFFF"/>
                    </a:solidFill>
                  </a:tcPr>
                </a:tc>
                <a:tc>
                  <a:txBody>
                    <a:bodyPr/>
                    <a:lstStyle/>
                    <a:p>
                      <a:pPr>
                        <a:defRPr sz="900">
                          <a:solidFill>
                            <a:srgbClr val="1E293B"/>
                          </a:solidFill>
                          <a:latin typeface="Calibri"/>
                        </a:defRPr>
                      </a:pPr>
                      <a:r>
                        <a:t>Full address</a:t>
                      </a:r>
                    </a:p>
                  </a:txBody>
                  <a:tcPr anchor="ctr">
                    <a:solidFill>
                      <a:srgbClr val="FFFFFF"/>
                    </a:solidFill>
                  </a:tcPr>
                </a:tc>
              </a:tr>
            </a:tbl>
          </a:graphicData>
        </a:graphic>
      </p:graphicFrame>
      <p:sp>
        <p:nvSpPr>
          <p:cNvPr id="29" name="TextBox 28"/>
          <p:cNvSpPr txBox="1"/>
          <p:nvPr/>
        </p:nvSpPr>
        <p:spPr>
          <a:xfrm>
            <a:off x="6400800" y="3474720"/>
            <a:ext cx="5486400" cy="274320"/>
          </a:xfrm>
          <a:prstGeom prst="rect">
            <a:avLst/>
          </a:prstGeom>
          <a:noFill/>
        </p:spPr>
        <p:txBody>
          <a:bodyPr wrap="square">
            <a:spAutoFit/>
          </a:bodyPr>
          <a:lstStyle/>
          <a:p>
            <a:pPr algn="l">
              <a:defRPr sz="1400" b="1">
                <a:solidFill>
                  <a:srgbClr val="112746"/>
                </a:solidFill>
                <a:latin typeface="Calibri"/>
              </a:defRPr>
            </a:pPr>
            <a:r>
              <a:t>Governance Tags</a:t>
            </a:r>
          </a:p>
        </p:txBody>
      </p:sp>
      <p:graphicFrame>
        <p:nvGraphicFramePr>
          <p:cNvPr id="30" name="Table 29"/>
          <p:cNvGraphicFramePr>
            <a:graphicFrameLocks noGrp="1"/>
          </p:cNvGraphicFramePr>
          <p:nvPr/>
        </p:nvGraphicFramePr>
        <p:xfrm>
          <a:off x="6400800" y="3749039"/>
          <a:ext cx="5486400" cy="822960"/>
        </p:xfrm>
        <a:graphic>
          <a:graphicData uri="http://schemas.openxmlformats.org/drawingml/2006/table">
            <a:tbl>
              <a:tblPr firstRow="1" bandRow="1">
                <a:tableStyleId>{5C22544A-7EE6-4342-B048-85BDC9FD1C3A}</a:tableStyleId>
              </a:tblPr>
              <a:tblGrid>
                <a:gridCol w="1371600"/>
                <a:gridCol w="2286000"/>
                <a:gridCol w="1828800"/>
              </a:tblGrid>
              <a:tr h="274320">
                <a:tc>
                  <a:txBody>
                    <a:bodyPr/>
                    <a:lstStyle/>
                    <a:p>
                      <a:pPr>
                        <a:defRPr sz="1000" b="1">
                          <a:solidFill>
                            <a:srgbClr val="FFFFFF"/>
                          </a:solidFill>
                          <a:latin typeface="Calibri"/>
                        </a:defRPr>
                      </a:pPr>
                      <a:r>
                        <a:t>Tag</a:t>
                      </a:r>
                    </a:p>
                  </a:txBody>
                  <a:tcPr anchor="ctr">
                    <a:solidFill>
                      <a:srgbClr val="112746"/>
                    </a:solidFill>
                  </a:tcPr>
                </a:tc>
                <a:tc>
                  <a:txBody>
                    <a:bodyPr/>
                    <a:lstStyle/>
                    <a:p>
                      <a:pPr>
                        <a:defRPr sz="1000" b="1">
                          <a:solidFill>
                            <a:srgbClr val="FFFFFF"/>
                          </a:solidFill>
                          <a:latin typeface="Calibri"/>
                        </a:defRPr>
                      </a:pPr>
                      <a:r>
                        <a:t>Values</a:t>
                      </a:r>
                    </a:p>
                  </a:txBody>
                  <a:tcPr anchor="ctr">
                    <a:solidFill>
                      <a:srgbClr val="112746"/>
                    </a:solidFill>
                  </a:tcPr>
                </a:tc>
                <a:tc>
                  <a:txBody>
                    <a:bodyPr/>
                    <a:lstStyle/>
                    <a:p>
                      <a:pPr>
                        <a:defRPr sz="1000" b="1">
                          <a:solidFill>
                            <a:srgbClr val="FFFFFF"/>
                          </a:solidFill>
                          <a:latin typeface="Calibri"/>
                        </a:defRPr>
                      </a:pPr>
                      <a:r>
                        <a:t>Applied To</a:t>
                      </a:r>
                    </a:p>
                  </a:txBody>
                  <a:tcPr anchor="ctr">
                    <a:solidFill>
                      <a:srgbClr val="112746"/>
                    </a:solidFill>
                  </a:tcPr>
                </a:tc>
              </a:tr>
              <a:tr h="274320">
                <a:tc>
                  <a:txBody>
                    <a:bodyPr/>
                    <a:lstStyle/>
                    <a:p>
                      <a:pPr>
                        <a:defRPr sz="900">
                          <a:solidFill>
                            <a:srgbClr val="1E293B"/>
                          </a:solidFill>
                          <a:latin typeface="Calibri"/>
                        </a:defRPr>
                      </a:pPr>
                      <a:r>
                        <a:t>PII_LEVEL</a:t>
                      </a:r>
                    </a:p>
                  </a:txBody>
                  <a:tcPr anchor="ctr">
                    <a:solidFill>
                      <a:srgbClr val="FFFFFF"/>
                    </a:solidFill>
                  </a:tcPr>
                </a:tc>
                <a:tc>
                  <a:txBody>
                    <a:bodyPr/>
                    <a:lstStyle/>
                    <a:p>
                      <a:pPr>
                        <a:defRPr sz="900">
                          <a:solidFill>
                            <a:srgbClr val="1E293B"/>
                          </a:solidFill>
                          <a:latin typeface="Calibri"/>
                        </a:defRPr>
                      </a:pPr>
                      <a:r>
                        <a:t>HIGH, MEDIUM, LOW, NONE</a:t>
                      </a:r>
                    </a:p>
                  </a:txBody>
                  <a:tcPr anchor="ctr">
                    <a:solidFill>
                      <a:srgbClr val="FFFFFF"/>
                    </a:solidFill>
                  </a:tcPr>
                </a:tc>
                <a:tc>
                  <a:txBody>
                    <a:bodyPr/>
                    <a:lstStyle/>
                    <a:p>
                      <a:pPr>
                        <a:defRPr sz="900">
                          <a:solidFill>
                            <a:srgbClr val="1E293B"/>
                          </a:solidFill>
                          <a:latin typeface="Calibri"/>
                        </a:defRPr>
                      </a:pPr>
                      <a:r>
                        <a:t>EMAIL, PHONE, ADDRESS, DOB</a:t>
                      </a:r>
                    </a:p>
                  </a:txBody>
                  <a:tcPr anchor="ctr">
                    <a:solidFill>
                      <a:srgbClr val="FFFFFF"/>
                    </a:solidFill>
                  </a:tcPr>
                </a:tc>
              </a:tr>
              <a:tr h="274320">
                <a:tc>
                  <a:txBody>
                    <a:bodyPr/>
                    <a:lstStyle/>
                    <a:p>
                      <a:pPr>
                        <a:defRPr sz="900">
                          <a:solidFill>
                            <a:srgbClr val="1E293B"/>
                          </a:solidFill>
                          <a:latin typeface="Calibri"/>
                        </a:defRPr>
                      </a:pPr>
                      <a:r>
                        <a:t>BUSINESS_DOMAIN</a:t>
                      </a:r>
                    </a:p>
                  </a:txBody>
                  <a:tcPr anchor="ctr">
                    <a:solidFill>
                      <a:srgbClr val="EEF4FA"/>
                    </a:solidFill>
                  </a:tcPr>
                </a:tc>
                <a:tc>
                  <a:txBody>
                    <a:bodyPr/>
                    <a:lstStyle/>
                    <a:p>
                      <a:pPr>
                        <a:defRPr sz="900">
                          <a:solidFill>
                            <a:srgbClr val="1E293B"/>
                          </a:solidFill>
                          <a:latin typeface="Calibri"/>
                        </a:defRPr>
                      </a:pPr>
                      <a:r>
                        <a:t>CUSTOMER, POLICY, CLAIMS,</a:t>
                      </a:r>
                    </a:p>
                    <a:p>
                      <a:pPr>
                        <a:defRPr sz="900">
                          <a:solidFill>
                            <a:srgbClr val="1E293B"/>
                          </a:solidFill>
                          <a:latin typeface="Calibri"/>
                        </a:defRPr>
                      </a:pPr>
                      <a:r>
                        <a:t>BILLING, RISK, DOCUMENTS, DQ</a:t>
                      </a:r>
                    </a:p>
                  </a:txBody>
                  <a:tcPr anchor="ctr">
                    <a:solidFill>
                      <a:srgbClr val="EEF4FA"/>
                    </a:solidFill>
                  </a:tcPr>
                </a:tc>
                <a:tc>
                  <a:txBody>
                    <a:bodyPr/>
                    <a:lstStyle/>
                    <a:p>
                      <a:pPr>
                        <a:defRPr sz="900">
                          <a:solidFill>
                            <a:srgbClr val="1E293B"/>
                          </a:solidFill>
                          <a:latin typeface="Calibri"/>
                        </a:defRPr>
                      </a:pPr>
                      <a:r>
                        <a:t>All 18 tables</a:t>
                      </a:r>
                    </a:p>
                  </a:txBody>
                  <a:tcPr anchor="ctr">
                    <a:solidFill>
                      <a:srgbClr val="EEF4FA"/>
                    </a:solidFill>
                  </a:tcPr>
                </a:tc>
              </a:tr>
            </a:tbl>
          </a:graphicData>
        </a:graphic>
      </p:graphicFrame>
      <p:sp>
        <p:nvSpPr>
          <p:cNvPr id="31" name="Rectangle 30"/>
          <p:cNvSpPr/>
          <p:nvPr/>
        </p:nvSpPr>
        <p:spPr>
          <a:xfrm>
            <a:off x="365760" y="5212080"/>
            <a:ext cx="11430000" cy="1188720"/>
          </a:xfrm>
          <a:prstGeom prst="rect">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257800"/>
            <a:ext cx="10972800" cy="274320"/>
          </a:xfrm>
          <a:prstGeom prst="rect">
            <a:avLst/>
          </a:prstGeom>
          <a:noFill/>
        </p:spPr>
        <p:txBody>
          <a:bodyPr wrap="square">
            <a:spAutoFit/>
          </a:bodyPr>
          <a:lstStyle/>
          <a:p>
            <a:pPr algn="l">
              <a:defRPr sz="1300" b="1">
                <a:solidFill>
                  <a:srgbClr val="112746"/>
                </a:solidFill>
                <a:latin typeface="Calibri"/>
              </a:defRPr>
            </a:pPr>
            <a:r>
              <a:t>Security Architecture Highlights</a:t>
            </a:r>
          </a:p>
        </p:txBody>
      </p:sp>
      <p:sp>
        <p:nvSpPr>
          <p:cNvPr id="33" name="TextBox 32"/>
          <p:cNvSpPr txBox="1"/>
          <p:nvPr/>
        </p:nvSpPr>
        <p:spPr>
          <a:xfrm>
            <a:off x="548640" y="5532120"/>
            <a:ext cx="10972800" cy="914400"/>
          </a:xfrm>
          <a:prstGeom prst="rect">
            <a:avLst/>
          </a:prstGeom>
          <a:noFill/>
        </p:spPr>
        <p:txBody>
          <a:bodyPr wrap="square">
            <a:spAutoFit/>
          </a:bodyPr>
          <a:lstStyle/>
          <a:p>
            <a:pPr>
              <a:spcAft>
                <a:spcPts val="300"/>
              </a:spcAft>
            </a:pPr>
            <a:r>
              <a:rPr sz="1000">
                <a:solidFill>
                  <a:srgbClr val="1E293B"/>
                </a:solidFill>
                <a:latin typeface="Calibri"/>
              </a:rPr>
              <a:t>▸  Masking enforced at query time via IS_DATABASE_ROLE_IN_SESSION() — no data duplication</a:t>
            </a:r>
          </a:p>
          <a:p>
            <a:pPr>
              <a:spcAft>
                <a:spcPts val="300"/>
              </a:spcAft>
            </a:pPr>
            <a:r>
              <a:rPr sz="1000">
                <a:solidFill>
                  <a:srgbClr val="1E293B"/>
                </a:solidFill>
                <a:latin typeface="Calibri"/>
              </a:rPr>
              <a:t>▸  Tags applied at CREATE TABLE time — governance is structural, not an afterthought</a:t>
            </a:r>
          </a:p>
          <a:p>
            <a:pPr>
              <a:spcAft>
                <a:spcPts val="300"/>
              </a:spcAft>
            </a:pPr>
            <a:r>
              <a:rPr sz="1000">
                <a:solidFill>
                  <a:srgbClr val="1E293B"/>
                </a:solidFill>
                <a:latin typeface="Calibri"/>
              </a:rPr>
              <a:t>▸  MCP OAuth tokens stored server-side per user — never reach the browser client</a:t>
            </a:r>
          </a:p>
          <a:p>
            <a:pPr>
              <a:spcAft>
                <a:spcPts val="300"/>
              </a:spcAft>
            </a:pPr>
            <a:r>
              <a:rPr sz="1000">
                <a:solidFill>
                  <a:srgbClr val="1E293B"/>
                </a:solidFill>
                <a:latin typeface="Calibri"/>
              </a:rPr>
              <a:t>▸  Agent responses grounded in tool results — prevents LLM hallucination by design</a:t>
            </a:r>
          </a:p>
          <a:p>
            <a:pPr>
              <a:spcAft>
                <a:spcPts val="300"/>
              </a:spcAft>
            </a:pPr>
            <a:r>
              <a:rPr sz="1000">
                <a:solidFill>
                  <a:srgbClr val="1E293B"/>
                </a:solidFill>
                <a:latin typeface="Calibri"/>
              </a:rPr>
              <a:t>▸  CoWork Intelligence Object controls agent visibility — not all users see all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2600" b="1">
                <a:solidFill>
                  <a:srgbClr val="FFFFFF"/>
                </a:solidFill>
                <a:latin typeface="Calibri"/>
              </a:defRPr>
            </a:pPr>
            <a:r>
              <a:t>KPIs &amp; Business Value Delivered</a:t>
            </a:r>
          </a:p>
        </p:txBody>
      </p:sp>
      <p:sp>
        <p:nvSpPr>
          <p:cNvPr id="4" name="TextBox 3"/>
          <p:cNvSpPr txBox="1"/>
          <p:nvPr/>
        </p:nvSpPr>
        <p:spPr>
          <a:xfrm>
            <a:off x="548640" y="548640"/>
            <a:ext cx="10058400" cy="365760"/>
          </a:xfrm>
          <a:prstGeom prst="rect">
            <a:avLst/>
          </a:prstGeom>
          <a:noFill/>
        </p:spPr>
        <p:txBody>
          <a:bodyPr wrap="square">
            <a:spAutoFit/>
          </a:bodyPr>
          <a:lstStyle/>
          <a:p>
            <a:pPr algn="l">
              <a:defRPr sz="1300" b="0">
                <a:solidFill>
                  <a:srgbClr val="29B5E8"/>
                </a:solidFill>
                <a:latin typeface="Calibri"/>
              </a:defRPr>
            </a:pPr>
            <a:r>
              <a:t>6 analytical domains with 30+ measurable business metrics</a:t>
            </a:r>
          </a:p>
        </p:txBody>
      </p:sp>
      <p:sp>
        <p:nvSpPr>
          <p:cNvPr id="5" name="Rectangle 4"/>
          <p:cNvSpPr/>
          <p:nvPr/>
        </p:nvSpPr>
        <p:spPr>
          <a:xfrm>
            <a:off x="0" y="1005840"/>
            <a:ext cx="12191695"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731520" cy="274320"/>
          </a:xfrm>
          <a:prstGeom prst="rect">
            <a:avLst/>
          </a:prstGeom>
          <a:noFill/>
        </p:spPr>
        <p:txBody>
          <a:bodyPr wrap="square">
            <a:spAutoFit/>
          </a:bodyPr>
          <a:lstStyle/>
          <a:p>
            <a:pPr algn="r">
              <a:defRPr sz="900" b="0">
                <a:solidFill>
                  <a:srgbClr val="8A94A6"/>
                </a:solidFill>
                <a:latin typeface="Calibri"/>
              </a:defRPr>
            </a:pPr>
            <a:r>
              <a:t>9/10</a:t>
            </a:r>
          </a:p>
        </p:txBody>
      </p:sp>
      <p:sp>
        <p:nvSpPr>
          <p:cNvPr id="7" name="Rectangle 6"/>
          <p:cNvSpPr/>
          <p:nvPr/>
        </p:nvSpPr>
        <p:spPr>
          <a:xfrm>
            <a:off x="274320" y="1234440"/>
            <a:ext cx="3657600" cy="2057400"/>
          </a:xfrm>
          <a:prstGeom prst="rect">
            <a:avLst/>
          </a:prstGeom>
          <a:solidFill>
            <a:srgbClr val="FFFFFF"/>
          </a:solidFill>
          <a:ln w="12700">
            <a:solidFill>
              <a:srgbClr val="F0F2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234440"/>
            <a:ext cx="3657600" cy="508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61440"/>
            <a:ext cx="3383280" cy="365760"/>
          </a:xfrm>
          <a:prstGeom prst="rect">
            <a:avLst/>
          </a:prstGeom>
          <a:noFill/>
        </p:spPr>
        <p:txBody>
          <a:bodyPr wrap="square">
            <a:spAutoFit/>
          </a:bodyPr>
          <a:lstStyle/>
          <a:p>
            <a:pPr algn="l">
              <a:defRPr sz="1200" b="1">
                <a:solidFill>
                  <a:srgbClr val="112746"/>
                </a:solidFill>
                <a:latin typeface="Calibri"/>
              </a:defRPr>
            </a:pPr>
            <a:r>
              <a:t>Underwriting</a:t>
            </a:r>
            <a:br/>
            <a:r>
              <a:t>&amp; Portfolio</a:t>
            </a:r>
          </a:p>
        </p:txBody>
      </p:sp>
      <p:sp>
        <p:nvSpPr>
          <p:cNvPr id="10" name="TextBox 9"/>
          <p:cNvSpPr txBox="1"/>
          <p:nvPr/>
        </p:nvSpPr>
        <p:spPr>
          <a:xfrm>
            <a:off x="411480" y="1742440"/>
            <a:ext cx="3383280" cy="1463040"/>
          </a:xfrm>
          <a:prstGeom prst="rect">
            <a:avLst/>
          </a:prstGeom>
          <a:noFill/>
        </p:spPr>
        <p:txBody>
          <a:bodyPr wrap="square">
            <a:spAutoFit/>
          </a:bodyPr>
          <a:lstStyle/>
          <a:p>
            <a:pPr>
              <a:spcAft>
                <a:spcPts val="400"/>
              </a:spcAft>
            </a:pPr>
            <a:r>
              <a:rPr sz="1000">
                <a:solidFill>
                  <a:srgbClr val="1E293B"/>
                </a:solidFill>
                <a:latin typeface="Calibri"/>
              </a:rPr>
              <a:t>●  Premium revenue by type/tier</a:t>
            </a:r>
          </a:p>
          <a:p>
            <a:pPr>
              <a:spcAft>
                <a:spcPts val="400"/>
              </a:spcAft>
            </a:pPr>
            <a:r>
              <a:rPr sz="1000">
                <a:solidFill>
                  <a:srgbClr val="1E293B"/>
                </a:solidFill>
                <a:latin typeface="Calibri"/>
              </a:rPr>
              <a:t>●  Active policy distribution</a:t>
            </a:r>
          </a:p>
          <a:p>
            <a:pPr>
              <a:spcAft>
                <a:spcPts val="400"/>
              </a:spcAft>
            </a:pPr>
            <a:r>
              <a:rPr sz="1000">
                <a:solidFill>
                  <a:srgbClr val="1E293B"/>
                </a:solidFill>
                <a:latin typeface="Calibri"/>
              </a:rPr>
              <a:t>●  Loss ratio by product line</a:t>
            </a:r>
          </a:p>
          <a:p>
            <a:pPr>
              <a:spcAft>
                <a:spcPts val="400"/>
              </a:spcAft>
            </a:pPr>
            <a:r>
              <a:rPr sz="1000">
                <a:solidFill>
                  <a:srgbClr val="1E293B"/>
                </a:solidFill>
                <a:latin typeface="Calibri"/>
              </a:rPr>
              <a:t>●  Coverage &amp; deductible analysis</a:t>
            </a:r>
          </a:p>
        </p:txBody>
      </p:sp>
      <p:sp>
        <p:nvSpPr>
          <p:cNvPr id="11" name="Rectangle 10"/>
          <p:cNvSpPr/>
          <p:nvPr/>
        </p:nvSpPr>
        <p:spPr>
          <a:xfrm>
            <a:off x="4114800" y="1234440"/>
            <a:ext cx="3657600" cy="2057400"/>
          </a:xfrm>
          <a:prstGeom prst="rect">
            <a:avLst/>
          </a:prstGeom>
          <a:solidFill>
            <a:srgbClr val="FFFFFF"/>
          </a:solidFill>
          <a:ln w="12700">
            <a:solidFill>
              <a:srgbClr val="F0F2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0" y="1234440"/>
            <a:ext cx="3657600" cy="50800"/>
          </a:xfrm>
          <a:prstGeom prst="rect">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1361440"/>
            <a:ext cx="3383280" cy="365760"/>
          </a:xfrm>
          <a:prstGeom prst="rect">
            <a:avLst/>
          </a:prstGeom>
          <a:noFill/>
        </p:spPr>
        <p:txBody>
          <a:bodyPr wrap="square">
            <a:spAutoFit/>
          </a:bodyPr>
          <a:lstStyle/>
          <a:p>
            <a:pPr algn="l">
              <a:defRPr sz="1200" b="1">
                <a:solidFill>
                  <a:srgbClr val="112746"/>
                </a:solidFill>
                <a:latin typeface="Calibri"/>
              </a:defRPr>
            </a:pPr>
            <a:r>
              <a:t>Claims</a:t>
            </a:r>
            <a:br/>
            <a:r>
              <a:t>Operations</a:t>
            </a:r>
          </a:p>
        </p:txBody>
      </p:sp>
      <p:sp>
        <p:nvSpPr>
          <p:cNvPr id="14" name="TextBox 13"/>
          <p:cNvSpPr txBox="1"/>
          <p:nvPr/>
        </p:nvSpPr>
        <p:spPr>
          <a:xfrm>
            <a:off x="4251960" y="1742440"/>
            <a:ext cx="3383280" cy="1463040"/>
          </a:xfrm>
          <a:prstGeom prst="rect">
            <a:avLst/>
          </a:prstGeom>
          <a:noFill/>
        </p:spPr>
        <p:txBody>
          <a:bodyPr wrap="square">
            <a:spAutoFit/>
          </a:bodyPr>
          <a:lstStyle/>
          <a:p>
            <a:pPr>
              <a:spcAft>
                <a:spcPts val="400"/>
              </a:spcAft>
            </a:pPr>
            <a:r>
              <a:rPr sz="1000">
                <a:solidFill>
                  <a:srgbClr val="1E293B"/>
                </a:solidFill>
                <a:latin typeface="Calibri"/>
              </a:rPr>
              <a:t>●  Claims volume by status/region</a:t>
            </a:r>
          </a:p>
          <a:p>
            <a:pPr>
              <a:spcAft>
                <a:spcPts val="400"/>
              </a:spcAft>
            </a:pPr>
            <a:r>
              <a:rPr sz="1000">
                <a:solidFill>
                  <a:srgbClr val="1E293B"/>
                </a:solidFill>
                <a:latin typeface="Calibri"/>
              </a:rPr>
              <a:t>●  Avg resolution time by adjuster</a:t>
            </a:r>
          </a:p>
          <a:p>
            <a:pPr>
              <a:spcAft>
                <a:spcPts val="400"/>
              </a:spcAft>
            </a:pPr>
            <a:r>
              <a:rPr sz="1000">
                <a:solidFill>
                  <a:srgbClr val="1E293B"/>
                </a:solidFill>
                <a:latin typeface="Calibri"/>
              </a:rPr>
              <a:t>●  Submitted vs approved amounts</a:t>
            </a:r>
          </a:p>
          <a:p>
            <a:pPr>
              <a:spcAft>
                <a:spcPts val="400"/>
              </a:spcAft>
            </a:pPr>
            <a:r>
              <a:rPr sz="1000">
                <a:solidFill>
                  <a:srgbClr val="1E293B"/>
                </a:solidFill>
                <a:latin typeface="Calibri"/>
              </a:rPr>
              <a:t>●  Adjuster workload balance</a:t>
            </a:r>
          </a:p>
        </p:txBody>
      </p:sp>
      <p:sp>
        <p:nvSpPr>
          <p:cNvPr id="15" name="Rectangle 14"/>
          <p:cNvSpPr/>
          <p:nvPr/>
        </p:nvSpPr>
        <p:spPr>
          <a:xfrm>
            <a:off x="7955279" y="1234440"/>
            <a:ext cx="3657600" cy="2057400"/>
          </a:xfrm>
          <a:prstGeom prst="rect">
            <a:avLst/>
          </a:prstGeom>
          <a:solidFill>
            <a:srgbClr val="FFFFFF"/>
          </a:solidFill>
          <a:ln w="12700">
            <a:solidFill>
              <a:srgbClr val="F0F2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55279" y="1234440"/>
            <a:ext cx="3657600" cy="508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39" y="1361440"/>
            <a:ext cx="3383280" cy="365760"/>
          </a:xfrm>
          <a:prstGeom prst="rect">
            <a:avLst/>
          </a:prstGeom>
          <a:noFill/>
        </p:spPr>
        <p:txBody>
          <a:bodyPr wrap="square">
            <a:spAutoFit/>
          </a:bodyPr>
          <a:lstStyle/>
          <a:p>
            <a:pPr algn="l">
              <a:defRPr sz="1200" b="1">
                <a:solidFill>
                  <a:srgbClr val="112746"/>
                </a:solidFill>
                <a:latin typeface="Calibri"/>
              </a:defRPr>
            </a:pPr>
            <a:r>
              <a:t>Fraud</a:t>
            </a:r>
            <a:br/>
            <a:r>
              <a:t>Intelligence</a:t>
            </a:r>
          </a:p>
        </p:txBody>
      </p:sp>
      <p:sp>
        <p:nvSpPr>
          <p:cNvPr id="18" name="TextBox 17"/>
          <p:cNvSpPr txBox="1"/>
          <p:nvPr/>
        </p:nvSpPr>
        <p:spPr>
          <a:xfrm>
            <a:off x="8092439" y="1742440"/>
            <a:ext cx="3383280" cy="1463040"/>
          </a:xfrm>
          <a:prstGeom prst="rect">
            <a:avLst/>
          </a:prstGeom>
          <a:noFill/>
        </p:spPr>
        <p:txBody>
          <a:bodyPr wrap="square">
            <a:spAutoFit/>
          </a:bodyPr>
          <a:lstStyle/>
          <a:p>
            <a:pPr>
              <a:spcAft>
                <a:spcPts val="400"/>
              </a:spcAft>
            </a:pPr>
            <a:r>
              <a:rPr sz="1000">
                <a:solidFill>
                  <a:srgbClr val="1E293B"/>
                </a:solidFill>
                <a:latin typeface="Calibri"/>
              </a:rPr>
              <a:t>●  High-risk claims (score &gt; 0.7)</a:t>
            </a:r>
          </a:p>
          <a:p>
            <a:pPr>
              <a:spcAft>
                <a:spcPts val="400"/>
              </a:spcAft>
            </a:pPr>
            <a:r>
              <a:rPr sz="1000">
                <a:solidFill>
                  <a:srgbClr val="1E293B"/>
                </a:solidFill>
                <a:latin typeface="Calibri"/>
              </a:rPr>
              <a:t>●  Total fraud exposure amount</a:t>
            </a:r>
          </a:p>
          <a:p>
            <a:pPr>
              <a:spcAft>
                <a:spcPts val="400"/>
              </a:spcAft>
            </a:pPr>
            <a:r>
              <a:rPr sz="1000">
                <a:solidFill>
                  <a:srgbClr val="1E293B"/>
                </a:solidFill>
                <a:latin typeface="Calibri"/>
              </a:rPr>
              <a:t>●  Fraud flag prevalence rate</a:t>
            </a:r>
          </a:p>
          <a:p>
            <a:pPr>
              <a:spcAft>
                <a:spcPts val="400"/>
              </a:spcAft>
            </a:pPr>
            <a:r>
              <a:rPr sz="1000">
                <a:solidFill>
                  <a:srgbClr val="1E293B"/>
                </a:solidFill>
                <a:latin typeface="Calibri"/>
              </a:rPr>
              <a:t>●  Risk category distribution</a:t>
            </a:r>
          </a:p>
        </p:txBody>
      </p:sp>
      <p:sp>
        <p:nvSpPr>
          <p:cNvPr id="19" name="Rectangle 18"/>
          <p:cNvSpPr/>
          <p:nvPr/>
        </p:nvSpPr>
        <p:spPr>
          <a:xfrm>
            <a:off x="274320" y="3566160"/>
            <a:ext cx="3657600" cy="2057400"/>
          </a:xfrm>
          <a:prstGeom prst="rect">
            <a:avLst/>
          </a:prstGeom>
          <a:solidFill>
            <a:srgbClr val="FFFFFF"/>
          </a:solidFill>
          <a:ln w="12700">
            <a:solidFill>
              <a:srgbClr val="F0F2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3566160"/>
            <a:ext cx="3657600" cy="508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3693160"/>
            <a:ext cx="3383280" cy="365760"/>
          </a:xfrm>
          <a:prstGeom prst="rect">
            <a:avLst/>
          </a:prstGeom>
          <a:noFill/>
        </p:spPr>
        <p:txBody>
          <a:bodyPr wrap="square">
            <a:spAutoFit/>
          </a:bodyPr>
          <a:lstStyle/>
          <a:p>
            <a:pPr algn="l">
              <a:defRPr sz="1200" b="1">
                <a:solidFill>
                  <a:srgbClr val="112746"/>
                </a:solidFill>
                <a:latin typeface="Calibri"/>
              </a:defRPr>
            </a:pPr>
            <a:r>
              <a:t>Retention</a:t>
            </a:r>
            <a:br/>
            <a:r>
              <a:t>&amp; Churn</a:t>
            </a:r>
          </a:p>
        </p:txBody>
      </p:sp>
      <p:sp>
        <p:nvSpPr>
          <p:cNvPr id="22" name="TextBox 21"/>
          <p:cNvSpPr txBox="1"/>
          <p:nvPr/>
        </p:nvSpPr>
        <p:spPr>
          <a:xfrm>
            <a:off x="411480" y="4074160"/>
            <a:ext cx="3383280" cy="1463040"/>
          </a:xfrm>
          <a:prstGeom prst="rect">
            <a:avLst/>
          </a:prstGeom>
          <a:noFill/>
        </p:spPr>
        <p:txBody>
          <a:bodyPr wrap="square">
            <a:spAutoFit/>
          </a:bodyPr>
          <a:lstStyle/>
          <a:p>
            <a:pPr>
              <a:spcAft>
                <a:spcPts val="400"/>
              </a:spcAft>
            </a:pPr>
            <a:r>
              <a:rPr sz="1000">
                <a:solidFill>
                  <a:srgbClr val="1E293B"/>
                </a:solidFill>
                <a:latin typeface="Calibri"/>
              </a:rPr>
              <a:t>●  Revenue at risk by segment</a:t>
            </a:r>
          </a:p>
          <a:p>
            <a:pPr>
              <a:spcAft>
                <a:spcPts val="400"/>
              </a:spcAft>
            </a:pPr>
            <a:r>
              <a:rPr sz="1000">
                <a:solidFill>
                  <a:srgbClr val="1E293B"/>
                </a:solidFill>
                <a:latin typeface="Calibri"/>
              </a:rPr>
              <a:t>●  Churn probability trends</a:t>
            </a:r>
          </a:p>
          <a:p>
            <a:pPr>
              <a:spcAft>
                <a:spcPts val="400"/>
              </a:spcAft>
            </a:pPr>
            <a:r>
              <a:rPr sz="1000">
                <a:solidFill>
                  <a:srgbClr val="1E293B"/>
                </a:solidFill>
                <a:latin typeface="Calibri"/>
              </a:rPr>
              <a:t>●  At-risk by risk category</a:t>
            </a:r>
          </a:p>
          <a:p>
            <a:pPr>
              <a:spcAft>
                <a:spcPts val="400"/>
              </a:spcAft>
            </a:pPr>
            <a:r>
              <a:rPr sz="1000">
                <a:solidFill>
                  <a:srgbClr val="1E293B"/>
                </a:solidFill>
                <a:latin typeface="Calibri"/>
              </a:rPr>
              <a:t>●  Complaints &amp; missed payments</a:t>
            </a:r>
          </a:p>
        </p:txBody>
      </p:sp>
      <p:sp>
        <p:nvSpPr>
          <p:cNvPr id="23" name="Rectangle 22"/>
          <p:cNvSpPr/>
          <p:nvPr/>
        </p:nvSpPr>
        <p:spPr>
          <a:xfrm>
            <a:off x="4114800" y="3566160"/>
            <a:ext cx="3657600" cy="2057400"/>
          </a:xfrm>
          <a:prstGeom prst="rect">
            <a:avLst/>
          </a:prstGeom>
          <a:solidFill>
            <a:srgbClr val="FFFFFF"/>
          </a:solidFill>
          <a:ln w="12700">
            <a:solidFill>
              <a:srgbClr val="F0F2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0" y="3566160"/>
            <a:ext cx="3657600" cy="508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51960" y="3693160"/>
            <a:ext cx="3383280" cy="365760"/>
          </a:xfrm>
          <a:prstGeom prst="rect">
            <a:avLst/>
          </a:prstGeom>
          <a:noFill/>
        </p:spPr>
        <p:txBody>
          <a:bodyPr wrap="square">
            <a:spAutoFit/>
          </a:bodyPr>
          <a:lstStyle/>
          <a:p>
            <a:pPr algn="l">
              <a:defRPr sz="1200" b="1">
                <a:solidFill>
                  <a:srgbClr val="112746"/>
                </a:solidFill>
                <a:latin typeface="Calibri"/>
              </a:defRPr>
            </a:pPr>
            <a:r>
              <a:t>Competitive</a:t>
            </a:r>
            <a:br/>
            <a:r>
              <a:t>Pricing</a:t>
            </a:r>
          </a:p>
        </p:txBody>
      </p:sp>
      <p:sp>
        <p:nvSpPr>
          <p:cNvPr id="26" name="TextBox 25"/>
          <p:cNvSpPr txBox="1"/>
          <p:nvPr/>
        </p:nvSpPr>
        <p:spPr>
          <a:xfrm>
            <a:off x="4251960" y="4074160"/>
            <a:ext cx="3383280" cy="1463040"/>
          </a:xfrm>
          <a:prstGeom prst="rect">
            <a:avLst/>
          </a:prstGeom>
          <a:noFill/>
        </p:spPr>
        <p:txBody>
          <a:bodyPr wrap="square">
            <a:spAutoFit/>
          </a:bodyPr>
          <a:lstStyle/>
          <a:p>
            <a:pPr>
              <a:spcAft>
                <a:spcPts val="400"/>
              </a:spcAft>
            </a:pPr>
            <a:r>
              <a:rPr sz="1000">
                <a:solidFill>
                  <a:srgbClr val="1E293B"/>
                </a:solidFill>
                <a:latin typeface="Calibri"/>
              </a:rPr>
              <a:t>●  Price ratio vs competitors</a:t>
            </a:r>
          </a:p>
          <a:p>
            <a:pPr>
              <a:spcAft>
                <a:spcPts val="400"/>
              </a:spcAft>
            </a:pPr>
            <a:r>
              <a:rPr sz="1000">
                <a:solidFill>
                  <a:srgbClr val="1E293B"/>
                </a:solidFill>
                <a:latin typeface="Calibri"/>
              </a:rPr>
              <a:t>●  Market share by product</a:t>
            </a:r>
          </a:p>
          <a:p>
            <a:pPr>
              <a:spcAft>
                <a:spcPts val="400"/>
              </a:spcAft>
            </a:pPr>
            <a:r>
              <a:rPr sz="1000">
                <a:solidFill>
                  <a:srgbClr val="1E293B"/>
                </a:solidFill>
                <a:latin typeface="Calibri"/>
              </a:rPr>
              <a:t>●  Overpriced region detection</a:t>
            </a:r>
          </a:p>
          <a:p>
            <a:pPr>
              <a:spcAft>
                <a:spcPts val="400"/>
              </a:spcAft>
            </a:pPr>
            <a:r>
              <a:rPr sz="1000">
                <a:solidFill>
                  <a:srgbClr val="1E293B"/>
                </a:solidFill>
                <a:latin typeface="Calibri"/>
              </a:rPr>
              <a:t>●  Scenario revenue impact</a:t>
            </a:r>
          </a:p>
        </p:txBody>
      </p:sp>
      <p:sp>
        <p:nvSpPr>
          <p:cNvPr id="27" name="Rectangle 26"/>
          <p:cNvSpPr/>
          <p:nvPr/>
        </p:nvSpPr>
        <p:spPr>
          <a:xfrm>
            <a:off x="7955279" y="3566160"/>
            <a:ext cx="3657600" cy="2057400"/>
          </a:xfrm>
          <a:prstGeom prst="rect">
            <a:avLst/>
          </a:prstGeom>
          <a:solidFill>
            <a:srgbClr val="FFFFFF"/>
          </a:solidFill>
          <a:ln w="12700">
            <a:solidFill>
              <a:srgbClr val="F0F2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55279" y="3566160"/>
            <a:ext cx="3657600" cy="508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92439" y="3693160"/>
            <a:ext cx="3383280" cy="365760"/>
          </a:xfrm>
          <a:prstGeom prst="rect">
            <a:avLst/>
          </a:prstGeom>
          <a:noFill/>
        </p:spPr>
        <p:txBody>
          <a:bodyPr wrap="square">
            <a:spAutoFit/>
          </a:bodyPr>
          <a:lstStyle/>
          <a:p>
            <a:pPr algn="l">
              <a:defRPr sz="1200" b="1">
                <a:solidFill>
                  <a:srgbClr val="112746"/>
                </a:solidFill>
                <a:latin typeface="Calibri"/>
              </a:defRPr>
            </a:pPr>
            <a:r>
              <a:t>Data</a:t>
            </a:r>
            <a:br/>
            <a:r>
              <a:t>Quality</a:t>
            </a:r>
          </a:p>
        </p:txBody>
      </p:sp>
      <p:sp>
        <p:nvSpPr>
          <p:cNvPr id="30" name="TextBox 29"/>
          <p:cNvSpPr txBox="1"/>
          <p:nvPr/>
        </p:nvSpPr>
        <p:spPr>
          <a:xfrm>
            <a:off x="8092439" y="4074160"/>
            <a:ext cx="3383280" cy="1463040"/>
          </a:xfrm>
          <a:prstGeom prst="rect">
            <a:avLst/>
          </a:prstGeom>
          <a:noFill/>
        </p:spPr>
        <p:txBody>
          <a:bodyPr wrap="square">
            <a:spAutoFit/>
          </a:bodyPr>
          <a:lstStyle/>
          <a:p>
            <a:pPr>
              <a:spcAft>
                <a:spcPts val="400"/>
              </a:spcAft>
            </a:pPr>
            <a:r>
              <a:rPr sz="1000">
                <a:solidFill>
                  <a:srgbClr val="1E293B"/>
                </a:solidFill>
                <a:latin typeface="Calibri"/>
              </a:rPr>
              <a:t>●  Table composite DQ scores</a:t>
            </a:r>
          </a:p>
          <a:p>
            <a:pPr>
              <a:spcAft>
                <a:spcPts val="400"/>
              </a:spcAft>
            </a:pPr>
            <a:r>
              <a:rPr sz="1000">
                <a:solidFill>
                  <a:srgbClr val="1E293B"/>
                </a:solidFill>
                <a:latin typeface="Calibri"/>
              </a:rPr>
              <a:t>●  50 rules, 8 quality dimensions</a:t>
            </a:r>
          </a:p>
          <a:p>
            <a:pPr>
              <a:spcAft>
                <a:spcPts val="400"/>
              </a:spcAft>
            </a:pPr>
            <a:r>
              <a:rPr sz="1000">
                <a:solidFill>
                  <a:srgbClr val="1E293B"/>
                </a:solidFill>
                <a:latin typeface="Calibri"/>
              </a:rPr>
              <a:t>●  Column health monitoring</a:t>
            </a:r>
          </a:p>
          <a:p>
            <a:pPr>
              <a:spcAft>
                <a:spcPts val="400"/>
              </a:spcAft>
            </a:pPr>
            <a:r>
              <a:rPr sz="1000">
                <a:solidFill>
                  <a:srgbClr val="1E293B"/>
                </a:solidFill>
                <a:latin typeface="Calibri"/>
              </a:rPr>
              <a:t>●  Weekly trend (UP/DOWN/STABLE)</a:t>
            </a:r>
          </a:p>
        </p:txBody>
      </p:sp>
      <p:sp>
        <p:nvSpPr>
          <p:cNvPr id="31" name="Rectangle 30"/>
          <p:cNvSpPr/>
          <p:nvPr/>
        </p:nvSpPr>
        <p:spPr>
          <a:xfrm>
            <a:off x="274320" y="5806440"/>
            <a:ext cx="11612880" cy="640080"/>
          </a:xfrm>
          <a:prstGeom prst="rect">
            <a:avLst/>
          </a:prstGeom>
          <a:solidFill>
            <a:srgbClr val="112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852160"/>
            <a:ext cx="11247120" cy="548640"/>
          </a:xfrm>
          <a:prstGeom prst="rect">
            <a:avLst/>
          </a:prstGeom>
          <a:noFill/>
        </p:spPr>
        <p:txBody>
          <a:bodyPr wrap="square">
            <a:spAutoFit/>
          </a:bodyPr>
          <a:lstStyle/>
          <a:p>
            <a:pPr algn="l">
              <a:defRPr sz="1100" b="0">
                <a:solidFill>
                  <a:srgbClr val="FFFFFF"/>
                </a:solidFill>
                <a:latin typeface="Calibri"/>
              </a:defRPr>
            </a:pPr>
            <a:r>
              <a:t>Business Impact: Executives get real-time answers to complex cross-domain questions in seconds. Claims managers identify fraud patterns instantly. Pricing analysts compare to competitors with one question. Data stewards monitor quality without writing SQL. All with full governance and audit trails.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12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9144000" cy="457200"/>
          </a:xfrm>
          <a:prstGeom prst="rect">
            <a:avLst/>
          </a:prstGeom>
          <a:noFill/>
        </p:spPr>
        <p:txBody>
          <a:bodyPr wrap="square">
            <a:spAutoFit/>
          </a:bodyPr>
          <a:lstStyle/>
          <a:p>
            <a:pPr algn="l">
              <a:defRPr sz="2600" b="1">
                <a:solidFill>
                  <a:srgbClr val="FFFFFF"/>
                </a:solidFill>
                <a:latin typeface="Calibri"/>
              </a:defRPr>
            </a:pPr>
            <a:r>
              <a:t>Summary &amp; Next Steps</a:t>
            </a:r>
          </a:p>
        </p:txBody>
      </p:sp>
      <p:sp>
        <p:nvSpPr>
          <p:cNvPr id="4" name="TextBox 3"/>
          <p:cNvSpPr txBox="1"/>
          <p:nvPr/>
        </p:nvSpPr>
        <p:spPr>
          <a:xfrm>
            <a:off x="548640" y="548640"/>
            <a:ext cx="10058400" cy="365760"/>
          </a:xfrm>
          <a:prstGeom prst="rect">
            <a:avLst/>
          </a:prstGeom>
          <a:noFill/>
        </p:spPr>
        <p:txBody>
          <a:bodyPr wrap="square">
            <a:spAutoFit/>
          </a:bodyPr>
          <a:lstStyle/>
          <a:p>
            <a:pPr algn="l">
              <a:defRPr sz="1300" b="0">
                <a:solidFill>
                  <a:srgbClr val="29B5E8"/>
                </a:solidFill>
                <a:latin typeface="Calibri"/>
              </a:defRPr>
            </a:pPr>
            <a:r>
              <a:t>Production readiness and expansion roadmap</a:t>
            </a:r>
          </a:p>
        </p:txBody>
      </p:sp>
      <p:sp>
        <p:nvSpPr>
          <p:cNvPr id="5" name="Rectangle 4"/>
          <p:cNvSpPr/>
          <p:nvPr/>
        </p:nvSpPr>
        <p:spPr>
          <a:xfrm>
            <a:off x="0" y="1005840"/>
            <a:ext cx="12191695" cy="38100"/>
          </a:xfrm>
          <a:prstGeom prst="rect">
            <a:avLst/>
          </a:prstGeom>
          <a:solidFill>
            <a:srgbClr val="29B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0" y="6446520"/>
            <a:ext cx="731520" cy="274320"/>
          </a:xfrm>
          <a:prstGeom prst="rect">
            <a:avLst/>
          </a:prstGeom>
          <a:noFill/>
        </p:spPr>
        <p:txBody>
          <a:bodyPr wrap="square">
            <a:spAutoFit/>
          </a:bodyPr>
          <a:lstStyle/>
          <a:p>
            <a:pPr algn="r">
              <a:defRPr sz="900" b="0">
                <a:solidFill>
                  <a:srgbClr val="8A94A6"/>
                </a:solidFill>
                <a:latin typeface="Calibri"/>
              </a:defRPr>
            </a:pPr>
            <a:r>
              <a:t>10/10</a:t>
            </a:r>
          </a:p>
        </p:txBody>
      </p:sp>
      <p:sp>
        <p:nvSpPr>
          <p:cNvPr id="7" name="TextBox 6"/>
          <p:cNvSpPr txBox="1"/>
          <p:nvPr/>
        </p:nvSpPr>
        <p:spPr>
          <a:xfrm>
            <a:off x="457200" y="1234440"/>
            <a:ext cx="5029200" cy="274320"/>
          </a:xfrm>
          <a:prstGeom prst="rect">
            <a:avLst/>
          </a:prstGeom>
          <a:noFill/>
        </p:spPr>
        <p:txBody>
          <a:bodyPr wrap="square">
            <a:spAutoFit/>
          </a:bodyPr>
          <a:lstStyle/>
          <a:p>
            <a:pPr algn="l">
              <a:defRPr sz="1600" b="1">
                <a:solidFill>
                  <a:srgbClr val="112746"/>
                </a:solidFill>
                <a:latin typeface="Calibri"/>
              </a:defRPr>
            </a:pPr>
            <a:r>
              <a:t>What We Built</a:t>
            </a:r>
          </a:p>
        </p:txBody>
      </p:sp>
      <p:sp>
        <p:nvSpPr>
          <p:cNvPr id="8" name="TextBox 7"/>
          <p:cNvSpPr txBox="1"/>
          <p:nvPr/>
        </p:nvSpPr>
        <p:spPr>
          <a:xfrm>
            <a:off x="457200" y="1554480"/>
            <a:ext cx="5303520" cy="3200400"/>
          </a:xfrm>
          <a:prstGeom prst="rect">
            <a:avLst/>
          </a:prstGeom>
          <a:noFill/>
        </p:spPr>
        <p:txBody>
          <a:bodyPr wrap="square">
            <a:spAutoFit/>
          </a:bodyPr>
          <a:lstStyle/>
          <a:p>
            <a:pPr>
              <a:spcAft>
                <a:spcPts val="500"/>
              </a:spcAft>
            </a:pPr>
            <a:r>
              <a:rPr sz="1100">
                <a:solidFill>
                  <a:srgbClr val="1B5E20"/>
                </a:solidFill>
                <a:latin typeface="Calibri"/>
              </a:rPr>
              <a:t>✓  18 governed tables across 3 schemas with PII protection</a:t>
            </a:r>
          </a:p>
          <a:p>
            <a:pPr>
              <a:spcAft>
                <a:spcPts val="500"/>
              </a:spcAft>
            </a:pPr>
            <a:r>
              <a:rPr sz="1100">
                <a:solidFill>
                  <a:srgbClr val="1B5E20"/>
                </a:solidFill>
                <a:latin typeface="Calibri"/>
              </a:rPr>
              <a:t>✓  5 Semantic Views with 25+ Verified Queries for accurate NL-to-SQL</a:t>
            </a:r>
          </a:p>
          <a:p>
            <a:pPr>
              <a:spcAft>
                <a:spcPts val="500"/>
              </a:spcAft>
            </a:pPr>
            <a:r>
              <a:rPr sz="1100">
                <a:solidFill>
                  <a:srgbClr val="1B5E20"/>
                </a:solidFill>
                <a:latin typeface="Calibri"/>
              </a:rPr>
              <a:t>✓  5 Cortex Agents covering 6 analytical domains</a:t>
            </a:r>
          </a:p>
          <a:p>
            <a:pPr>
              <a:spcAft>
                <a:spcPts val="500"/>
              </a:spcAft>
            </a:pPr>
            <a:r>
              <a:rPr sz="1100">
                <a:solidFill>
                  <a:srgbClr val="1B5E20"/>
                </a:solidFill>
                <a:latin typeface="Calibri"/>
              </a:rPr>
              <a:t>✓  RAG-based document search (Arctic Embed M v1.5, 768-dim vectors)</a:t>
            </a:r>
          </a:p>
          <a:p>
            <a:pPr>
              <a:spcAft>
                <a:spcPts val="500"/>
              </a:spcAft>
            </a:pPr>
            <a:r>
              <a:rPr sz="1100">
                <a:solidFill>
                  <a:srgbClr val="1B5E20"/>
                </a:solidFill>
                <a:latin typeface="Calibri"/>
              </a:rPr>
              <a:t>✓  Atlassian MCP connector for Jira ticket creation from insights</a:t>
            </a:r>
          </a:p>
          <a:p>
            <a:pPr>
              <a:spcAft>
                <a:spcPts val="500"/>
              </a:spcAft>
            </a:pPr>
            <a:r>
              <a:rPr sz="1100">
                <a:solidFill>
                  <a:srgbClr val="1B5E20"/>
                </a:solidFill>
                <a:latin typeface="Calibri"/>
              </a:rPr>
              <a:t>✓  Snowflake CoWork integration for business-user conversations</a:t>
            </a:r>
          </a:p>
          <a:p>
            <a:pPr>
              <a:spcAft>
                <a:spcPts val="500"/>
              </a:spcAft>
            </a:pPr>
            <a:r>
              <a:rPr sz="1100">
                <a:solidFill>
                  <a:srgbClr val="1B5E20"/>
                </a:solidFill>
                <a:latin typeface="Calibri"/>
              </a:rPr>
              <a:t>✓  6 hierarchical RBAC roles with 3 dynamic masking policies</a:t>
            </a:r>
          </a:p>
          <a:p>
            <a:pPr>
              <a:spcAft>
                <a:spcPts val="500"/>
              </a:spcAft>
            </a:pPr>
            <a:r>
              <a:rPr sz="1100">
                <a:solidFill>
                  <a:srgbClr val="1B5E20"/>
                </a:solidFill>
                <a:latin typeface="Calibri"/>
              </a:rPr>
              <a:t>✓  React dashboard (9 pages) with Cortex Agent API integration</a:t>
            </a:r>
          </a:p>
          <a:p>
            <a:pPr>
              <a:spcAft>
                <a:spcPts val="500"/>
              </a:spcAft>
            </a:pPr>
            <a:r>
              <a:rPr sz="1100">
                <a:solidFill>
                  <a:srgbClr val="1B5E20"/>
                </a:solidFill>
                <a:latin typeface="Calibri"/>
              </a:rPr>
              <a:t>✓  CI/CD pipeline (GitHub Actions) for automated deployment</a:t>
            </a:r>
          </a:p>
        </p:txBody>
      </p:sp>
      <p:sp>
        <p:nvSpPr>
          <p:cNvPr id="9" name="TextBox 8"/>
          <p:cNvSpPr txBox="1"/>
          <p:nvPr/>
        </p:nvSpPr>
        <p:spPr>
          <a:xfrm>
            <a:off x="6217920" y="1234440"/>
            <a:ext cx="5029200" cy="274320"/>
          </a:xfrm>
          <a:prstGeom prst="rect">
            <a:avLst/>
          </a:prstGeom>
          <a:noFill/>
        </p:spPr>
        <p:txBody>
          <a:bodyPr wrap="square">
            <a:spAutoFit/>
          </a:bodyPr>
          <a:lstStyle/>
          <a:p>
            <a:pPr algn="l">
              <a:defRPr sz="1600" b="1">
                <a:solidFill>
                  <a:srgbClr val="112746"/>
                </a:solidFill>
                <a:latin typeface="Calibri"/>
              </a:defRPr>
            </a:pPr>
            <a:r>
              <a:t>Production Readiness Path</a:t>
            </a:r>
          </a:p>
        </p:txBody>
      </p:sp>
      <p:sp>
        <p:nvSpPr>
          <p:cNvPr id="10" name="TextBox 9"/>
          <p:cNvSpPr txBox="1"/>
          <p:nvPr/>
        </p:nvSpPr>
        <p:spPr>
          <a:xfrm>
            <a:off x="6217920" y="1554480"/>
            <a:ext cx="5303520" cy="2286000"/>
          </a:xfrm>
          <a:prstGeom prst="rect">
            <a:avLst/>
          </a:prstGeom>
          <a:noFill/>
        </p:spPr>
        <p:txBody>
          <a:bodyPr wrap="square">
            <a:spAutoFit/>
          </a:bodyPr>
          <a:lstStyle/>
          <a:p>
            <a:pPr>
              <a:spcAft>
                <a:spcPts val="600"/>
              </a:spcAft>
            </a:pPr>
            <a:r>
              <a:rPr sz="1100">
                <a:solidFill>
                  <a:srgbClr val="1E293B"/>
                </a:solidFill>
                <a:latin typeface="Calibri"/>
              </a:rPr>
              <a:t>1. Data Integration: Connect real sources via Openflow/CDC pipelines</a:t>
            </a:r>
          </a:p>
          <a:p>
            <a:pPr>
              <a:spcAft>
                <a:spcPts val="600"/>
              </a:spcAft>
            </a:pPr>
            <a:r>
              <a:rPr sz="1100">
                <a:solidFill>
                  <a:srgbClr val="1E293B"/>
                </a:solidFill>
                <a:latin typeface="Calibri"/>
              </a:rPr>
              <a:t>2. Scale Testing: Production-volume load testing and performance tuning</a:t>
            </a:r>
          </a:p>
          <a:p>
            <a:pPr>
              <a:spcAft>
                <a:spcPts val="600"/>
              </a:spcAft>
            </a:pPr>
            <a:r>
              <a:rPr sz="1100">
                <a:solidFill>
                  <a:srgbClr val="1E293B"/>
                </a:solidFill>
                <a:latin typeface="Calibri"/>
              </a:rPr>
              <a:t>3. Agent Evaluation: Cortex Evaluations for accuracy benchmarking</a:t>
            </a:r>
          </a:p>
          <a:p>
            <a:pPr>
              <a:spcAft>
                <a:spcPts val="600"/>
              </a:spcAft>
            </a:pPr>
            <a:r>
              <a:rPr sz="1100">
                <a:solidFill>
                  <a:srgbClr val="1E293B"/>
                </a:solidFill>
                <a:latin typeface="Calibri"/>
              </a:rPr>
              <a:t>4. Security Hardening: Network policies, MFA, audit logging</a:t>
            </a:r>
          </a:p>
          <a:p>
            <a:pPr>
              <a:spcAft>
                <a:spcPts val="600"/>
              </a:spcAft>
            </a:pPr>
            <a:r>
              <a:rPr sz="1100">
                <a:solidFill>
                  <a:srgbClr val="1E293B"/>
                </a:solidFill>
                <a:latin typeface="Calibri"/>
              </a:rPr>
              <a:t>5. User Onboarding: Role-based CoWork access for business teams</a:t>
            </a:r>
          </a:p>
          <a:p>
            <a:pPr>
              <a:spcAft>
                <a:spcPts val="600"/>
              </a:spcAft>
            </a:pPr>
            <a:r>
              <a:rPr sz="1100">
                <a:solidFill>
                  <a:srgbClr val="1E293B"/>
                </a:solidFill>
                <a:latin typeface="Calibri"/>
              </a:rPr>
              <a:t>6. CI/CD Promotion: dev → staging → prod pipeline activation</a:t>
            </a:r>
          </a:p>
        </p:txBody>
      </p:sp>
      <p:sp>
        <p:nvSpPr>
          <p:cNvPr id="11" name="TextBox 10"/>
          <p:cNvSpPr txBox="1"/>
          <p:nvPr/>
        </p:nvSpPr>
        <p:spPr>
          <a:xfrm>
            <a:off x="6217920" y="3931920"/>
            <a:ext cx="5029200" cy="274320"/>
          </a:xfrm>
          <a:prstGeom prst="rect">
            <a:avLst/>
          </a:prstGeom>
          <a:noFill/>
        </p:spPr>
        <p:txBody>
          <a:bodyPr wrap="square">
            <a:spAutoFit/>
          </a:bodyPr>
          <a:lstStyle/>
          <a:p>
            <a:pPr algn="l">
              <a:defRPr sz="1400" b="1">
                <a:solidFill>
                  <a:srgbClr val="112746"/>
                </a:solidFill>
                <a:latin typeface="Calibri"/>
              </a:defRPr>
            </a:pPr>
            <a:r>
              <a:t>Expansion Opportunities</a:t>
            </a:r>
          </a:p>
        </p:txBody>
      </p:sp>
      <p:sp>
        <p:nvSpPr>
          <p:cNvPr id="12" name="TextBox 11"/>
          <p:cNvSpPr txBox="1"/>
          <p:nvPr/>
        </p:nvSpPr>
        <p:spPr>
          <a:xfrm>
            <a:off x="6217920" y="4206240"/>
            <a:ext cx="5303520" cy="1828800"/>
          </a:xfrm>
          <a:prstGeom prst="rect">
            <a:avLst/>
          </a:prstGeom>
          <a:noFill/>
        </p:spPr>
        <p:txBody>
          <a:bodyPr wrap="square">
            <a:spAutoFit/>
          </a:bodyPr>
          <a:lstStyle/>
          <a:p>
            <a:pPr>
              <a:spcAft>
                <a:spcPts val="400"/>
              </a:spcAft>
            </a:pPr>
            <a:r>
              <a:rPr sz="1100">
                <a:solidFill>
                  <a:srgbClr val="1E293B"/>
                </a:solidFill>
                <a:latin typeface="Calibri"/>
              </a:rPr>
              <a:t>▶  Cortex ML: FORECAST, ANOMALY_DETECTION, TOP_INSIGHTS</a:t>
            </a:r>
          </a:p>
          <a:p>
            <a:pPr>
              <a:spcAft>
                <a:spcPts val="400"/>
              </a:spcAft>
            </a:pPr>
            <a:r>
              <a:rPr sz="1100">
                <a:solidFill>
                  <a:srgbClr val="1E293B"/>
                </a:solidFill>
                <a:latin typeface="Calibri"/>
              </a:rPr>
              <a:t>▶  Additional MCP: Salesforce, Slack, ServiceNow, GitHub</a:t>
            </a:r>
          </a:p>
          <a:p>
            <a:pPr>
              <a:spcAft>
                <a:spcPts val="400"/>
              </a:spcAft>
            </a:pPr>
            <a:r>
              <a:rPr sz="1100">
                <a:solidFill>
                  <a:srgbClr val="1E293B"/>
                </a:solidFill>
                <a:latin typeface="Calibri"/>
              </a:rPr>
              <a:t>▶  Streamlit App: Native Snowflake dashboard for real-time monitoring</a:t>
            </a:r>
          </a:p>
          <a:p>
            <a:pPr>
              <a:spcAft>
                <a:spcPts val="400"/>
              </a:spcAft>
            </a:pPr>
            <a:r>
              <a:rPr sz="1100">
                <a:solidFill>
                  <a:srgbClr val="1E293B"/>
                </a:solidFill>
                <a:latin typeface="Calibri"/>
              </a:rPr>
              <a:t>▶  Dynamic Tables: Incremental refresh pipelines for live data</a:t>
            </a:r>
          </a:p>
          <a:p>
            <a:pPr>
              <a:spcAft>
                <a:spcPts val="400"/>
              </a:spcAft>
            </a:pPr>
            <a:r>
              <a:rPr sz="1100">
                <a:solidFill>
                  <a:srgbClr val="1E293B"/>
                </a:solidFill>
                <a:latin typeface="Calibri"/>
              </a:rPr>
              <a:t>▶  Agent Toolsets: Cross-agent tool sharing for composability</a:t>
            </a:r>
          </a:p>
        </p:txBody>
      </p:sp>
      <p:sp>
        <p:nvSpPr>
          <p:cNvPr id="13" name="Rectangle 12"/>
          <p:cNvSpPr/>
          <p:nvPr/>
        </p:nvSpPr>
        <p:spPr>
          <a:xfrm>
            <a:off x="274320" y="5577840"/>
            <a:ext cx="11612880" cy="914400"/>
          </a:xfrm>
          <a:prstGeom prst="rect">
            <a:avLst/>
          </a:prstGeom>
          <a:solidFill>
            <a:srgbClr val="112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623560"/>
            <a:ext cx="10972800" cy="228600"/>
          </a:xfrm>
          <a:prstGeom prst="rect">
            <a:avLst/>
          </a:prstGeom>
          <a:noFill/>
        </p:spPr>
        <p:txBody>
          <a:bodyPr wrap="square">
            <a:spAutoFit/>
          </a:bodyPr>
          <a:lstStyle/>
          <a:p>
            <a:pPr algn="l">
              <a:defRPr sz="1000" b="1">
                <a:solidFill>
                  <a:srgbClr val="29B5E8"/>
                </a:solidFill>
                <a:latin typeface="Calibri"/>
              </a:defRPr>
            </a:pPr>
            <a:r>
              <a:t>PLATFORM AT A GLANCE</a:t>
            </a:r>
          </a:p>
        </p:txBody>
      </p:sp>
      <p:sp>
        <p:nvSpPr>
          <p:cNvPr id="15" name="TextBox 14"/>
          <p:cNvSpPr txBox="1"/>
          <p:nvPr/>
        </p:nvSpPr>
        <p:spPr>
          <a:xfrm>
            <a:off x="457200" y="5852160"/>
            <a:ext cx="1097280" cy="274320"/>
          </a:xfrm>
          <a:prstGeom prst="rect">
            <a:avLst/>
          </a:prstGeom>
          <a:noFill/>
        </p:spPr>
        <p:txBody>
          <a:bodyPr wrap="square">
            <a:spAutoFit/>
          </a:bodyPr>
          <a:lstStyle/>
          <a:p>
            <a:pPr algn="ctr">
              <a:defRPr sz="2200" b="1">
                <a:solidFill>
                  <a:srgbClr val="29B5E8"/>
                </a:solidFill>
                <a:latin typeface="Calibri"/>
              </a:defRPr>
            </a:pPr>
            <a:r>
              <a:t>18</a:t>
            </a:r>
          </a:p>
        </p:txBody>
      </p:sp>
      <p:sp>
        <p:nvSpPr>
          <p:cNvPr id="16" name="TextBox 15"/>
          <p:cNvSpPr txBox="1"/>
          <p:nvPr/>
        </p:nvSpPr>
        <p:spPr>
          <a:xfrm>
            <a:off x="457200" y="6153912"/>
            <a:ext cx="1097280" cy="274320"/>
          </a:xfrm>
          <a:prstGeom prst="rect">
            <a:avLst/>
          </a:prstGeom>
          <a:noFill/>
        </p:spPr>
        <p:txBody>
          <a:bodyPr wrap="square">
            <a:spAutoFit/>
          </a:bodyPr>
          <a:lstStyle/>
          <a:p>
            <a:pPr algn="ctr">
              <a:defRPr sz="800" b="0">
                <a:solidFill>
                  <a:srgbClr val="FFFFFF"/>
                </a:solidFill>
                <a:latin typeface="Calibri"/>
              </a:defRPr>
            </a:pPr>
            <a:r>
              <a:t>Tables</a:t>
            </a:r>
          </a:p>
        </p:txBody>
      </p:sp>
      <p:sp>
        <p:nvSpPr>
          <p:cNvPr id="17" name="TextBox 16"/>
          <p:cNvSpPr txBox="1"/>
          <p:nvPr/>
        </p:nvSpPr>
        <p:spPr>
          <a:xfrm>
            <a:off x="1719072" y="5852160"/>
            <a:ext cx="1097280" cy="274320"/>
          </a:xfrm>
          <a:prstGeom prst="rect">
            <a:avLst/>
          </a:prstGeom>
          <a:noFill/>
        </p:spPr>
        <p:txBody>
          <a:bodyPr wrap="square">
            <a:spAutoFit/>
          </a:bodyPr>
          <a:lstStyle/>
          <a:p>
            <a:pPr algn="ctr">
              <a:defRPr sz="2200" b="1">
                <a:solidFill>
                  <a:srgbClr val="29B5E8"/>
                </a:solidFill>
                <a:latin typeface="Calibri"/>
              </a:defRPr>
            </a:pPr>
            <a:r>
              <a:t>7</a:t>
            </a:r>
          </a:p>
        </p:txBody>
      </p:sp>
      <p:sp>
        <p:nvSpPr>
          <p:cNvPr id="18" name="TextBox 17"/>
          <p:cNvSpPr txBox="1"/>
          <p:nvPr/>
        </p:nvSpPr>
        <p:spPr>
          <a:xfrm>
            <a:off x="1719072" y="6153912"/>
            <a:ext cx="1097280" cy="274320"/>
          </a:xfrm>
          <a:prstGeom prst="rect">
            <a:avLst/>
          </a:prstGeom>
          <a:noFill/>
        </p:spPr>
        <p:txBody>
          <a:bodyPr wrap="square">
            <a:spAutoFit/>
          </a:bodyPr>
          <a:lstStyle/>
          <a:p>
            <a:pPr algn="ctr">
              <a:defRPr sz="800" b="0">
                <a:solidFill>
                  <a:srgbClr val="FFFFFF"/>
                </a:solidFill>
                <a:latin typeface="Calibri"/>
              </a:defRPr>
            </a:pPr>
            <a:r>
              <a:t>Views</a:t>
            </a:r>
          </a:p>
        </p:txBody>
      </p:sp>
      <p:sp>
        <p:nvSpPr>
          <p:cNvPr id="19" name="TextBox 18"/>
          <p:cNvSpPr txBox="1"/>
          <p:nvPr/>
        </p:nvSpPr>
        <p:spPr>
          <a:xfrm>
            <a:off x="2980944" y="5852160"/>
            <a:ext cx="1097280" cy="274320"/>
          </a:xfrm>
          <a:prstGeom prst="rect">
            <a:avLst/>
          </a:prstGeom>
          <a:noFill/>
        </p:spPr>
        <p:txBody>
          <a:bodyPr wrap="square">
            <a:spAutoFit/>
          </a:bodyPr>
          <a:lstStyle/>
          <a:p>
            <a:pPr algn="ctr">
              <a:defRPr sz="2200" b="1">
                <a:solidFill>
                  <a:srgbClr val="29B5E8"/>
                </a:solidFill>
                <a:latin typeface="Calibri"/>
              </a:defRPr>
            </a:pPr>
            <a:r>
              <a:t>5</a:t>
            </a:r>
          </a:p>
        </p:txBody>
      </p:sp>
      <p:sp>
        <p:nvSpPr>
          <p:cNvPr id="20" name="TextBox 19"/>
          <p:cNvSpPr txBox="1"/>
          <p:nvPr/>
        </p:nvSpPr>
        <p:spPr>
          <a:xfrm>
            <a:off x="2980944" y="6153912"/>
            <a:ext cx="1097280" cy="274320"/>
          </a:xfrm>
          <a:prstGeom prst="rect">
            <a:avLst/>
          </a:prstGeom>
          <a:noFill/>
        </p:spPr>
        <p:txBody>
          <a:bodyPr wrap="square">
            <a:spAutoFit/>
          </a:bodyPr>
          <a:lstStyle/>
          <a:p>
            <a:pPr algn="ctr">
              <a:defRPr sz="800" b="0">
                <a:solidFill>
                  <a:srgbClr val="FFFFFF"/>
                </a:solidFill>
                <a:latin typeface="Calibri"/>
              </a:defRPr>
            </a:pPr>
            <a:r>
              <a:t>Semantic</a:t>
            </a:r>
            <a:br/>
            <a:r>
              <a:t>Views</a:t>
            </a:r>
          </a:p>
        </p:txBody>
      </p:sp>
      <p:sp>
        <p:nvSpPr>
          <p:cNvPr id="21" name="TextBox 20"/>
          <p:cNvSpPr txBox="1"/>
          <p:nvPr/>
        </p:nvSpPr>
        <p:spPr>
          <a:xfrm>
            <a:off x="4242815" y="5852160"/>
            <a:ext cx="1097280" cy="274320"/>
          </a:xfrm>
          <a:prstGeom prst="rect">
            <a:avLst/>
          </a:prstGeom>
          <a:noFill/>
        </p:spPr>
        <p:txBody>
          <a:bodyPr wrap="square">
            <a:spAutoFit/>
          </a:bodyPr>
          <a:lstStyle/>
          <a:p>
            <a:pPr algn="ctr">
              <a:defRPr sz="2200" b="1">
                <a:solidFill>
                  <a:srgbClr val="29B5E8"/>
                </a:solidFill>
                <a:latin typeface="Calibri"/>
              </a:defRPr>
            </a:pPr>
            <a:r>
              <a:t>25+</a:t>
            </a:r>
          </a:p>
        </p:txBody>
      </p:sp>
      <p:sp>
        <p:nvSpPr>
          <p:cNvPr id="22" name="TextBox 21"/>
          <p:cNvSpPr txBox="1"/>
          <p:nvPr/>
        </p:nvSpPr>
        <p:spPr>
          <a:xfrm>
            <a:off x="4242815" y="6153912"/>
            <a:ext cx="1097280" cy="274320"/>
          </a:xfrm>
          <a:prstGeom prst="rect">
            <a:avLst/>
          </a:prstGeom>
          <a:noFill/>
        </p:spPr>
        <p:txBody>
          <a:bodyPr wrap="square">
            <a:spAutoFit/>
          </a:bodyPr>
          <a:lstStyle/>
          <a:p>
            <a:pPr algn="ctr">
              <a:defRPr sz="800" b="0">
                <a:solidFill>
                  <a:srgbClr val="FFFFFF"/>
                </a:solidFill>
                <a:latin typeface="Calibri"/>
              </a:defRPr>
            </a:pPr>
            <a:r>
              <a:t>Verified</a:t>
            </a:r>
            <a:br/>
            <a:r>
              <a:t>Queries</a:t>
            </a:r>
          </a:p>
        </p:txBody>
      </p:sp>
      <p:sp>
        <p:nvSpPr>
          <p:cNvPr id="23" name="TextBox 22"/>
          <p:cNvSpPr txBox="1"/>
          <p:nvPr/>
        </p:nvSpPr>
        <p:spPr>
          <a:xfrm>
            <a:off x="5504688" y="5852160"/>
            <a:ext cx="1097280" cy="274320"/>
          </a:xfrm>
          <a:prstGeom prst="rect">
            <a:avLst/>
          </a:prstGeom>
          <a:noFill/>
        </p:spPr>
        <p:txBody>
          <a:bodyPr wrap="square">
            <a:spAutoFit/>
          </a:bodyPr>
          <a:lstStyle/>
          <a:p>
            <a:pPr algn="ctr">
              <a:defRPr sz="2200" b="1">
                <a:solidFill>
                  <a:srgbClr val="29B5E8"/>
                </a:solidFill>
                <a:latin typeface="Calibri"/>
              </a:defRPr>
            </a:pPr>
            <a:r>
              <a:t>5</a:t>
            </a:r>
          </a:p>
        </p:txBody>
      </p:sp>
      <p:sp>
        <p:nvSpPr>
          <p:cNvPr id="24" name="TextBox 23"/>
          <p:cNvSpPr txBox="1"/>
          <p:nvPr/>
        </p:nvSpPr>
        <p:spPr>
          <a:xfrm>
            <a:off x="5504688" y="6153912"/>
            <a:ext cx="1097280" cy="274320"/>
          </a:xfrm>
          <a:prstGeom prst="rect">
            <a:avLst/>
          </a:prstGeom>
          <a:noFill/>
        </p:spPr>
        <p:txBody>
          <a:bodyPr wrap="square">
            <a:spAutoFit/>
          </a:bodyPr>
          <a:lstStyle/>
          <a:p>
            <a:pPr algn="ctr">
              <a:defRPr sz="800" b="0">
                <a:solidFill>
                  <a:srgbClr val="FFFFFF"/>
                </a:solidFill>
                <a:latin typeface="Calibri"/>
              </a:defRPr>
            </a:pPr>
            <a:r>
              <a:t>Cortex</a:t>
            </a:r>
            <a:br/>
            <a:r>
              <a:t>Agents</a:t>
            </a:r>
          </a:p>
        </p:txBody>
      </p:sp>
      <p:sp>
        <p:nvSpPr>
          <p:cNvPr id="25" name="TextBox 24"/>
          <p:cNvSpPr txBox="1"/>
          <p:nvPr/>
        </p:nvSpPr>
        <p:spPr>
          <a:xfrm>
            <a:off x="6766559" y="5852160"/>
            <a:ext cx="1097280" cy="274320"/>
          </a:xfrm>
          <a:prstGeom prst="rect">
            <a:avLst/>
          </a:prstGeom>
          <a:noFill/>
        </p:spPr>
        <p:txBody>
          <a:bodyPr wrap="square">
            <a:spAutoFit/>
          </a:bodyPr>
          <a:lstStyle/>
          <a:p>
            <a:pPr algn="ctr">
              <a:defRPr sz="2200" b="1">
                <a:solidFill>
                  <a:srgbClr val="29B5E8"/>
                </a:solidFill>
                <a:latin typeface="Calibri"/>
              </a:defRPr>
            </a:pPr>
            <a:r>
              <a:t>6</a:t>
            </a:r>
          </a:p>
        </p:txBody>
      </p:sp>
      <p:sp>
        <p:nvSpPr>
          <p:cNvPr id="26" name="TextBox 25"/>
          <p:cNvSpPr txBox="1"/>
          <p:nvPr/>
        </p:nvSpPr>
        <p:spPr>
          <a:xfrm>
            <a:off x="6766559" y="6153912"/>
            <a:ext cx="1097280" cy="274320"/>
          </a:xfrm>
          <a:prstGeom prst="rect">
            <a:avLst/>
          </a:prstGeom>
          <a:noFill/>
        </p:spPr>
        <p:txBody>
          <a:bodyPr wrap="square">
            <a:spAutoFit/>
          </a:bodyPr>
          <a:lstStyle/>
          <a:p>
            <a:pPr algn="ctr">
              <a:defRPr sz="800" b="0">
                <a:solidFill>
                  <a:srgbClr val="FFFFFF"/>
                </a:solidFill>
                <a:latin typeface="Calibri"/>
              </a:defRPr>
            </a:pPr>
            <a:r>
              <a:t>Stored</a:t>
            </a:r>
            <a:br/>
            <a:r>
              <a:t>Procs</a:t>
            </a:r>
          </a:p>
        </p:txBody>
      </p:sp>
      <p:sp>
        <p:nvSpPr>
          <p:cNvPr id="27" name="TextBox 26"/>
          <p:cNvSpPr txBox="1"/>
          <p:nvPr/>
        </p:nvSpPr>
        <p:spPr>
          <a:xfrm>
            <a:off x="8028431" y="5852160"/>
            <a:ext cx="1097280" cy="274320"/>
          </a:xfrm>
          <a:prstGeom prst="rect">
            <a:avLst/>
          </a:prstGeom>
          <a:noFill/>
        </p:spPr>
        <p:txBody>
          <a:bodyPr wrap="square">
            <a:spAutoFit/>
          </a:bodyPr>
          <a:lstStyle/>
          <a:p>
            <a:pPr algn="ctr">
              <a:defRPr sz="2200" b="1">
                <a:solidFill>
                  <a:srgbClr val="29B5E8"/>
                </a:solidFill>
                <a:latin typeface="Calibri"/>
              </a:defRPr>
            </a:pPr>
            <a:r>
              <a:t>6</a:t>
            </a:r>
          </a:p>
        </p:txBody>
      </p:sp>
      <p:sp>
        <p:nvSpPr>
          <p:cNvPr id="28" name="TextBox 27"/>
          <p:cNvSpPr txBox="1"/>
          <p:nvPr/>
        </p:nvSpPr>
        <p:spPr>
          <a:xfrm>
            <a:off x="8028431" y="6153912"/>
            <a:ext cx="1097280" cy="274320"/>
          </a:xfrm>
          <a:prstGeom prst="rect">
            <a:avLst/>
          </a:prstGeom>
          <a:noFill/>
        </p:spPr>
        <p:txBody>
          <a:bodyPr wrap="square">
            <a:spAutoFit/>
          </a:bodyPr>
          <a:lstStyle/>
          <a:p>
            <a:pPr algn="ctr">
              <a:defRPr sz="800" b="0">
                <a:solidFill>
                  <a:srgbClr val="FFFFFF"/>
                </a:solidFill>
                <a:latin typeface="Calibri"/>
              </a:defRPr>
            </a:pPr>
            <a:r>
              <a:t>RBAC</a:t>
            </a:r>
            <a:br/>
            <a:r>
              <a:t>Roles</a:t>
            </a:r>
          </a:p>
        </p:txBody>
      </p:sp>
      <p:sp>
        <p:nvSpPr>
          <p:cNvPr id="29" name="TextBox 28"/>
          <p:cNvSpPr txBox="1"/>
          <p:nvPr/>
        </p:nvSpPr>
        <p:spPr>
          <a:xfrm>
            <a:off x="9290304" y="5852160"/>
            <a:ext cx="1097280" cy="274320"/>
          </a:xfrm>
          <a:prstGeom prst="rect">
            <a:avLst/>
          </a:prstGeom>
          <a:noFill/>
        </p:spPr>
        <p:txBody>
          <a:bodyPr wrap="square">
            <a:spAutoFit/>
          </a:bodyPr>
          <a:lstStyle/>
          <a:p>
            <a:pPr algn="ctr">
              <a:defRPr sz="2200" b="1">
                <a:solidFill>
                  <a:srgbClr val="29B5E8"/>
                </a:solidFill>
                <a:latin typeface="Calibri"/>
              </a:defRPr>
            </a:pPr>
            <a:r>
              <a:t>3</a:t>
            </a:r>
          </a:p>
        </p:txBody>
      </p:sp>
      <p:sp>
        <p:nvSpPr>
          <p:cNvPr id="30" name="TextBox 29"/>
          <p:cNvSpPr txBox="1"/>
          <p:nvPr/>
        </p:nvSpPr>
        <p:spPr>
          <a:xfrm>
            <a:off x="9290304" y="6153912"/>
            <a:ext cx="1097280" cy="274320"/>
          </a:xfrm>
          <a:prstGeom prst="rect">
            <a:avLst/>
          </a:prstGeom>
          <a:noFill/>
        </p:spPr>
        <p:txBody>
          <a:bodyPr wrap="square">
            <a:spAutoFit/>
          </a:bodyPr>
          <a:lstStyle/>
          <a:p>
            <a:pPr algn="ctr">
              <a:defRPr sz="800" b="0">
                <a:solidFill>
                  <a:srgbClr val="FFFFFF"/>
                </a:solidFill>
                <a:latin typeface="Calibri"/>
              </a:defRPr>
            </a:pPr>
            <a:r>
              <a:t>Masking</a:t>
            </a:r>
            <a:br/>
            <a:r>
              <a:t>Policies</a:t>
            </a:r>
          </a:p>
        </p:txBody>
      </p:sp>
      <p:sp>
        <p:nvSpPr>
          <p:cNvPr id="31" name="TextBox 30"/>
          <p:cNvSpPr txBox="1"/>
          <p:nvPr/>
        </p:nvSpPr>
        <p:spPr>
          <a:xfrm>
            <a:off x="10552176" y="5852160"/>
            <a:ext cx="1097280" cy="274320"/>
          </a:xfrm>
          <a:prstGeom prst="rect">
            <a:avLst/>
          </a:prstGeom>
          <a:noFill/>
        </p:spPr>
        <p:txBody>
          <a:bodyPr wrap="square">
            <a:spAutoFit/>
          </a:bodyPr>
          <a:lstStyle/>
          <a:p>
            <a:pPr algn="ctr">
              <a:defRPr sz="2200" b="1">
                <a:solidFill>
                  <a:srgbClr val="29B5E8"/>
                </a:solidFill>
                <a:latin typeface="Calibri"/>
              </a:defRPr>
            </a:pPr>
            <a:r>
              <a:t>1</a:t>
            </a:r>
          </a:p>
        </p:txBody>
      </p:sp>
      <p:sp>
        <p:nvSpPr>
          <p:cNvPr id="32" name="TextBox 31"/>
          <p:cNvSpPr txBox="1"/>
          <p:nvPr/>
        </p:nvSpPr>
        <p:spPr>
          <a:xfrm>
            <a:off x="10552176" y="6153912"/>
            <a:ext cx="1097280" cy="274320"/>
          </a:xfrm>
          <a:prstGeom prst="rect">
            <a:avLst/>
          </a:prstGeom>
          <a:noFill/>
        </p:spPr>
        <p:txBody>
          <a:bodyPr wrap="square">
            <a:spAutoFit/>
          </a:bodyPr>
          <a:lstStyle/>
          <a:p>
            <a:pPr algn="ctr">
              <a:defRPr sz="800" b="0">
                <a:solidFill>
                  <a:srgbClr val="FFFFFF"/>
                </a:solidFill>
                <a:latin typeface="Calibri"/>
              </a:defRPr>
            </a:pPr>
            <a:r>
              <a:t>MCP</a:t>
            </a:r>
            <a:br/>
            <a:r>
              <a:t>Connector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