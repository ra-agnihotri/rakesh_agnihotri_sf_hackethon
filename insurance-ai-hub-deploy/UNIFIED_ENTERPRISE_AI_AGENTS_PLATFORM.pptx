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ihotri, Rakesh" userId="8dd44590-97b5-4aa1-98f2-be1463d72c91" providerId="ADAL" clId="{5C3C4490-F9DE-4D5F-98C8-97C272C52062}"/>
    <pc:docChg chg="undo custSel addSld delSld modSld sldOrd">
      <pc:chgData name="Agnihotri, Rakesh" userId="8dd44590-97b5-4aa1-98f2-be1463d72c91" providerId="ADAL" clId="{5C3C4490-F9DE-4D5F-98C8-97C272C52062}" dt="2026-09-23T04:38:00.597" v="35" actId="20577"/>
      <pc:docMkLst>
        <pc:docMk/>
      </pc:docMkLst>
      <pc:sldChg chg="modSp mod">
        <pc:chgData name="Agnihotri, Rakesh" userId="8dd44590-97b5-4aa1-98f2-be1463d72c91" providerId="ADAL" clId="{5C3C4490-F9DE-4D5F-98C8-97C272C52062}" dt="2026-09-23T04:38:00.597" v="35" actId="20577"/>
        <pc:sldMkLst>
          <pc:docMk/>
          <pc:sldMk cId="0" sldId="256"/>
        </pc:sldMkLst>
        <pc:spChg chg="mod">
          <ac:chgData name="Agnihotri, Rakesh" userId="8dd44590-97b5-4aa1-98f2-be1463d72c91" providerId="ADAL" clId="{5C3C4490-F9DE-4D5F-98C8-97C272C52062}" dt="2026-09-23T04:38:00.597" v="35" actId="20577"/>
          <ac:spMkLst>
            <pc:docMk/>
            <pc:sldMk cId="0" sldId="256"/>
            <ac:spMk id="30" creationId="{00000000-0000-0000-0000-000000000000}"/>
          </ac:spMkLst>
        </pc:spChg>
      </pc:sldChg>
      <pc:sldChg chg="addSp delSp del mod">
        <pc:chgData name="Agnihotri, Rakesh" userId="8dd44590-97b5-4aa1-98f2-be1463d72c91" providerId="ADAL" clId="{5C3C4490-F9DE-4D5F-98C8-97C272C52062}" dt="2026-09-23T04:37:12.171" v="16" actId="47"/>
        <pc:sldMkLst>
          <pc:docMk/>
          <pc:sldMk cId="0" sldId="258"/>
        </pc:sldMkLst>
        <pc:spChg chg="add del">
          <ac:chgData name="Agnihotri, Rakesh" userId="8dd44590-97b5-4aa1-98f2-be1463d72c91" providerId="ADAL" clId="{5C3C4490-F9DE-4D5F-98C8-97C272C52062}" dt="2026-09-23T04:32:55.556" v="1" actId="22"/>
          <ac:spMkLst>
            <pc:docMk/>
            <pc:sldMk cId="0" sldId="258"/>
            <ac:spMk id="56" creationId="{34F840A7-2B52-2437-D5BD-30AF523CD75F}"/>
          </ac:spMkLst>
        </pc:spChg>
        <pc:picChg chg="add del">
          <ac:chgData name="Agnihotri, Rakesh" userId="8dd44590-97b5-4aa1-98f2-be1463d72c91" providerId="ADAL" clId="{5C3C4490-F9DE-4D5F-98C8-97C272C52062}" dt="2026-09-23T04:33:41.934" v="6" actId="21"/>
          <ac:picMkLst>
            <pc:docMk/>
            <pc:sldMk cId="0" sldId="258"/>
            <ac:picMk id="58" creationId="{A27F6280-DF15-A262-CFA2-DD4BBA86BC27}"/>
          </ac:picMkLst>
        </pc:picChg>
      </pc:sldChg>
      <pc:sldChg chg="ord">
        <pc:chgData name="Agnihotri, Rakesh" userId="8dd44590-97b5-4aa1-98f2-be1463d72c91" providerId="ADAL" clId="{5C3C4490-F9DE-4D5F-98C8-97C272C52062}" dt="2026-09-23T04:34:29.381" v="15"/>
        <pc:sldMkLst>
          <pc:docMk/>
          <pc:sldMk cId="0" sldId="260"/>
        </pc:sldMkLst>
      </pc:sldChg>
      <pc:sldChg chg="new del">
        <pc:chgData name="Agnihotri, Rakesh" userId="8dd44590-97b5-4aa1-98f2-be1463d72c91" providerId="ADAL" clId="{5C3C4490-F9DE-4D5F-98C8-97C272C52062}" dt="2026-09-23T04:33:33.992" v="4" actId="47"/>
        <pc:sldMkLst>
          <pc:docMk/>
          <pc:sldMk cId="894138983" sldId="267"/>
        </pc:sldMkLst>
      </pc:sldChg>
      <pc:sldChg chg="addSp modSp new mod ord">
        <pc:chgData name="Agnihotri, Rakesh" userId="8dd44590-97b5-4aa1-98f2-be1463d72c91" providerId="ADAL" clId="{5C3C4490-F9DE-4D5F-98C8-97C272C52062}" dt="2026-09-23T04:34:10.060" v="13"/>
        <pc:sldMkLst>
          <pc:docMk/>
          <pc:sldMk cId="3321354649" sldId="267"/>
        </pc:sldMkLst>
        <pc:picChg chg="add mod">
          <ac:chgData name="Agnihotri, Rakesh" userId="8dd44590-97b5-4aa1-98f2-be1463d72c91" providerId="ADAL" clId="{5C3C4490-F9DE-4D5F-98C8-97C272C52062}" dt="2026-09-23T04:33:57.413" v="11" actId="14100"/>
          <ac:picMkLst>
            <pc:docMk/>
            <pc:sldMk cId="3321354649" sldId="267"/>
            <ac:picMk id="3" creationId="{9E0C764B-749A-9E60-F54F-4C5D0F3434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
- Web Speech API and Snowflake Cortex AI Translate behavior are described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User-provided presentation: Insurance_AI_Hub_Architecture_Presentation.pptx
- User-provided voice-input feature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B2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AI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CAPGEMINI  •  SNOWFLAKE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65392"/>
            <a:ext cx="11365992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Architecture Deep Dive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18320" y="320040"/>
            <a:ext cx="2057400" cy="2057400"/>
          </a:xfrm>
          <a:prstGeom prst="ellipse">
            <a:avLst/>
          </a:prstGeom>
          <a:solidFill>
            <a:srgbClr val="20C7D9">
              <a:alpha val="10000"/>
            </a:srgbClr>
          </a:solidFill>
          <a:ln w="12700">
            <a:solidFill>
              <a:srgbClr val="20C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732520" y="914400"/>
            <a:ext cx="1371600" cy="1371600"/>
          </a:xfrm>
          <a:prstGeom prst="ellipse">
            <a:avLst/>
          </a:prstGeom>
          <a:solidFill>
            <a:srgbClr val="7157D9">
              <a:alpha val="12000"/>
            </a:srgbClr>
          </a:solidFill>
          <a:ln w="12700">
            <a:solidFill>
              <a:srgbClr val="715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0C7D9"/>
                </a:solidFill>
              </a:rPr>
              <a:t>SOLUTION ARCHITECTURE  •  DEEP DIVE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Insurance AI Hub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F1"/>
                </a:solidFill>
              </a:rPr>
              <a:t>Snowflake-native intelligence for governed, multilingual insurance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C1D1"/>
                </a:solidFill>
              </a:rPr>
              <a:t>Tables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2880360"/>
            <a:ext cx="1" cy="566928"/>
          </a:xfrm>
          <a:prstGeom prst="line">
            <a:avLst/>
          </a:prstGeom>
          <a:noFill/>
          <a:ln w="12700">
            <a:solidFill>
              <a:srgbClr val="3152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96312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96312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C1D1"/>
                </a:solidFill>
              </a:rPr>
              <a:t>Semantic 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96512" y="2880360"/>
            <a:ext cx="1" cy="566928"/>
          </a:xfrm>
          <a:prstGeom prst="line">
            <a:avLst/>
          </a:prstGeom>
          <a:noFill/>
          <a:ln w="12700">
            <a:solidFill>
              <a:srgbClr val="3152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52544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52544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C1D1"/>
                </a:solidFill>
              </a:rPr>
              <a:t>Cortex Agents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52744" y="2880360"/>
            <a:ext cx="1" cy="566928"/>
          </a:xfrm>
          <a:prstGeom prst="line">
            <a:avLst/>
          </a:prstGeom>
          <a:noFill/>
          <a:ln w="12700">
            <a:solidFill>
              <a:srgbClr val="3152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8776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25+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08776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C1D1"/>
                </a:solidFill>
              </a:rPr>
              <a:t>Verified Queries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08976" y="2880360"/>
            <a:ext cx="1" cy="566928"/>
          </a:xfrm>
          <a:prstGeom prst="line">
            <a:avLst/>
          </a:prstGeom>
          <a:noFill/>
          <a:ln w="12700">
            <a:solidFill>
              <a:srgbClr val="3152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65008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65008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C1D1"/>
                </a:solidFill>
              </a:rPr>
              <a:t>RBAC Roles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65208" y="2880360"/>
            <a:ext cx="1" cy="566928"/>
          </a:xfrm>
          <a:prstGeom prst="line">
            <a:avLst/>
          </a:prstGeom>
          <a:noFill/>
          <a:ln w="12700">
            <a:solidFill>
              <a:srgbClr val="3152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92124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C7D9"/>
                </a:solidFill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921240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C1D1"/>
                </a:solidFill>
              </a:rPr>
              <a:t>Voice-enabled Pages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143B59"/>
          </a:solidFill>
          <a:ln w="12700">
            <a:solidFill>
              <a:srgbClr val="2B5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68680" y="4361688"/>
            <a:ext cx="475488" cy="47548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8680" y="44302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4315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 •  Multilingual voice input on every page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81328" y="46451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AE8"/>
                </a:solidFill>
              </a:rPr>
              <a:t>Speak naturally. Review the translation. Send with confidence.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Presented by  Team : </a:t>
            </a:r>
            <a:r>
              <a:rPr lang="en-US" sz="1000" b="1" dirty="0" err="1">
                <a:solidFill>
                  <a:srgbClr val="FFFFFF"/>
                </a:solidFill>
              </a:rPr>
              <a:t>AgentsSmith</a:t>
            </a:r>
            <a:r>
              <a:rPr lang="en-US" sz="1000" b="1" dirty="0">
                <a:solidFill>
                  <a:srgbClr val="FFFFFF"/>
                </a:solidFill>
              </a:rPr>
              <a:t> |  Capgemini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199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B5C5"/>
                </a:solidFill>
              </a:rPr>
              <a:t>September 11, 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23760" y="61996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20C7D9"/>
                </a:solidFill>
              </a:rPr>
              <a:t>VOICE IN  •  INTELLIGENCE OUT  •  IN ANY LANGUAGE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Solution approach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phased, composable path from governed data to action-oriented intelligence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2542032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7512" y="193852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0664" y="198882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PHASE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</a:rPr>
              <a:t>Data Foundation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" y="288950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2104" y="27889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18 tables • 3 schemas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67512" y="320954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32104" y="310896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PII tags + masking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67512" y="352958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2104" y="342900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RBAC hierarchy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099816" y="2697480"/>
            <a:ext cx="256032" cy="292608"/>
          </a:xfrm>
          <a:prstGeom prst="chevron">
            <a:avLst/>
          </a:prstGeom>
          <a:solidFill>
            <a:srgbClr val="2F80ED">
              <a:alpha val="8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319272" y="1755648"/>
            <a:ext cx="2542032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83864" y="193852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57016" y="198882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PHASE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83864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</a:rPr>
              <a:t>Semantic Layer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83864" y="288950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48456" y="27889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5 semantic views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483864" y="320954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48456" y="310896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25+ verified queries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483864" y="352958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48456" y="342900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Cortex Analyst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916168" y="2697480"/>
            <a:ext cx="256032" cy="292608"/>
          </a:xfrm>
          <a:prstGeom prst="chevron">
            <a:avLst/>
          </a:prstGeom>
          <a:solidFill>
            <a:srgbClr val="24B47E">
              <a:alpha val="85000"/>
            </a:srgbClr>
          </a:solidFill>
          <a:ln w="12700">
            <a:solidFill>
              <a:srgbClr val="24B4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35624" y="1755648"/>
            <a:ext cx="2542032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00216" y="193852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73368" y="198882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0216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</a:rPr>
              <a:t>AI Intelligence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0216" y="288950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64808" y="27889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5 Cortex Agents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300216" y="320954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64808" y="310896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RAG + NL-to-SQL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300216" y="352958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64808" y="342900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Charts and citations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8732520" y="2697480"/>
            <a:ext cx="256032" cy="292608"/>
          </a:xfrm>
          <a:prstGeom prst="chevron">
            <a:avLst/>
          </a:prstGeom>
          <a:solidFill>
            <a:srgbClr val="7157D9">
              <a:alpha val="85000"/>
            </a:srgbClr>
          </a:solidFill>
          <a:ln w="12700">
            <a:solidFill>
              <a:srgbClr val="715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951976" y="1755648"/>
            <a:ext cx="2542032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116568" y="193852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189720" y="198882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116568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</a:rPr>
              <a:t>Experience &amp; Action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116568" y="288950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281160" y="278892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React hub + CoWork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9116568" y="320954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281160" y="310896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Voice + translation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116568" y="352958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281160" y="342900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72B3A"/>
                </a:solidFill>
              </a:rPr>
              <a:t>MCP to Jira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502920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4748B"/>
                </a:solidFill>
              </a:rPr>
              <a:t>DESIGN PRINCIPLES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46177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0080" y="4773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Native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5056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Storage, compute, AI and governance on Snowflake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2752344" y="46177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889504" y="4773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B47E"/>
                </a:solidFill>
              </a:rPr>
              <a:t>Composable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889504" y="5056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Deploy and scale each service independently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001768" y="46177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138928" y="4773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57D9"/>
                </a:solidFill>
              </a:rPr>
              <a:t>Grounded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38928" y="5056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Citations and verified queries by design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7251192" y="46177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388352" y="4773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7D9"/>
                </a:solidFill>
              </a:rPr>
              <a:t>Inclusive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88352" y="5056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Voice input and automatic language translation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9500616" y="46177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637776" y="4773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Actionable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637776" y="5056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Move from insight to Jira action via MCP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ONE PLATFORM  •  GOVERNED DATA  •  TRUSTED AI  •  MULTILINGUAL EXPERIENCE  •  ENTERPRISE ACTIONS</a:t>
            </a:r>
            <a:endParaRPr lang="en-US" sz="82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0C764B-749A-9E60-F54F-4C5D0F34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488314"/>
            <a:ext cx="12029440" cy="60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5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NEW CROSS-PLATFORM CAPABILITY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Multilingual voice experience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Every page now supports voice input, instant transcription and automatic translation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78992" y="1755648"/>
            <a:ext cx="475488" cy="47548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8992" y="18242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627632" cy="199339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" y="26243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Speak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" y="3063240"/>
            <a:ext cx="13350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Tap the microphone and ask a question in any language.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167128" y="3127248"/>
            <a:ext cx="182880" cy="292608"/>
          </a:xfrm>
          <a:prstGeom prst="chevron">
            <a:avLst/>
          </a:prstGeom>
          <a:solidFill>
            <a:srgbClr val="20C7D9">
              <a:alpha val="85000"/>
            </a:srgbClr>
          </a:solidFill>
          <a:ln w="12700">
            <a:solidFill>
              <a:srgbClr val="20C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62656" y="1755648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62656" y="18242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86584" y="2359152"/>
            <a:ext cx="1627632" cy="199339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96312" y="26243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Transcribe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32888" y="3063240"/>
            <a:ext cx="13350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Web Speech API converts speech into text instantly.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050792" y="3127248"/>
            <a:ext cx="182880" cy="292608"/>
          </a:xfrm>
          <a:prstGeom prst="chevron">
            <a:avLst/>
          </a:prstGeom>
          <a:solidFill>
            <a:srgbClr val="2F80ED">
              <a:alpha val="8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46320" y="1755648"/>
            <a:ext cx="475488" cy="475488"/>
          </a:xfrm>
          <a:prstGeom prst="ellipse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18242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0248" y="2359152"/>
            <a:ext cx="1627632" cy="199339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79976" y="26243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Detect + Translate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16552" y="3063240"/>
            <a:ext cx="13350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Cortex AI Translate detects non-English input and converts it to English.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934456" y="3127248"/>
            <a:ext cx="182880" cy="292608"/>
          </a:xfrm>
          <a:prstGeom prst="chevron">
            <a:avLst/>
          </a:prstGeom>
          <a:solidFill>
            <a:srgbClr val="7157D9">
              <a:alpha val="85000"/>
            </a:srgbClr>
          </a:solidFill>
          <a:ln w="12700">
            <a:solidFill>
              <a:srgbClr val="715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29984" y="175564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29984" y="18242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53912" y="2359152"/>
            <a:ext cx="1627632" cy="199339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26243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Review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0216" y="3063240"/>
            <a:ext cx="13350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Translated text appears in the input field before sending.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818120" y="3127248"/>
            <a:ext cx="182880" cy="292608"/>
          </a:xfrm>
          <a:prstGeom prst="chevron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13648" y="1755648"/>
            <a:ext cx="475488" cy="475488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13648" y="18242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37576" y="2359152"/>
            <a:ext cx="1627632" cy="199339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147304" y="26243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Confirm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83880" y="3063240"/>
            <a:ext cx="13350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A compact indicator shows the detected original language.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9701784" y="3127248"/>
            <a:ext cx="182880" cy="292608"/>
          </a:xfrm>
          <a:prstGeom prst="chevron">
            <a:avLst/>
          </a:prstGeom>
          <a:solidFill>
            <a:srgbClr val="24B47E">
              <a:alpha val="85000"/>
            </a:srgbClr>
          </a:solidFill>
          <a:ln w="12700">
            <a:solidFill>
              <a:srgbClr val="24B4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497312" y="1755648"/>
            <a:ext cx="475488" cy="475488"/>
          </a:xfrm>
          <a:prstGeom prst="ellipse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497312" y="18242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921240" y="2359152"/>
            <a:ext cx="1627632" cy="199339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030968" y="26243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Understand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67544" y="3063240"/>
            <a:ext cx="13350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64748B"/>
                </a:solidFill>
              </a:rPr>
              <a:t>The agent receives a consistent English prompt and preserves intent.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502920" y="4663440"/>
            <a:ext cx="11183112" cy="1243584"/>
          </a:xfrm>
          <a:prstGeom prst="roundRect">
            <a:avLst>
              <a:gd name="adj" fmla="val 5147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49808" y="4901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B2942"/>
                </a:solidFill>
              </a:rPr>
              <a:t>AVAILABLE ACROSS ALL 7 PAGES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808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4672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AI Assistant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2286000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340864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Knowledge Hub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3822192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877056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Data Explorer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358384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413248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Claims Agent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6894576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949440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Fraud Agent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8430768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485632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Pricing Agent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9966960" y="528523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0021824" y="540410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B2942"/>
                </a:solidFill>
              </a:rPr>
              <a:t>Product Agent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VOICE IN, INTELLIGENCE OUT — IN ANY LANGUAGE</a:t>
            </a:r>
            <a:endParaRPr lang="en-US" sz="82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END-TO-END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Data flow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From user voice to governed insight and enterprise action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9848" y="1764792"/>
            <a:ext cx="475488" cy="47548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69848" y="18333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404872"/>
            <a:ext cx="1627632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" y="2596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Capture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Voice or typed prompt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57984" y="2834640"/>
            <a:ext cx="201168" cy="292608"/>
          </a:xfrm>
          <a:prstGeom prst="chevron">
            <a:avLst/>
          </a:prstGeom>
          <a:solidFill>
            <a:srgbClr val="20C7D9">
              <a:alpha val="85000"/>
            </a:srgbClr>
          </a:solidFill>
          <a:ln w="12700">
            <a:solidFill>
              <a:srgbClr val="20C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53512" y="1764792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53512" y="18333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86584" y="2404872"/>
            <a:ext cx="1627632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96312" y="2596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Normalize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Transcribe + translate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41648" y="2834640"/>
            <a:ext cx="201168" cy="292608"/>
          </a:xfrm>
          <a:prstGeom prst="chevron">
            <a:avLst/>
          </a:prstGeom>
          <a:solidFill>
            <a:srgbClr val="2F80ED">
              <a:alpha val="8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37176" y="1764792"/>
            <a:ext cx="475488" cy="475488"/>
          </a:xfrm>
          <a:prstGeom prst="ellipse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37176" y="18333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0248" y="2404872"/>
            <a:ext cx="1627632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79976" y="2596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Route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98264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Classify intent + agent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25312" y="2834640"/>
            <a:ext cx="201168" cy="292608"/>
          </a:xfrm>
          <a:prstGeom prst="chevron">
            <a:avLst/>
          </a:prstGeom>
          <a:solidFill>
            <a:srgbClr val="7157D9">
              <a:alpha val="85000"/>
            </a:srgbClr>
          </a:solidFill>
          <a:ln w="12700">
            <a:solidFill>
              <a:srgbClr val="715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20840" y="17647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20840" y="18333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53912" y="2404872"/>
            <a:ext cx="1627632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2596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Execute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SQL • Search • MCP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08976" y="2834640"/>
            <a:ext cx="201168" cy="292608"/>
          </a:xfrm>
          <a:prstGeom prst="chevron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04504" y="1764792"/>
            <a:ext cx="475488" cy="475488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04504" y="18333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37576" y="2404872"/>
            <a:ext cx="1627632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147304" y="2596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Ground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65592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Compose with citations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692640" y="2834640"/>
            <a:ext cx="201168" cy="292608"/>
          </a:xfrm>
          <a:prstGeom prst="chevron">
            <a:avLst/>
          </a:prstGeom>
          <a:solidFill>
            <a:srgbClr val="24B47E">
              <a:alpha val="85000"/>
            </a:srgbClr>
          </a:solidFill>
          <a:ln w="12700">
            <a:solidFill>
              <a:srgbClr val="24B4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488168" y="1764792"/>
            <a:ext cx="475488" cy="475488"/>
          </a:xfrm>
          <a:prstGeom prst="ellipse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488168" y="18333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921240" y="2404872"/>
            <a:ext cx="1627632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030968" y="25968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Act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49256" y="2990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Chart • Jira • Share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4041648"/>
            <a:ext cx="713232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3232" y="4261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64748B"/>
                </a:solidFill>
              </a:rPr>
              <a:t>CORE DATA MODEL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7240" y="469087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2F80ED">
              <a:alpha val="95000"/>
            </a:srgbClr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77240" y="480060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CUSTOMERS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377440" y="469087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7157D9">
              <a:alpha val="95000"/>
            </a:srgbClr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377440" y="480060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POLICIES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3977640" y="469087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977640" y="480060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CLAIMS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577840" y="441655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24B47E">
              <a:alpha val="95000"/>
            </a:srgbClr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577840" y="452628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BILLING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5577840" y="5010912"/>
            <a:ext cx="1234440" cy="384048"/>
          </a:xfrm>
          <a:prstGeom prst="roundRect">
            <a:avLst>
              <a:gd name="adj" fmla="val 9524"/>
            </a:avLst>
          </a:prstGeom>
          <a:solidFill>
            <a:srgbClr val="EF5B5B">
              <a:alpha val="95000"/>
            </a:srgbClr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577840" y="51206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AT-RISK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2011680" y="4882896"/>
            <a:ext cx="365760" cy="1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611880" y="4882896"/>
            <a:ext cx="365760" cy="1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 flipV="1">
            <a:off x="5212080" y="4626864"/>
            <a:ext cx="365760" cy="25603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212080" y="4882896"/>
            <a:ext cx="365760" cy="3383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882128" y="4041648"/>
            <a:ext cx="3803904" cy="1536192"/>
          </a:xfrm>
          <a:prstGeom prst="roundRect">
            <a:avLst>
              <a:gd name="adj" fmla="val 4167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138160" y="4279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C7D9"/>
                </a:solidFill>
              </a:rPr>
              <a:t>DATA ESTATE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464515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18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796528" y="467258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D1DF"/>
                </a:solidFill>
              </a:rPr>
              <a:t>Tables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738360" y="464515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396728" y="467258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D1DF"/>
                </a:solidFill>
              </a:rPr>
              <a:t>Views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138160" y="510235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796528" y="512978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D1DF"/>
                </a:solidFill>
              </a:rPr>
              <a:t>Semantic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738360" y="510235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~2,070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396728" y="512978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D1DF"/>
                </a:solidFill>
              </a:rPr>
              <a:t>Rows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INPUT IS NORMALIZED ON THE EXPERIENCE LAYER; GOVERNANCE IS ENFORCED THROUGHOUT THE DATA AND AI PATH</a:t>
            </a:r>
            <a:endParaRPr lang="en-US" sz="82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CORTEX AGENTS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Agent orchestration deep dive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Intent-led routing across analytical, retrieval, visualization and action tools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1874520" cy="822960"/>
          </a:xfrm>
          <a:prstGeom prst="roundRect">
            <a:avLst>
              <a:gd name="adj" fmla="val 7778"/>
            </a:avLst>
          </a:prstGeom>
          <a:solidFill>
            <a:srgbClr val="E9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68096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Prompt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2157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Voice / text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78608" y="1956816"/>
            <a:ext cx="228600" cy="292608"/>
          </a:xfrm>
          <a:prstGeom prst="chevron">
            <a:avLst/>
          </a:prstGeom>
          <a:solidFill>
            <a:srgbClr val="20C7D9">
              <a:alpha val="85000"/>
            </a:srgbClr>
          </a:solidFill>
          <a:ln w="12700">
            <a:solidFill>
              <a:srgbClr val="20C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1874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35808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35808" y="2157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Domain + intent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0" y="1956816"/>
            <a:ext cx="228600" cy="292608"/>
          </a:xfrm>
          <a:prstGeom prst="chevron">
            <a:avLst/>
          </a:prstGeom>
          <a:solidFill>
            <a:srgbClr val="2F80ED">
              <a:alpha val="8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93792" y="1691640"/>
            <a:ext cx="1874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Route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157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Agent + tool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14032" y="1956816"/>
            <a:ext cx="228600" cy="292608"/>
          </a:xfrm>
          <a:prstGeom prst="chevron">
            <a:avLst/>
          </a:prstGeom>
          <a:solidFill>
            <a:srgbClr val="7157D9">
              <a:alpha val="85000"/>
            </a:srgbClr>
          </a:solidFill>
          <a:ln w="12700">
            <a:solidFill>
              <a:srgbClr val="715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61504" y="1691640"/>
            <a:ext cx="1874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71232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Execute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71232" y="2157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SQL / RAG / MCP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381744" y="1956816"/>
            <a:ext cx="228600" cy="292608"/>
          </a:xfrm>
          <a:prstGeom prst="chevron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729216" y="1691640"/>
            <a:ext cx="18745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838944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Respond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38944" y="2157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Citations + action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64748B"/>
                </a:solidFill>
              </a:rPr>
              <a:t>ROUTING MAP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090672"/>
            <a:ext cx="11183112" cy="356616"/>
          </a:xfrm>
          <a:prstGeom prst="roundRect">
            <a:avLst>
              <a:gd name="adj" fmla="val 7692"/>
            </a:avLst>
          </a:prstGeom>
          <a:solidFill>
            <a:srgbClr val="F0F5F8"/>
          </a:solidFill>
          <a:ln w="12700">
            <a:solidFill>
              <a:srgbClr val="F0F5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090672"/>
            <a:ext cx="54864" cy="3566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3232" y="3191256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Customers • policies • claims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657600" y="319125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2942"/>
                </a:solidFill>
              </a:rPr>
              <a:t>Insurance Operations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492240" y="31912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Cortex Analyst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732520" y="319125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SV_INSURANCE_OPS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02920" y="3538728"/>
            <a:ext cx="11183112" cy="35661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02920" y="3538728"/>
            <a:ext cx="54864" cy="356616"/>
          </a:xfrm>
          <a:prstGeom prst="rect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13232" y="36393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Data quality • failed rules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657600" y="363931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2942"/>
                </a:solidFill>
              </a:rPr>
              <a:t>Data Quality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492240" y="36393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Cortex Analyst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732520" y="363931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SV_DATA_QUALITY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02920" y="3986784"/>
            <a:ext cx="11183112" cy="356616"/>
          </a:xfrm>
          <a:prstGeom prst="roundRect">
            <a:avLst>
              <a:gd name="adj" fmla="val 7692"/>
            </a:avLst>
          </a:prstGeom>
          <a:solidFill>
            <a:srgbClr val="F0F5F8"/>
          </a:solidFill>
          <a:ln w="12700">
            <a:solidFill>
              <a:srgbClr val="F0F5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02920" y="3986784"/>
            <a:ext cx="54864" cy="356616"/>
          </a:xfrm>
          <a:prstGeom prst="rect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3232" y="40873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Coverage • exclusions • benefits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657600" y="408736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2942"/>
                </a:solidFill>
              </a:rPr>
              <a:t>Policy Search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492240" y="408736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Cortex Search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8732520" y="4087368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SEARCH_SVC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02920" y="4434840"/>
            <a:ext cx="11183112" cy="35661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02920" y="4434840"/>
            <a:ext cx="54864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13232" y="453542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Pricing • market • competition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657600" y="453542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2942"/>
                </a:solidFill>
              </a:rPr>
              <a:t>Market Intelligence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492240" y="453542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Cortex Analyst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8732520" y="4535424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Semantic Views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02920" y="4882896"/>
            <a:ext cx="11183112" cy="356616"/>
          </a:xfrm>
          <a:prstGeom prst="roundRect">
            <a:avLst>
              <a:gd name="adj" fmla="val 7692"/>
            </a:avLst>
          </a:prstGeom>
          <a:solidFill>
            <a:srgbClr val="F0F5F8"/>
          </a:solidFill>
          <a:ln w="12700">
            <a:solidFill>
              <a:srgbClr val="F0F5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2920" y="4882896"/>
            <a:ext cx="54864" cy="356616"/>
          </a:xfrm>
          <a:prstGeom prst="rect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13232" y="498348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Product recommendation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657600" y="498348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2942"/>
                </a:solidFill>
              </a:rPr>
              <a:t>Product Matching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492240" y="49834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Cortex Analyst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8732520" y="4983480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SV_PRODUCT_MATCHING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02920" y="5330952"/>
            <a:ext cx="11183112" cy="35661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02920" y="5330952"/>
            <a:ext cx="54864" cy="356616"/>
          </a:xfrm>
          <a:prstGeom prst="rect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13232" y="5431536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Create / search work items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657600" y="543153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2942"/>
                </a:solidFill>
              </a:rPr>
              <a:t>Enterprise Hub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6492240" y="543153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Atlassian MCP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8732520" y="543153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Jira / Confluence</a:t>
            </a:r>
            <a:endParaRPr lang="en-US" sz="82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CORTEX ANALYST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Semantic layer and verified queries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How natural language becomes accurate, governed SQL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73352"/>
            <a:ext cx="160934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Natural language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48840" y="1965960"/>
            <a:ext cx="192024" cy="292608"/>
          </a:xfrm>
          <a:prstGeom prst="chevron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386584" y="1673352"/>
            <a:ext cx="160934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96312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Select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Semantic view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32504" y="1965960"/>
            <a:ext cx="192024" cy="292608"/>
          </a:xfrm>
          <a:prstGeom prst="chevron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70248" y="1673352"/>
            <a:ext cx="160934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79976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Match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9976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Verified query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16168" y="1965960"/>
            <a:ext cx="192024" cy="292608"/>
          </a:xfrm>
          <a:prstGeom prst="chevron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53912" y="1673352"/>
            <a:ext cx="160934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Generate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Fallback SQL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99832" y="1965960"/>
            <a:ext cx="192024" cy="292608"/>
          </a:xfrm>
          <a:prstGeom prst="chevron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037576" y="1673352"/>
            <a:ext cx="160934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47304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Execute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47304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Warehouse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83496" y="1965960"/>
            <a:ext cx="192024" cy="292608"/>
          </a:xfrm>
          <a:prstGeom prst="chevron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921240" y="1673352"/>
            <a:ext cx="160934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030968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942"/>
                </a:solidFill>
              </a:rPr>
              <a:t>Return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30968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Data + chart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926080"/>
            <a:ext cx="204825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" y="3172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942"/>
                </a:solidFill>
              </a:rPr>
              <a:t>Insurance Ops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" y="358444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6 tables  •  15 facts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24128" y="39136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97280" y="396392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10 VQRs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52344" y="2926080"/>
            <a:ext cx="204825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98648" y="3172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942"/>
                </a:solidFill>
              </a:rPr>
              <a:t>Data Quality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62072" y="358444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4 tables  •  10 facts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73552" y="39136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46704" y="396392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5 VQRs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01768" y="2926080"/>
            <a:ext cx="204825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48072" y="3172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942"/>
                </a:solidFill>
              </a:rPr>
              <a:t>Competitive Intel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11496" y="358444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4 tables  •  17 facts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22976" y="39136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596128" y="396392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4 VQRs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51192" y="2926080"/>
            <a:ext cx="204825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97496" y="3172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942"/>
                </a:solidFill>
              </a:rPr>
              <a:t>Market Intelligence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60920" y="358444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 tables  •  8 facts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72400" y="39136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45552" y="396392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3 VQRs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500616" y="2926080"/>
            <a:ext cx="204825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646920" y="31729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942"/>
                </a:solidFill>
              </a:rPr>
              <a:t>Product Matching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610344" y="358444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 tables  •  8 facts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021824" y="391363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0094976" y="3963924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3 VQRs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" y="4700016"/>
            <a:ext cx="11183112" cy="1078992"/>
          </a:xfrm>
          <a:prstGeom prst="roundRect">
            <a:avLst>
              <a:gd name="adj" fmla="val 5932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49808" y="4937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0C7D9"/>
                </a:solidFill>
              </a:rPr>
              <a:t>VERIFIED QUERY EXAMPLES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090672" y="488289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</a:rPr>
              <a:t>✓  Premium revenue by policy type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5157216" y="488289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</a:rPr>
              <a:t>✓  Revenue at risk by category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7223760" y="488289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</a:rPr>
              <a:t>✓  Pricing versus competitors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9290304" y="488289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</a:rPr>
              <a:t>✓  Best product-matching strategy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VERIFIED QUERIES IMPROVE REPEATABILITY; SEMANTIC VIEWS KEEP BUSINESS LANGUAGE CONNECTED TO GOVERNED DATA</a:t>
            </a:r>
            <a:endParaRPr lang="en-US" sz="82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INSIGHT TO 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MCP and CoWork integration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Convert a governed insight into an enterprise action without context switching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252728" y="1700784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52728" y="17693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322576"/>
            <a:ext cx="1920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Discover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9718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Agent identifies a material pattern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2807208"/>
            <a:ext cx="237744" cy="292608"/>
          </a:xfrm>
          <a:prstGeom prst="chevron">
            <a:avLst/>
          </a:prstGeom>
          <a:solidFill>
            <a:srgbClr val="2F80ED">
              <a:alpha val="8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38728" y="1700784"/>
            <a:ext cx="475488" cy="475488"/>
          </a:xfrm>
          <a:prstGeom prst="ellipse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38728" y="17693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0360" y="2322576"/>
            <a:ext cx="1920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017520" y="25786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Recommend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44952" y="29718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Agent proposes a follow-up 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28032" y="2807208"/>
            <a:ext cx="237744" cy="292608"/>
          </a:xfrm>
          <a:prstGeom prst="chevron">
            <a:avLst/>
          </a:prstGeom>
          <a:solidFill>
            <a:srgbClr val="7157D9">
              <a:alpha val="85000"/>
            </a:srgbClr>
          </a:solidFill>
          <a:ln w="12700">
            <a:solidFill>
              <a:srgbClr val="7157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24728" y="170078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24728" y="17693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2322576"/>
            <a:ext cx="1920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03520" y="25786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Authorize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30952" y="29718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Per-user OAuth secures the request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14032" y="2807208"/>
            <a:ext cx="237744" cy="292608"/>
          </a:xfrm>
          <a:prstGeom prst="chevron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10728" y="1700784"/>
            <a:ext cx="475488" cy="475488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110728" y="17693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52360" y="2322576"/>
            <a:ext cx="1920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589520" y="25786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Execute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16952" y="29718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MCP creates or searches Jira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400032" y="2807208"/>
            <a:ext cx="237744" cy="292608"/>
          </a:xfrm>
          <a:prstGeom prst="chevron">
            <a:avLst/>
          </a:prstGeom>
          <a:solidFill>
            <a:srgbClr val="24B47E">
              <a:alpha val="85000"/>
            </a:srgbClr>
          </a:solidFill>
          <a:ln w="12700">
            <a:solidFill>
              <a:srgbClr val="24B4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396728" y="1700784"/>
            <a:ext cx="475488" cy="47548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396728" y="17693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38360" y="2322576"/>
            <a:ext cx="1920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875520" y="257860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942"/>
                </a:solidFill>
              </a:rPr>
              <a:t>Track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02952" y="29718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Work item links back to evidence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4142232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49808" y="4389120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MCP ARCHITECTURE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" y="47823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14400" y="468172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External MCP server registered in Snowflake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49808" y="50109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4400" y="491032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Dynamic client registration; no shared secret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49808" y="52395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14400" y="513892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Tokens stored per user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49808" y="54681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14400" y="536752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Jira + Confluence tools discovered by the agent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199632" y="4142232"/>
            <a:ext cx="5486400" cy="1508760"/>
          </a:xfrm>
          <a:prstGeom prst="roundRect">
            <a:avLst>
              <a:gd name="adj" fmla="val 4242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46520" y="4389120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B2942"/>
                </a:solidFill>
              </a:rPr>
              <a:t>CO-WORK EXPERIENCE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47823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611112" y="46817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Conversational BI and in-chat charts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446520" y="50109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611112" y="49103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Domain-specific or unified agent selection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446520" y="52395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611112" y="51389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Scheduled reports and shareable artifacts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446520" y="54681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611112" y="53675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72B3A"/>
                </a:solidFill>
              </a:rPr>
              <a:t>Per-user OAuth for enterprise actions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RESULT: INSIGHTS BECOME TRACKABLE ACTIONS WITH THE SUPPORTING DATA ATTACHED TO THE WORKFLOW</a:t>
            </a:r>
            <a:endParaRPr lang="en-US" sz="82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TRUST BY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Governance and security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Protection, access control and traceability are built into the platform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048256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89304" y="1920240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89304" y="19888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898648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</a:rPr>
              <a:t>6 database roles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Role-specific access and agent visibility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2752344" y="1691640"/>
            <a:ext cx="2048256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EF5B5B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38728" y="1920240"/>
            <a:ext cx="475488" cy="475488"/>
          </a:xfrm>
          <a:prstGeom prst="ellipse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38728" y="19888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Protect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898648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5B5B"/>
                </a:solidFill>
              </a:rPr>
              <a:t>3 masking policies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98648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Email, phone and address protected at query time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5001768" y="1691640"/>
            <a:ext cx="2048256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788152" y="1920240"/>
            <a:ext cx="475488" cy="475488"/>
          </a:xfrm>
          <a:prstGeom prst="ellipse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788152" y="19888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9784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Classify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9784" y="2898648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157D9"/>
                </a:solidFill>
              </a:rPr>
              <a:t>PII + domain tags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48072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Governance metadata applied at table creation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7251192" y="1691640"/>
            <a:ext cx="2048256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037576" y="19202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37576" y="19888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79208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Authenticate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79208" y="2898648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Per-user OAuth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97496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MCP tokens remain server-side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9500616" y="1691640"/>
            <a:ext cx="2048256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287000" y="1920240"/>
            <a:ext cx="475488" cy="475488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287000" y="19888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28632" y="253288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</a:rPr>
              <a:t>Ground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28632" y="2898648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B47E"/>
                </a:solidFill>
              </a:rPr>
              <a:t>Citations + VQRs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646920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4748B"/>
                </a:solidFill>
              </a:rPr>
              <a:t>Responses trace back to tool results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50292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64748B"/>
                </a:solidFill>
              </a:rPr>
              <a:t>ROLE HIERARCHY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43400"/>
            <a:ext cx="1645920" cy="749808"/>
          </a:xfrm>
          <a:prstGeom prst="roundRect">
            <a:avLst>
              <a:gd name="adj" fmla="val 6098"/>
            </a:avLst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76072" y="4498848"/>
            <a:ext cx="1499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INSURANCE ADMIN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072" y="481888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F6DADA"/>
                </a:solidFill>
              </a:rPr>
              <a:t>Full access + masking bypass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2386584" y="4343400"/>
            <a:ext cx="1645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459736" y="4498848"/>
            <a:ext cx="1499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942"/>
                </a:solidFill>
              </a:rPr>
              <a:t>DATA STEWARD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59736" y="481888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DQ read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70248" y="4343400"/>
            <a:ext cx="1645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343400" y="4498848"/>
            <a:ext cx="1499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942"/>
                </a:solidFill>
              </a:rPr>
              <a:t>EXEC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43400" y="481888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Analytics read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6153912" y="4343400"/>
            <a:ext cx="1645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27064" y="4498848"/>
            <a:ext cx="1499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942"/>
                </a:solidFill>
              </a:rPr>
              <a:t>UNDERWRITER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27064" y="481888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Analytics read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8037576" y="4343400"/>
            <a:ext cx="1645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110728" y="4498848"/>
            <a:ext cx="1499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942"/>
                </a:solidFill>
              </a:rPr>
              <a:t>CLAIMS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110728" y="481888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Analytics + documents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9921240" y="4343400"/>
            <a:ext cx="1645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9994392" y="4498848"/>
            <a:ext cx="1499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942"/>
                </a:solidFill>
              </a:rPr>
              <a:t>ANALYST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994392" y="481888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Base analytics read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502920" y="5404104"/>
            <a:ext cx="11183112" cy="539496"/>
          </a:xfrm>
          <a:prstGeom prst="roundRect">
            <a:avLst>
              <a:gd name="adj" fmla="val 11864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49808" y="559612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</a:rPr>
              <a:t>PII at query time  •  no duplicate datasets  •  structural tags  •  controlled agent visibility  •  auditable tool execution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GOVERNANCE IS A CROSS-CUTTING CONTROL PLANE, NOT A FINAL CHECKPOINT</a:t>
            </a:r>
            <a:endParaRPr lang="en-US" sz="82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OUTCOME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KPIs and business value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balanced scorecard across six insurance decision domains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44728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73152" cy="116128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58952" y="18928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2942"/>
                </a:solidFill>
              </a:rPr>
              <a:t>Underwriting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58952" y="2295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Premium • active policies • loss ratio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44728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73152" cy="1161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07992" y="18928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2942"/>
                </a:solidFill>
              </a:rPr>
              <a:t>Claims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07992" y="2295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Volume • resolution time • workload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01000" y="1691640"/>
            <a:ext cx="344728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73152" cy="1161288"/>
          </a:xfrm>
          <a:prstGeom prst="rect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57032" y="18928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2942"/>
                </a:solidFill>
              </a:rPr>
              <a:t>Fraud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57032" y="2295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High-risk claims • exposure • prevalence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344728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3136392"/>
            <a:ext cx="73152" cy="1161288"/>
          </a:xfrm>
          <a:prstGeom prst="rect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8952" y="3337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2942"/>
                </a:solidFill>
              </a:rPr>
              <a:t>Retention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58952" y="3739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Revenue at risk • churn • complaints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251960" y="3136392"/>
            <a:ext cx="344728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251960" y="3136392"/>
            <a:ext cx="73152" cy="1161288"/>
          </a:xfrm>
          <a:prstGeom prst="rect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07992" y="3337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2942"/>
                </a:solidFill>
              </a:rPr>
              <a:t>Pricing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507992" y="3739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Price ratio • share • scenario impact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001000" y="3136392"/>
            <a:ext cx="344728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01000" y="3136392"/>
            <a:ext cx="73152" cy="1161288"/>
          </a:xfrm>
          <a:prstGeom prst="rect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57032" y="3337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2942"/>
                </a:solidFill>
              </a:rPr>
              <a:t>Data Quality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257032" y="3739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Composite score • rule health • trends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4718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C7D9"/>
                </a:solidFill>
              </a:rPr>
              <a:t>EXPERIENCE KPIs  •  NEW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5038344"/>
            <a:ext cx="2048256" cy="749808"/>
          </a:xfrm>
          <a:prstGeom prst="roundRect">
            <a:avLst>
              <a:gd name="adj" fmla="val 8537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" y="52029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2942"/>
                </a:solidFill>
              </a:rPr>
              <a:t>Voice adoption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30936" y="54772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% prompts initiated by microphone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2752344" y="5038344"/>
            <a:ext cx="2048256" cy="749808"/>
          </a:xfrm>
          <a:prstGeom prst="roundRect">
            <a:avLst>
              <a:gd name="adj" fmla="val 8537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80360" y="52029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2942"/>
                </a:solidFill>
              </a:rPr>
              <a:t>Transcription success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880360" y="54772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% voice sessions producing reviewable text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001768" y="5038344"/>
            <a:ext cx="2048256" cy="749808"/>
          </a:xfrm>
          <a:prstGeom prst="roundRect">
            <a:avLst>
              <a:gd name="adj" fmla="val 8537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29784" y="52029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2942"/>
                </a:solidFill>
              </a:rPr>
              <a:t>Translation usage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129784" y="54772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% prompts auto-translated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7251192" y="5038344"/>
            <a:ext cx="2048256" cy="749808"/>
          </a:xfrm>
          <a:prstGeom prst="roundRect">
            <a:avLst>
              <a:gd name="adj" fmla="val 8537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379208" y="52029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2942"/>
                </a:solidFill>
              </a:rPr>
              <a:t>Review-to-send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379208" y="54772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% translated prompts sent after review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9500616" y="5038344"/>
            <a:ext cx="2048256" cy="749808"/>
          </a:xfrm>
          <a:prstGeom prst="roundRect">
            <a:avLst>
              <a:gd name="adj" fmla="val 8537"/>
            </a:avLst>
          </a:prstGeom>
          <a:solidFill>
            <a:srgbClr val="EDF9FB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628632" y="52029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2942"/>
                </a:solidFill>
              </a:rPr>
              <a:t>Language coverage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628632" y="54772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Distinct detected languages used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MEASURE BUSINESS OUTCOMES AND EXPERIENCE ADOPTION TO PROVE VALUE AT EXECUTIVE LEVEL</a:t>
            </a:r>
            <a:endParaRPr lang="en-US" sz="82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0C7D9"/>
                </a:solidFill>
              </a:rPr>
              <a:t>EXECUTIVE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42"/>
                </a:solidFill>
              </a:rPr>
              <a:t>Summary and next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production-ready foundation with a clear path to scale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6276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64008" cy="822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7512" y="173736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942"/>
                </a:solidFill>
              </a:rPr>
              <a:t>18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" y="2103120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governed tables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86584" y="1627632"/>
            <a:ext cx="16276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86584" y="1627632"/>
            <a:ext cx="64008" cy="822960"/>
          </a:xfrm>
          <a:prstGeom prst="rect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51176" y="173736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942"/>
                </a:solidFill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51176" y="2103120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semantic 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70248" y="1627632"/>
            <a:ext cx="16276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70248" y="1627632"/>
            <a:ext cx="64008" cy="822960"/>
          </a:xfrm>
          <a:prstGeom prst="rect">
            <a:avLst/>
          </a:prstGeom>
          <a:solidFill>
            <a:srgbClr val="7157D9"/>
          </a:solidFill>
          <a:ln w="12700">
            <a:solidFill>
              <a:srgbClr val="715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34840" y="173736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942"/>
                </a:solidFill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Cortex Agents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1627632"/>
            <a:ext cx="16276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53912" y="1627632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18504" y="173736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942"/>
                </a:solidFill>
              </a:rPr>
              <a:t>25+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18504" y="2103120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verified queries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37576" y="1627632"/>
            <a:ext cx="16276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037576" y="1627632"/>
            <a:ext cx="64008" cy="822960"/>
          </a:xfrm>
          <a:prstGeom prst="rect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02168" y="173736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942"/>
                </a:solidFill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02168" y="2103120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voice-enabled pages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21240" y="1627632"/>
            <a:ext cx="16276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921240" y="1627632"/>
            <a:ext cx="64008" cy="822960"/>
          </a:xfrm>
          <a:prstGeom prst="rect">
            <a:avLst/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85832" y="1737360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942"/>
                </a:solidFill>
              </a:rPr>
              <a:t>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85832" y="2103120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MCP connector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798064"/>
            <a:ext cx="5413248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9808" y="3072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WHAT IS NOW DIFFERENT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" y="3566160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4400" y="3465576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B3A"/>
                </a:solidFill>
              </a:rPr>
              <a:t>Every page accepts voice input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9808" y="3877056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0" y="3776472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B3A"/>
                </a:solidFill>
              </a:rPr>
              <a:t>Non-English prompts are translated automatically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" y="418795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14400" y="4087368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B3A"/>
                </a:solidFill>
              </a:rPr>
              <a:t>Users review translated text before sending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9808" y="4498848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14400" y="4398264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B3A"/>
                </a:solidFill>
              </a:rPr>
              <a:t>Agents receive a normalized English prompt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9808" y="480974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14400" y="4709160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B3A"/>
                </a:solidFill>
              </a:rPr>
              <a:t>Governance and citations stay intact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" y="5120640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14400" y="5020056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B3A"/>
                </a:solidFill>
              </a:rPr>
              <a:t>Insights can flow into Jira through MCP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2798064"/>
            <a:ext cx="5513832" cy="2606040"/>
          </a:xfrm>
          <a:prstGeom prst="roundRect">
            <a:avLst>
              <a:gd name="adj" fmla="val 2456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46520" y="30723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0C7D9"/>
                </a:solidFill>
              </a:rPr>
              <a:t>PRODUCTION READINESS PATH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19088" y="3557016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83680" y="3456432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</a:rPr>
              <a:t>Connect production sources via Openflow / CDC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6419088" y="3867912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583680" y="376732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</a:rPr>
              <a:t>Benchmark agent quality with Cortex Evaluations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6419088" y="4178808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83680" y="407822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</a:rPr>
              <a:t>Harden network, MFA and audit controls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6419088" y="4489704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583680" y="4389120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</a:rPr>
              <a:t>Load test at production data volumes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6419088" y="4800600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583680" y="470001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</a:rPr>
              <a:t>Onboard role-based user cohorts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6419088" y="5111496"/>
            <a:ext cx="64008" cy="64008"/>
          </a:xfrm>
          <a:prstGeom prst="ellipse">
            <a:avLst/>
          </a:prstGeom>
          <a:solidFill>
            <a:srgbClr val="20C7D9"/>
          </a:solidFill>
          <a:ln w="12700">
            <a:solidFill>
              <a:srgbClr val="20C7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583680" y="5010912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</a:rPr>
              <a:t>Promote CI/CD from dev to staging to prod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2920" y="6144768"/>
            <a:ext cx="11183112" cy="320040"/>
          </a:xfrm>
          <a:prstGeom prst="roundRect">
            <a:avLst>
              <a:gd name="adj" fmla="val 11429"/>
            </a:avLst>
          </a:prstGeom>
          <a:solidFill>
            <a:srgbClr val="0B2942"/>
          </a:solidFill>
          <a:ln w="12700">
            <a:solidFill>
              <a:srgbClr val="0B2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85800" y="6217920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5" dirty="0">
                <a:solidFill>
                  <a:srgbClr val="FFFFFF"/>
                </a:solidFill>
              </a:rPr>
              <a:t>VOICE IN, INTELLIGENCE OUT — A GOVERNED, MULTILINGUAL AI HUB FOR INSURANCE</a:t>
            </a:r>
            <a:endParaRPr lang="en-US" sz="82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1411</Words>
  <Application>Microsoft Office PowerPoint</Application>
  <PresentationFormat>Widescreen</PresentationFormat>
  <Paragraphs>350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AI Hub — Solution Architecture Deep Dive</dc:title>
  <dc:subject>Insurance AI Hub Architecture</dc:subject>
  <dc:creator>Agnihotri, Rakesh</dc:creator>
  <cp:lastModifiedBy>Agnihotri, Rakesh</cp:lastModifiedBy>
  <cp:revision>2</cp:revision>
  <dcterms:created xsi:type="dcterms:W3CDTF">2026-09-14T07:10:59Z</dcterms:created>
  <dcterms:modified xsi:type="dcterms:W3CDTF">2026-09-23T04:38:03Z</dcterms:modified>
</cp:coreProperties>
</file>