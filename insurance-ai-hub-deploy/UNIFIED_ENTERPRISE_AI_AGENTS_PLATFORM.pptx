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3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
- Web Speech API and Snowflake Cortex AI Translate behavior are described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- User-provided presentation: Insurance_AI_Hub_Architecture_Presentation.pptx
- User-provided voice-input feature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B29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INSURANCE AI HUB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326880" y="1645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CAPGEMINI  •  SNOWFLAKE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6565392"/>
            <a:ext cx="11365992" cy="0"/>
          </a:xfrm>
          <a:prstGeom prst="line">
            <a:avLst/>
          </a:prstGeom>
          <a:noFill/>
          <a:ln w="10160">
            <a:solidFill>
              <a:srgbClr val="D8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66019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A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 Deep Dive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320040"/>
            <a:ext cx="2057400" cy="2057400"/>
          </a:xfrm>
          <a:prstGeom prst="ellipse">
            <a:avLst/>
          </a:prstGeom>
          <a:solidFill>
            <a:srgbClr val="20C7D9">
              <a:alpha val="10000"/>
            </a:srgbClr>
          </a:solidFill>
          <a:ln w="12700">
            <a:solidFill>
              <a:srgbClr val="20C7D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914400"/>
            <a:ext cx="1371600" cy="1371600"/>
          </a:xfrm>
          <a:prstGeom prst="ellipse">
            <a:avLst/>
          </a:prstGeom>
          <a:solidFill>
            <a:srgbClr val="7157D9">
              <a:alpha val="12000"/>
            </a:srgbClr>
          </a:solidFill>
          <a:ln w="12700">
            <a:solidFill>
              <a:srgbClr val="7157D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9436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70" dirty="0">
                <a:solidFill>
                  <a:srgbClr val="20C7D9"/>
                </a:solidFill>
              </a:rPr>
              <a:t>SOLUTION ARCHITECTURE  •  DEEP DIVE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Insurance AI Hub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9E8F1"/>
                </a:solidFill>
              </a:rPr>
              <a:t>Snowflake-native intelligence for governed, multilingual insurance operations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3227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9C1D1"/>
                </a:solidFill>
              </a:rPr>
              <a:t>Tables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240280" y="2880360"/>
            <a:ext cx="1" cy="566928"/>
          </a:xfrm>
          <a:prstGeom prst="line">
            <a:avLst/>
          </a:prstGeom>
          <a:noFill/>
          <a:ln w="12700">
            <a:solidFill>
              <a:srgbClr val="3152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96312" y="3227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9C1D1"/>
                </a:solidFill>
              </a:rPr>
              <a:t>Semantic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096512" y="2880360"/>
            <a:ext cx="1" cy="566928"/>
          </a:xfrm>
          <a:prstGeom prst="line">
            <a:avLst/>
          </a:prstGeom>
          <a:noFill/>
          <a:ln w="12700">
            <a:solidFill>
              <a:srgbClr val="3152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52544" y="3227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9C1D1"/>
                </a:solidFill>
              </a:rPr>
              <a:t>Cortex Agents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52744" y="2880360"/>
            <a:ext cx="1" cy="566928"/>
          </a:xfrm>
          <a:prstGeom prst="line">
            <a:avLst/>
          </a:prstGeom>
          <a:noFill/>
          <a:ln w="12700">
            <a:solidFill>
              <a:srgbClr val="3152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08776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25+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08776" y="3227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9C1D1"/>
                </a:solidFill>
              </a:rPr>
              <a:t>Verified Queries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808976" y="2880360"/>
            <a:ext cx="1" cy="566928"/>
          </a:xfrm>
          <a:prstGeom prst="line">
            <a:avLst/>
          </a:prstGeom>
          <a:noFill/>
          <a:ln w="12700">
            <a:solidFill>
              <a:srgbClr val="31526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65008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065008" y="3227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9C1D1"/>
                </a:solidFill>
              </a:rPr>
              <a:t>RBAC Roles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665208" y="2880360"/>
            <a:ext cx="1" cy="566928"/>
          </a:xfrm>
          <a:prstGeom prst="line">
            <a:avLst/>
          </a:prstGeom>
          <a:noFill/>
          <a:ln w="12700">
            <a:solidFill>
              <a:srgbClr val="3152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21240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0C7D9"/>
                </a:solidFill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921240" y="3227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9C1D1"/>
                </a:solidFill>
              </a:rPr>
              <a:t>Voice-enabled Pages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4160520"/>
            <a:ext cx="6126480" cy="868680"/>
          </a:xfrm>
          <a:prstGeom prst="roundRect">
            <a:avLst>
              <a:gd name="adj" fmla="val 8421"/>
            </a:avLst>
          </a:prstGeom>
          <a:solidFill>
            <a:srgbClr val="143B59"/>
          </a:solidFill>
          <a:ln w="12700">
            <a:solidFill>
              <a:srgbClr val="2B587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4361688"/>
            <a:ext cx="475488" cy="47548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43026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81328" y="43159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NEW  •  Multilingual voice input on every page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81328" y="46451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AE8"/>
                </a:solidFill>
              </a:rPr>
              <a:t>Speak naturally. Review the translation. Send with confidence.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58978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Presented by Rakesh Agnihotri  |  Capgemini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1996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B5C5"/>
                </a:solidFill>
              </a:rPr>
              <a:t>September 11, 2026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223760" y="61996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100" dirty="0">
                <a:solidFill>
                  <a:srgbClr val="20C7D9"/>
                </a:solidFill>
              </a:rPr>
              <a:t>VOICE IN  •  INTELLIGENCE OUT  •  IN ANY LANGUAGE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OPERATING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Solution approach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 phased, composable path from governed data to action-oriented intelligence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25420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938528"/>
            <a:ext cx="841248" cy="256032"/>
          </a:xfrm>
          <a:prstGeom prst="roundRect">
            <a:avLst>
              <a:gd name="adj" fmla="val 1785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988820"/>
            <a:ext cx="694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PHASE 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67512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942"/>
                </a:solidFill>
              </a:rPr>
              <a:t>Data Foundation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" y="288950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78892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18 tables • 3 schemas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667512" y="320954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10896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PII tags + masking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67512" y="352958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" y="342900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RBAC hierarchy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3099816" y="2697480"/>
            <a:ext cx="256032" cy="292608"/>
          </a:xfrm>
          <a:prstGeom prst="chevron">
            <a:avLst/>
          </a:prstGeom>
          <a:solidFill>
            <a:srgbClr val="2F80ED">
              <a:alpha val="85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19272" y="1755648"/>
            <a:ext cx="25420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  <a:effectLst/>
        </p:spPr>
      </p:sp>
      <p:sp>
        <p:nvSpPr>
          <p:cNvPr id="17" name="Shape 15"/>
          <p:cNvSpPr/>
          <p:nvPr/>
        </p:nvSpPr>
        <p:spPr>
          <a:xfrm>
            <a:off x="3483864" y="1938528"/>
            <a:ext cx="841248" cy="256032"/>
          </a:xfrm>
          <a:prstGeom prst="roundRect">
            <a:avLst>
              <a:gd name="adj" fmla="val 17857"/>
            </a:avLst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57016" y="1988820"/>
            <a:ext cx="694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PHASE 02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83864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942"/>
                </a:solidFill>
              </a:rPr>
              <a:t>Semantic Layer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483864" y="288950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48456" y="278892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5 semantic views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3483864" y="320954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48456" y="310896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25+ verified queries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3483864" y="352958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48456" y="342900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Cortex Analyst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5916168" y="2697480"/>
            <a:ext cx="256032" cy="292608"/>
          </a:xfrm>
          <a:prstGeom prst="chevron">
            <a:avLst/>
          </a:prstGeom>
          <a:solidFill>
            <a:srgbClr val="24B47E">
              <a:alpha val="85000"/>
            </a:srgbClr>
          </a:solidFill>
          <a:ln w="12700">
            <a:solidFill>
              <a:srgbClr val="24B47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35624" y="1755648"/>
            <a:ext cx="25420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  <a:effectLst/>
        </p:spPr>
      </p:sp>
      <p:sp>
        <p:nvSpPr>
          <p:cNvPr id="28" name="Shape 26"/>
          <p:cNvSpPr/>
          <p:nvPr/>
        </p:nvSpPr>
        <p:spPr>
          <a:xfrm>
            <a:off x="6300216" y="1938528"/>
            <a:ext cx="841248" cy="256032"/>
          </a:xfrm>
          <a:prstGeom prst="roundRect">
            <a:avLst>
              <a:gd name="adj" fmla="val 17857"/>
            </a:avLst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1988820"/>
            <a:ext cx="694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PHASE 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300216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942"/>
                </a:solidFill>
              </a:rPr>
              <a:t>AI Intelligence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300216" y="288950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64808" y="278892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5 Cortex Agents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6300216" y="320954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4808" y="310896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RAG + NL-to-SQL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6300216" y="352958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64808" y="342900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Charts and citations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8732520" y="2697480"/>
            <a:ext cx="256032" cy="292608"/>
          </a:xfrm>
          <a:prstGeom prst="chevron">
            <a:avLst/>
          </a:prstGeom>
          <a:solidFill>
            <a:srgbClr val="7157D9">
              <a:alpha val="85000"/>
            </a:srgbClr>
          </a:solidFill>
          <a:ln w="12700">
            <a:solidFill>
              <a:srgbClr val="7157D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951976" y="1755648"/>
            <a:ext cx="25420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/>
        </p:spPr>
      </p:sp>
      <p:sp>
        <p:nvSpPr>
          <p:cNvPr id="39" name="Shape 37"/>
          <p:cNvSpPr/>
          <p:nvPr/>
        </p:nvSpPr>
        <p:spPr>
          <a:xfrm>
            <a:off x="9116568" y="1938528"/>
            <a:ext cx="841248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89720" y="1988820"/>
            <a:ext cx="694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PHASE 04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116568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942"/>
                </a:solidFill>
              </a:rPr>
              <a:t>Experience &amp; Action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9116568" y="288950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281160" y="278892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React hub + CoWork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9116568" y="320954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81160" y="310896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Voice + translation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9116568" y="352958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0" y="342900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172B3A"/>
                </a:solidFill>
              </a:rPr>
              <a:t>MCP to Jira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502920" y="43159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64748B"/>
                </a:solidFill>
              </a:rPr>
              <a:t>DESIGN PRINCIPLES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2920" y="4617720"/>
            <a:ext cx="20574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4773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0ED"/>
                </a:solidFill>
              </a:rPr>
              <a:t>Native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0080" y="505663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Storage, compute, AI and governance on Snowflake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752344" y="4617720"/>
            <a:ext cx="20574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9504" y="4773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B47E"/>
                </a:solidFill>
              </a:rPr>
              <a:t>Composable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889504" y="505663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Deploy and scale each service independently</a:t>
            </a:r>
            <a:endParaRPr lang="en-US" sz="820" dirty="0"/>
          </a:p>
        </p:txBody>
      </p:sp>
      <p:sp>
        <p:nvSpPr>
          <p:cNvPr id="55" name="Shape 53"/>
          <p:cNvSpPr/>
          <p:nvPr/>
        </p:nvSpPr>
        <p:spPr>
          <a:xfrm>
            <a:off x="5001768" y="4617720"/>
            <a:ext cx="20574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38928" y="4773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57D9"/>
                </a:solidFill>
              </a:rPr>
              <a:t>Grounded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138928" y="505663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Citations and verified queries by design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7251192" y="4617720"/>
            <a:ext cx="20574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88352" y="4773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C7D9"/>
                </a:solidFill>
              </a:rPr>
              <a:t>Inclusive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388352" y="505663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Voice input and automatic language translation</a:t>
            </a:r>
            <a:endParaRPr lang="en-US" sz="820" dirty="0"/>
          </a:p>
        </p:txBody>
      </p:sp>
      <p:sp>
        <p:nvSpPr>
          <p:cNvPr id="61" name="Shape 59"/>
          <p:cNvSpPr/>
          <p:nvPr/>
        </p:nvSpPr>
        <p:spPr>
          <a:xfrm>
            <a:off x="9500616" y="4617720"/>
            <a:ext cx="20574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637776" y="4773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Actionable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637776" y="505663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Move from insight to Jira action via MCP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ONE PLATFORM  •  GOVERNED DATA  •  TRUSTED AI  •  MULTILINGUAL EXPERIENCE  •  ENTERPRISE ACTIONS</a:t>
            </a:r>
            <a:endParaRPr lang="en-US" sz="820" dirty="0"/>
          </a:p>
        </p:txBody>
      </p:sp>
      <p:sp>
        <p:nvSpPr>
          <p:cNvPr id="6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REFERENCE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Technical architecture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 layered view from user interaction to governed enterprise data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197510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20C7D9"/>
                </a:solidFill>
              </a:rPr>
              <a:t>EXPERIENCE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417320" y="2130552"/>
            <a:ext cx="228600" cy="1"/>
          </a:xfrm>
          <a:prstGeom prst="line">
            <a:avLst/>
          </a:prstGeom>
          <a:noFill/>
          <a:ln w="25400">
            <a:solidFill>
              <a:srgbClr val="20C7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55648" y="1719072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901952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AI Assistant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769157" y="1719072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2309" y="1901952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Knowledge Hub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782666" y="1719072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5818" y="1901952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Data Explorer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96174" y="1719072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9326" y="1901952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Specialized Agents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809683" y="1719072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2835" y="1901952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Snowflake CoWork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2971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7157D9"/>
                </a:solidFill>
              </a:rPr>
              <a:t>ORCHESTRATION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17320" y="3127248"/>
            <a:ext cx="228600" cy="1"/>
          </a:xfrm>
          <a:prstGeom prst="line">
            <a:avLst/>
          </a:prstGeom>
          <a:noFill/>
          <a:ln w="25400">
            <a:solidFill>
              <a:srgbClr val="7157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55648" y="2715768"/>
            <a:ext cx="2370582" cy="960120"/>
          </a:xfrm>
          <a:prstGeom prst="roundRect">
            <a:avLst>
              <a:gd name="adj" fmla="val 6667"/>
            </a:avLst>
          </a:prstGeom>
          <a:solidFill>
            <a:srgbClr val="F1EDFD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2898648"/>
            <a:ext cx="222427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Cortex Agent Router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72534" y="2715768"/>
            <a:ext cx="2370582" cy="960120"/>
          </a:xfrm>
          <a:prstGeom prst="roundRect">
            <a:avLst>
              <a:gd name="adj" fmla="val 6667"/>
            </a:avLst>
          </a:prstGeom>
          <a:solidFill>
            <a:srgbClr val="F1EDFD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5686" y="2898648"/>
            <a:ext cx="222427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Intent Classification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89420" y="2715768"/>
            <a:ext cx="2370582" cy="960120"/>
          </a:xfrm>
          <a:prstGeom prst="roundRect">
            <a:avLst>
              <a:gd name="adj" fmla="val 6667"/>
            </a:avLst>
          </a:prstGeom>
          <a:solidFill>
            <a:srgbClr val="F1EDFD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62572" y="2898648"/>
            <a:ext cx="222427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Tool Selection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06306" y="2715768"/>
            <a:ext cx="2370582" cy="960120"/>
          </a:xfrm>
          <a:prstGeom prst="roundRect">
            <a:avLst>
              <a:gd name="adj" fmla="val 6667"/>
            </a:avLst>
          </a:prstGeom>
          <a:solidFill>
            <a:srgbClr val="F1EDFD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79458" y="2898648"/>
            <a:ext cx="222427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Response + Citations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05079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F59E0B"/>
                </a:solidFill>
              </a:rPr>
              <a:t>TOOLS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417320" y="4206240"/>
            <a:ext cx="228600" cy="1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55648" y="379476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28800" y="397764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Cortex Analyst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69157" y="379476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2309" y="397764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Cortex Search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782666" y="379476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5818" y="397764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Data-to-Chart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796174" y="379476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9326" y="397764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MCP Connector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809683" y="379476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82835" y="397764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Stored Procedures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02920" y="50109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24B47E"/>
                </a:solidFill>
              </a:rPr>
              <a:t>DATA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417320" y="5166360"/>
            <a:ext cx="228600" cy="1"/>
          </a:xfrm>
          <a:prstGeom prst="line">
            <a:avLst/>
          </a:prstGeom>
          <a:noFill/>
          <a:ln w="25400">
            <a:solidFill>
              <a:srgbClr val="24B47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755648" y="475488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28800" y="493776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ANALYTICS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769157" y="475488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2309" y="493776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DOCUMENTS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782666" y="475488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55818" y="493776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DATA_QUALITY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796174" y="475488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69326" y="493776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Semantic Views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809683" y="4754880"/>
            <a:ext cx="186720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882835" y="4937760"/>
            <a:ext cx="1720901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2942"/>
                </a:solidFill>
              </a:rPr>
              <a:t>Verified Queries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5779008"/>
            <a:ext cx="11183112" cy="475488"/>
          </a:xfrm>
          <a:prstGeom prst="roundRect">
            <a:avLst>
              <a:gd name="adj" fmla="val 7692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8368" y="592531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20C7D9"/>
                </a:solidFill>
              </a:rPr>
              <a:t>GOVERNANCE PLANE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148840" y="589788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dirty="0">
                <a:solidFill>
                  <a:srgbClr val="FFFFFF"/>
                </a:solidFill>
              </a:rPr>
              <a:t>PII tags  •  dynamic masking  •  6 RBAC roles  •  OAuth  •  auditability  •  query acceleration</a:t>
            </a:r>
            <a:endParaRPr lang="en-US" sz="92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END-TO-END JOURNEY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Data flow architecture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From user voice to governed insight and enterprise action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69848" y="1764792"/>
            <a:ext cx="475488" cy="47548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1833372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404872"/>
            <a:ext cx="1627632" cy="121615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59689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Capture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" y="29900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Voice or typed prompt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57984" y="2834640"/>
            <a:ext cx="201168" cy="292608"/>
          </a:xfrm>
          <a:prstGeom prst="chevron">
            <a:avLst/>
          </a:prstGeom>
          <a:solidFill>
            <a:srgbClr val="20C7D9">
              <a:alpha val="85000"/>
            </a:srgbClr>
          </a:solidFill>
          <a:ln w="12700">
            <a:solidFill>
              <a:srgbClr val="20C7D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53512" y="1764792"/>
            <a:ext cx="475488" cy="47548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53512" y="1833372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86584" y="2404872"/>
            <a:ext cx="1627632" cy="121615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96312" y="259689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Normalize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29900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Transcribe + translate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041648" y="2834640"/>
            <a:ext cx="201168" cy="292608"/>
          </a:xfrm>
          <a:prstGeom prst="chevron">
            <a:avLst/>
          </a:prstGeom>
          <a:solidFill>
            <a:srgbClr val="2F80ED">
              <a:alpha val="85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37176" y="1764792"/>
            <a:ext cx="475488" cy="475488"/>
          </a:xfrm>
          <a:prstGeom prst="ellipse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1833372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70248" y="2404872"/>
            <a:ext cx="1627632" cy="121615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9976" y="259689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Route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98264" y="29900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Classify intent +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834640"/>
            <a:ext cx="201168" cy="292608"/>
          </a:xfrm>
          <a:prstGeom prst="chevron">
            <a:avLst/>
          </a:prstGeom>
          <a:solidFill>
            <a:srgbClr val="7157D9">
              <a:alpha val="85000"/>
            </a:srgbClr>
          </a:solidFill>
          <a:ln w="12700">
            <a:solidFill>
              <a:srgbClr val="7157D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0840" y="176479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1833372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53912" y="2404872"/>
            <a:ext cx="1627632" cy="121615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59689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Execute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81928" y="29900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SQL • Search • MCP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808976" y="2834640"/>
            <a:ext cx="201168" cy="292608"/>
          </a:xfrm>
          <a:prstGeom prst="chevron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04504" y="1764792"/>
            <a:ext cx="475488" cy="475488"/>
          </a:xfrm>
          <a:prstGeom prst="ellipse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04504" y="1833372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37576" y="2404872"/>
            <a:ext cx="1627632" cy="121615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47304" y="259689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Ground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65592" y="29900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Compose with citations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692640" y="2834640"/>
            <a:ext cx="201168" cy="292608"/>
          </a:xfrm>
          <a:prstGeom prst="chevron">
            <a:avLst/>
          </a:prstGeom>
          <a:solidFill>
            <a:srgbClr val="24B47E">
              <a:alpha val="85000"/>
            </a:srgbClr>
          </a:solidFill>
          <a:ln w="12700">
            <a:solidFill>
              <a:srgbClr val="24B4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88168" y="1764792"/>
            <a:ext cx="475488" cy="475488"/>
          </a:xfrm>
          <a:prstGeom prst="ellipse">
            <a:avLst/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88168" y="1833372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921240" y="2404872"/>
            <a:ext cx="1627632" cy="121615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30968" y="259689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Act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049256" y="29900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Chart • Jira • Share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02920" y="4041648"/>
            <a:ext cx="713232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42611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64748B"/>
                </a:solidFill>
              </a:rPr>
              <a:t>CORE DATA MODEL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77240" y="4690872"/>
            <a:ext cx="1234440" cy="384048"/>
          </a:xfrm>
          <a:prstGeom prst="roundRect">
            <a:avLst>
              <a:gd name="adj" fmla="val 9524"/>
            </a:avLst>
          </a:prstGeom>
          <a:solidFill>
            <a:srgbClr val="2F80ED">
              <a:alpha val="95000"/>
            </a:srgbClr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4800600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CUSTOMERS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2377440" y="4690872"/>
            <a:ext cx="1234440" cy="384048"/>
          </a:xfrm>
          <a:prstGeom prst="roundRect">
            <a:avLst>
              <a:gd name="adj" fmla="val 9524"/>
            </a:avLst>
          </a:prstGeom>
          <a:solidFill>
            <a:srgbClr val="7157D9">
              <a:alpha val="95000"/>
            </a:srgbClr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377440" y="4800600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POLICIES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3977640" y="4690872"/>
            <a:ext cx="1234440" cy="384048"/>
          </a:xfrm>
          <a:prstGeom prst="roundRect">
            <a:avLst>
              <a:gd name="adj" fmla="val 9524"/>
            </a:avLst>
          </a:prstGeom>
          <a:solidFill>
            <a:srgbClr val="F59E0B">
              <a:alpha val="9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77640" y="4800600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CLAIMS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5577840" y="4416552"/>
            <a:ext cx="1234440" cy="384048"/>
          </a:xfrm>
          <a:prstGeom prst="roundRect">
            <a:avLst>
              <a:gd name="adj" fmla="val 9524"/>
            </a:avLst>
          </a:prstGeom>
          <a:solidFill>
            <a:srgbClr val="24B47E">
              <a:alpha val="95000"/>
            </a:srgbClr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77840" y="4526280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BILLING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5577840" y="5010912"/>
            <a:ext cx="1234440" cy="384048"/>
          </a:xfrm>
          <a:prstGeom prst="roundRect">
            <a:avLst>
              <a:gd name="adj" fmla="val 9524"/>
            </a:avLst>
          </a:prstGeom>
          <a:solidFill>
            <a:srgbClr val="EF5B5B">
              <a:alpha val="95000"/>
            </a:srgbClr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77840" y="5120640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AT-RISK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2011680" y="4882896"/>
            <a:ext cx="365760" cy="1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3611880" y="4882896"/>
            <a:ext cx="365760" cy="1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 flipV="1">
            <a:off x="5212080" y="4626864"/>
            <a:ext cx="365760" cy="256032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12080" y="4882896"/>
            <a:ext cx="365760" cy="338328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882128" y="4041648"/>
            <a:ext cx="3803904" cy="1536192"/>
          </a:xfrm>
          <a:prstGeom prst="roundRect">
            <a:avLst>
              <a:gd name="adj" fmla="val 4167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138160" y="42793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20C7D9"/>
                </a:solidFill>
              </a:rPr>
              <a:t>DATA ESTATE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138160" y="46451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18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796528" y="46725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BD1DF"/>
                </a:solidFill>
              </a:rPr>
              <a:t>Tables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738360" y="46451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396728" y="46725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BD1DF"/>
                </a:solidFill>
              </a:rPr>
              <a:t>Views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138160" y="51023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96528" y="51297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BD1DF"/>
                </a:solidFill>
              </a:rPr>
              <a:t>Semantic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738360" y="51023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~2,070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396728" y="51297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BD1DF"/>
                </a:solidFill>
              </a:rPr>
              <a:t>Rows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INPUT IS NORMALIZED ON THE EXPERIENCE LAYER; GOVERNANCE IS ENFORCED THROUGHOUT THE DATA AND AI PATH</a:t>
            </a:r>
            <a:endParaRPr lang="en-US" sz="820" dirty="0"/>
          </a:p>
        </p:txBody>
      </p:sp>
      <p:sp>
        <p:nvSpPr>
          <p:cNvPr id="6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NEW CROSS-PLATFORM CAPABILITY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Multilingual voice experience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Every page now supports voice input, instant transcription and automatic translation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78992" y="1755648"/>
            <a:ext cx="475488" cy="47548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182422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359152"/>
            <a:ext cx="1627632" cy="199339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624328"/>
            <a:ext cx="1408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Speak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9224" y="3063240"/>
            <a:ext cx="133502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4748B"/>
                </a:solidFill>
              </a:rPr>
              <a:t>Tap the microphone and ask a question in any language.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2167128" y="3127248"/>
            <a:ext cx="182880" cy="292608"/>
          </a:xfrm>
          <a:prstGeom prst="chevron">
            <a:avLst/>
          </a:prstGeom>
          <a:solidFill>
            <a:srgbClr val="20C7D9">
              <a:alpha val="85000"/>
            </a:srgbClr>
          </a:solidFill>
          <a:ln w="12700">
            <a:solidFill>
              <a:srgbClr val="20C7D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62656" y="1755648"/>
            <a:ext cx="475488" cy="47548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62656" y="182422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86584" y="2359152"/>
            <a:ext cx="1627632" cy="199339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96312" y="2624328"/>
            <a:ext cx="1408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Transcribe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532888" y="3063240"/>
            <a:ext cx="133502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4748B"/>
                </a:solidFill>
              </a:rPr>
              <a:t>Web Speech API converts speech into text instantly.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050792" y="3127248"/>
            <a:ext cx="182880" cy="292608"/>
          </a:xfrm>
          <a:prstGeom prst="chevron">
            <a:avLst/>
          </a:prstGeom>
          <a:solidFill>
            <a:srgbClr val="2F80ED">
              <a:alpha val="85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1755648"/>
            <a:ext cx="475488" cy="475488"/>
          </a:xfrm>
          <a:prstGeom prst="ellipse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82422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70248" y="2359152"/>
            <a:ext cx="1627632" cy="199339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9976" y="2624328"/>
            <a:ext cx="1408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Detect + Translate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416552" y="3063240"/>
            <a:ext cx="133502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4748B"/>
                </a:solidFill>
              </a:rPr>
              <a:t>Cortex AI Translate detects non-English input and converts it to English.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5934456" y="3127248"/>
            <a:ext cx="182880" cy="292608"/>
          </a:xfrm>
          <a:prstGeom prst="chevron">
            <a:avLst/>
          </a:prstGeom>
          <a:solidFill>
            <a:srgbClr val="7157D9">
              <a:alpha val="85000"/>
            </a:srgbClr>
          </a:solidFill>
          <a:ln w="12700">
            <a:solidFill>
              <a:srgbClr val="7157D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9984" y="175564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82422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53912" y="2359152"/>
            <a:ext cx="1627632" cy="199339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624328"/>
            <a:ext cx="1408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Review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0216" y="3063240"/>
            <a:ext cx="133502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4748B"/>
                </a:solidFill>
              </a:rPr>
              <a:t>Translated text appears in the input field before sending.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7818120" y="3127248"/>
            <a:ext cx="182880" cy="292608"/>
          </a:xfrm>
          <a:prstGeom prst="chevron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13648" y="1755648"/>
            <a:ext cx="475488" cy="475488"/>
          </a:xfrm>
          <a:prstGeom prst="ellipse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13648" y="182422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37576" y="2359152"/>
            <a:ext cx="1627632" cy="199339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47304" y="2624328"/>
            <a:ext cx="1408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Confirm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183880" y="3063240"/>
            <a:ext cx="133502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4748B"/>
                </a:solidFill>
              </a:rPr>
              <a:t>A compact indicator shows the detected original language.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9701784" y="3127248"/>
            <a:ext cx="182880" cy="292608"/>
          </a:xfrm>
          <a:prstGeom prst="chevron">
            <a:avLst/>
          </a:prstGeom>
          <a:solidFill>
            <a:srgbClr val="24B47E">
              <a:alpha val="85000"/>
            </a:srgbClr>
          </a:solidFill>
          <a:ln w="12700">
            <a:solidFill>
              <a:srgbClr val="24B4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97312" y="1755648"/>
            <a:ext cx="475488" cy="475488"/>
          </a:xfrm>
          <a:prstGeom prst="ellipse">
            <a:avLst/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97312" y="182422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921240" y="2359152"/>
            <a:ext cx="1627632" cy="199339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30968" y="2624328"/>
            <a:ext cx="1408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Understand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0067544" y="3063240"/>
            <a:ext cx="133502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4748B"/>
                </a:solidFill>
              </a:rPr>
              <a:t>The agent receives a consistent English prompt and preserves intent.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502920" y="4663440"/>
            <a:ext cx="11183112" cy="1243584"/>
          </a:xfrm>
          <a:prstGeom prst="roundRect">
            <a:avLst>
              <a:gd name="adj" fmla="val 5147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" y="490118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B2942"/>
                </a:solidFill>
              </a:rPr>
              <a:t>AVAILABLE ACROSS ALL 7 PAGES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AI Assistant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2286000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340864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Knowledge Hub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3822192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77056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Data Explorer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358384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Claims Agent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6894576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Fraud Agent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8430768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85632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Pricing Agent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966960" y="5285232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21824" y="5404104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B2942"/>
                </a:solidFill>
              </a:rPr>
              <a:t>Product Agent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VOICE IN, INTELLIGENCE OUT — IN ANY LANGUAGE</a:t>
            </a:r>
            <a:endParaRPr lang="en-US" sz="820" dirty="0"/>
          </a:p>
        </p:txBody>
      </p:sp>
      <p:sp>
        <p:nvSpPr>
          <p:cNvPr id="5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CORTEX AGENTS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Agent orchestration deep dive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Intent-led routing across analytical, retrieval, visualization and action tools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1874520" cy="822960"/>
          </a:xfrm>
          <a:prstGeom prst="roundRect">
            <a:avLst>
              <a:gd name="adj" fmla="val 7778"/>
            </a:avLst>
          </a:prstGeom>
          <a:solidFill>
            <a:srgbClr val="E9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Prompt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Voice / text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78608" y="1956816"/>
            <a:ext cx="228600" cy="292608"/>
          </a:xfrm>
          <a:prstGeom prst="chevron">
            <a:avLst/>
          </a:prstGeom>
          <a:solidFill>
            <a:srgbClr val="20C7D9">
              <a:alpha val="85000"/>
            </a:srgbClr>
          </a:solidFill>
          <a:ln w="12700">
            <a:solidFill>
              <a:srgbClr val="20C7D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691640"/>
            <a:ext cx="18745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5808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Classify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35808" y="215798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Domain + intent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846320" y="1956816"/>
            <a:ext cx="228600" cy="292608"/>
          </a:xfrm>
          <a:prstGeom prst="chevron">
            <a:avLst/>
          </a:prstGeom>
          <a:solidFill>
            <a:srgbClr val="2F80ED">
              <a:alpha val="85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1691640"/>
            <a:ext cx="18745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Route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03520" y="215798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Agent + tool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14032" y="1956816"/>
            <a:ext cx="228600" cy="292608"/>
          </a:xfrm>
          <a:prstGeom prst="chevron">
            <a:avLst/>
          </a:prstGeom>
          <a:solidFill>
            <a:srgbClr val="7157D9">
              <a:alpha val="85000"/>
            </a:srgbClr>
          </a:solidFill>
          <a:ln w="12700">
            <a:solidFill>
              <a:srgbClr val="7157D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61504" y="1691640"/>
            <a:ext cx="18745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71232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Execute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71232" y="215798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SQL / RAG / MCP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381744" y="1956816"/>
            <a:ext cx="228600" cy="292608"/>
          </a:xfrm>
          <a:prstGeom prst="chevron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29216" y="1691640"/>
            <a:ext cx="18745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38944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Respond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838944" y="215798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Citations + action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" y="2770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64748B"/>
                </a:solidFill>
              </a:rPr>
              <a:t>ROUTING MAP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090672"/>
            <a:ext cx="11183112" cy="356616"/>
          </a:xfrm>
          <a:prstGeom prst="roundRect">
            <a:avLst>
              <a:gd name="adj" fmla="val 7692"/>
            </a:avLst>
          </a:prstGeom>
          <a:solidFill>
            <a:srgbClr val="F0F5F8"/>
          </a:solidFill>
          <a:ln w="12700">
            <a:solidFill>
              <a:srgbClr val="F0F5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090672"/>
            <a:ext cx="54864" cy="356616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191256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Customers • policies • claims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657600" y="3191256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2942"/>
                </a:solidFill>
              </a:rPr>
              <a:t>Insurance Operations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6492240" y="319125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Cortex Analyst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732520" y="3191256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SV_INSURANCE_OPS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02920" y="3538728"/>
            <a:ext cx="11183112" cy="35661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538728"/>
            <a:ext cx="54864" cy="356616"/>
          </a:xfrm>
          <a:prstGeom prst="rect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3639312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Data quality • failed rules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3657600" y="3639312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2942"/>
                </a:solidFill>
              </a:rPr>
              <a:t>Data Quality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6492240" y="3639312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Cortex Analyst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8732520" y="3639312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SV_DATA_QUALITY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502920" y="3986784"/>
            <a:ext cx="11183112" cy="356616"/>
          </a:xfrm>
          <a:prstGeom prst="roundRect">
            <a:avLst>
              <a:gd name="adj" fmla="val 7692"/>
            </a:avLst>
          </a:prstGeom>
          <a:solidFill>
            <a:srgbClr val="F0F5F8"/>
          </a:solidFill>
          <a:ln w="12700">
            <a:solidFill>
              <a:srgbClr val="F0F5F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3986784"/>
            <a:ext cx="54864" cy="356616"/>
          </a:xfrm>
          <a:prstGeom prst="rect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40873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Coverage • exclusions • benefits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3657600" y="408736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2942"/>
                </a:solidFill>
              </a:rPr>
              <a:t>Policy Search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6492240" y="4087368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Cortex Search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8732520" y="4087368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SEARCH_SVC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502920" y="4434840"/>
            <a:ext cx="11183112" cy="35661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" y="4434840"/>
            <a:ext cx="54864" cy="356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" y="4535424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Pricing • market • competition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3657600" y="4535424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2942"/>
                </a:solidFill>
              </a:rPr>
              <a:t>Market Intelligence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6492240" y="453542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Cortex Analyst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8732520" y="4535424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Semantic Views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4882896"/>
            <a:ext cx="11183112" cy="356616"/>
          </a:xfrm>
          <a:prstGeom prst="roundRect">
            <a:avLst>
              <a:gd name="adj" fmla="val 7692"/>
            </a:avLst>
          </a:prstGeom>
          <a:solidFill>
            <a:srgbClr val="F0F5F8"/>
          </a:solidFill>
          <a:ln w="12700">
            <a:solidFill>
              <a:srgbClr val="F0F5F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" y="4882896"/>
            <a:ext cx="54864" cy="356616"/>
          </a:xfrm>
          <a:prstGeom prst="rect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3232" y="4983480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Product recommendation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3657600" y="4983480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2942"/>
                </a:solidFill>
              </a:rPr>
              <a:t>Product Matching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6492240" y="4983480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Cortex Analyst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8732520" y="4983480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SV_PRODUCT_MATCHING</a:t>
            </a:r>
            <a:endParaRPr lang="en-US" sz="820" dirty="0"/>
          </a:p>
        </p:txBody>
      </p:sp>
      <p:sp>
        <p:nvSpPr>
          <p:cNvPr id="55" name="Shape 53"/>
          <p:cNvSpPr/>
          <p:nvPr/>
        </p:nvSpPr>
        <p:spPr>
          <a:xfrm>
            <a:off x="502920" y="5330952"/>
            <a:ext cx="11183112" cy="35661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2920" y="5330952"/>
            <a:ext cx="54864" cy="356616"/>
          </a:xfrm>
          <a:prstGeom prst="rect">
            <a:avLst/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3232" y="5431536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Create / search work items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3657600" y="5431536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2942"/>
                </a:solidFill>
              </a:rPr>
              <a:t>Enterprise Hub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6492240" y="543153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Atlassian MCP</a:t>
            </a:r>
            <a:endParaRPr lang="en-US" sz="820" dirty="0"/>
          </a:p>
        </p:txBody>
      </p:sp>
      <p:sp>
        <p:nvSpPr>
          <p:cNvPr id="60" name="Text 58"/>
          <p:cNvSpPr/>
          <p:nvPr/>
        </p:nvSpPr>
        <p:spPr>
          <a:xfrm>
            <a:off x="8732520" y="5431536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Jira / Confluence</a:t>
            </a:r>
            <a:endParaRPr lang="en-US" sz="820" dirty="0"/>
          </a:p>
        </p:txBody>
      </p:sp>
      <p:sp>
        <p:nvSpPr>
          <p:cNvPr id="6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CORTEX ANALYST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Semantic layer and verified queries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How natural language becomes accurate, governed SQL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73352"/>
            <a:ext cx="1609344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Ask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2176272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Natural language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148840" y="1965960"/>
            <a:ext cx="192024" cy="292608"/>
          </a:xfrm>
          <a:prstGeom prst="chevron">
            <a:avLst/>
          </a:prstGeom>
          <a:solidFill>
            <a:srgbClr val="64748B">
              <a:alpha val="85000"/>
            </a:srgbClr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86584" y="1673352"/>
            <a:ext cx="1609344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96312" y="187452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Select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96312" y="2176272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Semantic view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32504" y="1965960"/>
            <a:ext cx="192024" cy="292608"/>
          </a:xfrm>
          <a:prstGeom prst="chevron">
            <a:avLst/>
          </a:prstGeom>
          <a:solidFill>
            <a:srgbClr val="64748B">
              <a:alpha val="85000"/>
            </a:srgbClr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673352"/>
            <a:ext cx="1609344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9976" y="187452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Match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79976" y="2176272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Verified query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16168" y="1965960"/>
            <a:ext cx="192024" cy="292608"/>
          </a:xfrm>
          <a:prstGeom prst="chevron">
            <a:avLst/>
          </a:prstGeom>
          <a:solidFill>
            <a:srgbClr val="64748B">
              <a:alpha val="85000"/>
            </a:srgbClr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53912" y="1673352"/>
            <a:ext cx="1609344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87452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Generate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2176272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Fallback SQL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799832" y="1965960"/>
            <a:ext cx="192024" cy="292608"/>
          </a:xfrm>
          <a:prstGeom prst="chevron">
            <a:avLst/>
          </a:prstGeom>
          <a:solidFill>
            <a:srgbClr val="64748B">
              <a:alpha val="85000"/>
            </a:srgbClr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7576" y="1673352"/>
            <a:ext cx="1609344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7304" y="187452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Execute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47304" y="2176272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Warehouse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683496" y="1965960"/>
            <a:ext cx="192024" cy="292608"/>
          </a:xfrm>
          <a:prstGeom prst="chevron">
            <a:avLst/>
          </a:prstGeom>
          <a:solidFill>
            <a:srgbClr val="64748B">
              <a:alpha val="85000"/>
            </a:srgbClr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21240" y="1673352"/>
            <a:ext cx="1609344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30968" y="187452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942"/>
                </a:solidFill>
              </a:rPr>
              <a:t>Return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30968" y="2176272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Data + chart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2926080"/>
            <a:ext cx="204825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  <a:effectLst/>
        </p:spPr>
      </p:sp>
      <p:sp>
        <p:nvSpPr>
          <p:cNvPr id="29" name="Text 27"/>
          <p:cNvSpPr/>
          <p:nvPr/>
        </p:nvSpPr>
        <p:spPr>
          <a:xfrm>
            <a:off x="649224" y="3172968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Insurance Ops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2648" y="3584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6 tables  •  15 facts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24128" y="39136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3963924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10 VQRs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52344" y="2926080"/>
            <a:ext cx="204825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  <a:effectLst/>
        </p:spPr>
      </p:sp>
      <p:sp>
        <p:nvSpPr>
          <p:cNvPr id="34" name="Text 32"/>
          <p:cNvSpPr/>
          <p:nvPr/>
        </p:nvSpPr>
        <p:spPr>
          <a:xfrm>
            <a:off x="2898648" y="3172968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Data Quality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862072" y="3584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4 tables  •  10 facts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73552" y="39136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46704" y="3963924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5 VQRs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001768" y="2926080"/>
            <a:ext cx="204825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/>
        </p:spPr>
      </p:sp>
      <p:sp>
        <p:nvSpPr>
          <p:cNvPr id="39" name="Text 37"/>
          <p:cNvSpPr/>
          <p:nvPr/>
        </p:nvSpPr>
        <p:spPr>
          <a:xfrm>
            <a:off x="5148072" y="3172968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Competitive Intel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11496" y="3584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4 tables  •  17 facts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22976" y="39136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3963924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4 VQRs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251192" y="2926080"/>
            <a:ext cx="204825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  <a:effectLst/>
        </p:spPr>
      </p:sp>
      <p:sp>
        <p:nvSpPr>
          <p:cNvPr id="44" name="Text 42"/>
          <p:cNvSpPr/>
          <p:nvPr/>
        </p:nvSpPr>
        <p:spPr>
          <a:xfrm>
            <a:off x="7397496" y="3172968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Market Intelligence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360920" y="3584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2 tables  •  8 facts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772400" y="39136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45552" y="3963924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3 VQRs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500616" y="2926080"/>
            <a:ext cx="2048256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  <a:effectLst/>
        </p:spPr>
      </p:sp>
      <p:sp>
        <p:nvSpPr>
          <p:cNvPr id="49" name="Text 47"/>
          <p:cNvSpPr/>
          <p:nvPr/>
        </p:nvSpPr>
        <p:spPr>
          <a:xfrm>
            <a:off x="9646920" y="3172968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942"/>
                </a:solidFill>
              </a:rPr>
              <a:t>Product Matching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610344" y="3584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3 tables  •  8 facts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021824" y="39136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094976" y="3963924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" dirty="0">
                <a:solidFill>
                  <a:srgbClr val="FFFFFF"/>
                </a:solidFill>
              </a:rPr>
              <a:t>3 VQRs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02920" y="4700016"/>
            <a:ext cx="11183112" cy="1078992"/>
          </a:xfrm>
          <a:prstGeom prst="roundRect">
            <a:avLst>
              <a:gd name="adj" fmla="val 5932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9377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0C7D9"/>
                </a:solidFill>
              </a:rPr>
              <a:t>VERIFIED QUERY EXAMPLES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090672" y="4882896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b="1" dirty="0">
                <a:solidFill>
                  <a:srgbClr val="FFFFFF"/>
                </a:solidFill>
              </a:rPr>
              <a:t>✓  Premium revenue by policy type</a:t>
            </a:r>
            <a:endParaRPr lang="en-US" sz="840" dirty="0"/>
          </a:p>
        </p:txBody>
      </p:sp>
      <p:sp>
        <p:nvSpPr>
          <p:cNvPr id="56" name="Text 54"/>
          <p:cNvSpPr/>
          <p:nvPr/>
        </p:nvSpPr>
        <p:spPr>
          <a:xfrm>
            <a:off x="5157216" y="4882896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b="1" dirty="0">
                <a:solidFill>
                  <a:srgbClr val="FFFFFF"/>
                </a:solidFill>
              </a:rPr>
              <a:t>✓  Revenue at risk by category</a:t>
            </a:r>
            <a:endParaRPr lang="en-US" sz="840" dirty="0"/>
          </a:p>
        </p:txBody>
      </p:sp>
      <p:sp>
        <p:nvSpPr>
          <p:cNvPr id="57" name="Text 55"/>
          <p:cNvSpPr/>
          <p:nvPr/>
        </p:nvSpPr>
        <p:spPr>
          <a:xfrm>
            <a:off x="7223760" y="4882896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b="1" dirty="0">
                <a:solidFill>
                  <a:srgbClr val="FFFFFF"/>
                </a:solidFill>
              </a:rPr>
              <a:t>✓  Pricing versus competitors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9290304" y="4882896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b="1" dirty="0">
                <a:solidFill>
                  <a:srgbClr val="FFFFFF"/>
                </a:solidFill>
              </a:rPr>
              <a:t>✓  Best product-matching strategy</a:t>
            </a:r>
            <a:endParaRPr lang="en-US" sz="840" dirty="0"/>
          </a:p>
        </p:txBody>
      </p:sp>
      <p:sp>
        <p:nvSpPr>
          <p:cNvPr id="59" name="Shape 57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VERIFIED QUERIES IMPROVE REPEATABILITY; SEMANTIC VIEWS KEEP BUSINESS LANGUAGE CONNECTED TO GOVERNED DATA</a:t>
            </a:r>
            <a:endParaRPr lang="en-US" sz="820" dirty="0"/>
          </a:p>
        </p:txBody>
      </p:sp>
      <p:sp>
        <p:nvSpPr>
          <p:cNvPr id="6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INSIGHT TO ACTION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MCP and CoWork integration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Convert a governed insight into an enterprise action without context switching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252728" y="1700784"/>
            <a:ext cx="475488" cy="47548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2728" y="17693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322576"/>
            <a:ext cx="1920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78608"/>
            <a:ext cx="1645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Discover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58952" y="297180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Agent identifies a material pattern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42032" y="2807208"/>
            <a:ext cx="237744" cy="292608"/>
          </a:xfrm>
          <a:prstGeom prst="chevron">
            <a:avLst/>
          </a:prstGeom>
          <a:solidFill>
            <a:srgbClr val="2F80ED">
              <a:alpha val="85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38728" y="1700784"/>
            <a:ext cx="475488" cy="475488"/>
          </a:xfrm>
          <a:prstGeom prst="ellipse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17693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880360" y="2322576"/>
            <a:ext cx="1920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2578608"/>
            <a:ext cx="1645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Recommend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44952" y="297180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Agent proposes a follow-up action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28032" y="2807208"/>
            <a:ext cx="237744" cy="292608"/>
          </a:xfrm>
          <a:prstGeom prst="chevron">
            <a:avLst/>
          </a:prstGeom>
          <a:solidFill>
            <a:srgbClr val="7157D9">
              <a:alpha val="85000"/>
            </a:srgbClr>
          </a:solidFill>
          <a:ln w="12700">
            <a:solidFill>
              <a:srgbClr val="7157D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24728" y="170078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24728" y="17693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166360" y="2322576"/>
            <a:ext cx="1920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2578608"/>
            <a:ext cx="1645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Authorize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330952" y="297180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Per-user OAuth secures the request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114032" y="2807208"/>
            <a:ext cx="237744" cy="292608"/>
          </a:xfrm>
          <a:prstGeom prst="chevron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0728" y="1700784"/>
            <a:ext cx="475488" cy="475488"/>
          </a:xfrm>
          <a:prstGeom prst="ellipse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0728" y="17693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52360" y="2322576"/>
            <a:ext cx="1920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89520" y="2578608"/>
            <a:ext cx="1645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Execute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16952" y="297180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MCP creates or searches Jira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400032" y="2807208"/>
            <a:ext cx="237744" cy="292608"/>
          </a:xfrm>
          <a:prstGeom prst="chevron">
            <a:avLst/>
          </a:prstGeom>
          <a:solidFill>
            <a:srgbClr val="24B47E">
              <a:alpha val="85000"/>
            </a:srgbClr>
          </a:solidFill>
          <a:ln w="12700">
            <a:solidFill>
              <a:srgbClr val="24B47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96728" y="1700784"/>
            <a:ext cx="475488" cy="47548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6728" y="17693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738360" y="2322576"/>
            <a:ext cx="1920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5520" y="2578608"/>
            <a:ext cx="1645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942"/>
                </a:solidFill>
              </a:rPr>
              <a:t>Track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902952" y="297180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Work item links back to evidence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142232"/>
            <a:ext cx="54406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" y="4389120"/>
            <a:ext cx="2011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4748B"/>
                </a:solidFill>
              </a:rPr>
              <a:t>MCP ARCHITECTURE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49808" y="47823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4681728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External MCP server registered in Snowflake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749808" y="50109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910328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Dynamic client registration; no shared secret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749808" y="52395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138928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Tokens stored per user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749808" y="54681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5367528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Jira + Confluence tools discovered by the agent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6199632" y="4142232"/>
            <a:ext cx="5486400" cy="1508760"/>
          </a:xfrm>
          <a:prstGeom prst="roundRect">
            <a:avLst>
              <a:gd name="adj" fmla="val 4242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46520" y="4389120"/>
            <a:ext cx="2194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B2942"/>
                </a:solidFill>
              </a:rPr>
              <a:t>CO-WORK EXPERIENCE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46520" y="47823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11112" y="4681728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Conversational BI and in-chat charts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446520" y="50109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11112" y="4910328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Domain-specific or unified agent selection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6446520" y="52395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11112" y="5138928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Scheduled reports and shareable artifacts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6446520" y="54681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11112" y="5367528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72B3A"/>
                </a:solidFill>
              </a:rPr>
              <a:t>Per-user OAuth for enterprise actions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RESULT: INSIGHTS BECOME TRACKABLE ACTIONS WITH THE SUPPORTING DATA ATTACHED TO THE WORKFLOW</a:t>
            </a:r>
            <a:endParaRPr lang="en-US" sz="820" dirty="0"/>
          </a:p>
        </p:txBody>
      </p:sp>
      <p:sp>
        <p:nvSpPr>
          <p:cNvPr id="5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TRUST BY 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Governance and security architecture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Protection, access control and traceability are built into the platform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048256" cy="1947672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  <a:effectLst/>
        </p:spPr>
      </p:sp>
      <p:sp>
        <p:nvSpPr>
          <p:cNvPr id="6" name="Shape 4"/>
          <p:cNvSpPr/>
          <p:nvPr/>
        </p:nvSpPr>
        <p:spPr>
          <a:xfrm>
            <a:off x="1289304" y="1920240"/>
            <a:ext cx="475488" cy="47548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9304" y="19888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0936" y="2532888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Access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" y="289864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F80ED"/>
                </a:solidFill>
              </a:rPr>
              <a:t>6 database roles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64748B"/>
                </a:solidFill>
              </a:rPr>
              <a:t>Role-specific access and agent visibility</a:t>
            </a:r>
            <a:endParaRPr lang="en-US" sz="790" dirty="0"/>
          </a:p>
        </p:txBody>
      </p:sp>
      <p:sp>
        <p:nvSpPr>
          <p:cNvPr id="11" name="Shape 9"/>
          <p:cNvSpPr/>
          <p:nvPr/>
        </p:nvSpPr>
        <p:spPr>
          <a:xfrm>
            <a:off x="2752344" y="1691640"/>
            <a:ext cx="2048256" cy="1947672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EF5B5B"/>
            </a:solidFill>
            <a:prstDash val="solid"/>
          </a:ln>
          <a:effectLst/>
        </p:spPr>
      </p:sp>
      <p:sp>
        <p:nvSpPr>
          <p:cNvPr id="12" name="Shape 10"/>
          <p:cNvSpPr/>
          <p:nvPr/>
        </p:nvSpPr>
        <p:spPr>
          <a:xfrm>
            <a:off x="3538728" y="1920240"/>
            <a:ext cx="475488" cy="475488"/>
          </a:xfrm>
          <a:prstGeom prst="ellipse">
            <a:avLst/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19888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0360" y="2532888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Protect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89864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F5B5B"/>
                </a:solidFill>
              </a:rPr>
              <a:t>3 masking policies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898648" y="320040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64748B"/>
                </a:solidFill>
              </a:rPr>
              <a:t>Email, phone and address protected at query time</a:t>
            </a:r>
            <a:endParaRPr lang="en-US" sz="790" dirty="0"/>
          </a:p>
        </p:txBody>
      </p:sp>
      <p:sp>
        <p:nvSpPr>
          <p:cNvPr id="17" name="Shape 15"/>
          <p:cNvSpPr/>
          <p:nvPr/>
        </p:nvSpPr>
        <p:spPr>
          <a:xfrm>
            <a:off x="5001768" y="1691640"/>
            <a:ext cx="2048256" cy="1947672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  <a:effectLst/>
        </p:spPr>
      </p:sp>
      <p:sp>
        <p:nvSpPr>
          <p:cNvPr id="18" name="Shape 16"/>
          <p:cNvSpPr/>
          <p:nvPr/>
        </p:nvSpPr>
        <p:spPr>
          <a:xfrm>
            <a:off x="5788152" y="1920240"/>
            <a:ext cx="475488" cy="475488"/>
          </a:xfrm>
          <a:prstGeom prst="ellipse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88152" y="19888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9784" y="2532888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Classify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29784" y="289864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157D9"/>
                </a:solidFill>
              </a:rPr>
              <a:t>PII + domain tags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48072" y="320040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64748B"/>
                </a:solidFill>
              </a:rPr>
              <a:t>Governance metadata applied at table creation</a:t>
            </a:r>
            <a:endParaRPr lang="en-US" sz="790" dirty="0"/>
          </a:p>
        </p:txBody>
      </p:sp>
      <p:sp>
        <p:nvSpPr>
          <p:cNvPr id="23" name="Shape 21"/>
          <p:cNvSpPr/>
          <p:nvPr/>
        </p:nvSpPr>
        <p:spPr>
          <a:xfrm>
            <a:off x="7251192" y="1691640"/>
            <a:ext cx="2048256" cy="1947672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/>
        </p:spPr>
      </p:sp>
      <p:sp>
        <p:nvSpPr>
          <p:cNvPr id="24" name="Shape 22"/>
          <p:cNvSpPr/>
          <p:nvPr/>
        </p:nvSpPr>
        <p:spPr>
          <a:xfrm>
            <a:off x="8037576" y="1920240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7576" y="19888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79208" y="2532888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Authenticate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79208" y="289864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Per-user OAuth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397496" y="320040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64748B"/>
                </a:solidFill>
              </a:rPr>
              <a:t>MCP tokens remain server-side</a:t>
            </a:r>
            <a:endParaRPr lang="en-US" sz="790" dirty="0"/>
          </a:p>
        </p:txBody>
      </p:sp>
      <p:sp>
        <p:nvSpPr>
          <p:cNvPr id="29" name="Shape 27"/>
          <p:cNvSpPr/>
          <p:nvPr/>
        </p:nvSpPr>
        <p:spPr>
          <a:xfrm>
            <a:off x="9500616" y="1691640"/>
            <a:ext cx="2048256" cy="1947672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  <a:effectLst/>
        </p:spPr>
      </p:sp>
      <p:sp>
        <p:nvSpPr>
          <p:cNvPr id="30" name="Shape 28"/>
          <p:cNvSpPr/>
          <p:nvPr/>
        </p:nvSpPr>
        <p:spPr>
          <a:xfrm>
            <a:off x="10287000" y="1920240"/>
            <a:ext cx="475488" cy="475488"/>
          </a:xfrm>
          <a:prstGeom prst="ellipse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87000" y="19888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28632" y="2532888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42"/>
                </a:solidFill>
              </a:rPr>
              <a:t>Ground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28632" y="289864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B47E"/>
                </a:solidFill>
              </a:rPr>
              <a:t>Citations + VQRs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646920" y="320040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64748B"/>
                </a:solidFill>
              </a:rPr>
              <a:t>Responses trace back to tool results</a:t>
            </a:r>
            <a:endParaRPr lang="en-US" sz="790" dirty="0"/>
          </a:p>
        </p:txBody>
      </p:sp>
      <p:sp>
        <p:nvSpPr>
          <p:cNvPr id="35" name="Text 33"/>
          <p:cNvSpPr/>
          <p:nvPr/>
        </p:nvSpPr>
        <p:spPr>
          <a:xfrm>
            <a:off x="502920" y="39776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64748B"/>
                </a:solidFill>
              </a:rPr>
              <a:t>ROLE HIERARCHY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43400"/>
            <a:ext cx="1645920" cy="749808"/>
          </a:xfrm>
          <a:prstGeom prst="roundRect">
            <a:avLst>
              <a:gd name="adj" fmla="val 6098"/>
            </a:avLst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" y="4498848"/>
            <a:ext cx="1499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INSURANCE ADMIN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072" y="4818888"/>
            <a:ext cx="1499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dirty="0">
                <a:solidFill>
                  <a:srgbClr val="F6DADA"/>
                </a:solidFill>
              </a:rPr>
              <a:t>Full access + masking bypass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2386584" y="4343400"/>
            <a:ext cx="1645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59736" y="4498848"/>
            <a:ext cx="1499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B2942"/>
                </a:solidFill>
              </a:rPr>
              <a:t>DATA STEWARD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459736" y="4818888"/>
            <a:ext cx="1499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DQ read</a:t>
            </a: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4270248" y="4343400"/>
            <a:ext cx="1645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43400" y="4498848"/>
            <a:ext cx="1499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B2942"/>
                </a:solidFill>
              </a:rPr>
              <a:t>EXEC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43400" y="4818888"/>
            <a:ext cx="1499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Analytics read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53912" y="4343400"/>
            <a:ext cx="1645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4498848"/>
            <a:ext cx="1499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B2942"/>
                </a:solidFill>
              </a:rPr>
              <a:t>UNDERWRITER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227064" y="4818888"/>
            <a:ext cx="1499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Analytics read</a:t>
            </a:r>
            <a:endParaRPr lang="en-US" sz="730" dirty="0"/>
          </a:p>
        </p:txBody>
      </p:sp>
      <p:sp>
        <p:nvSpPr>
          <p:cNvPr id="48" name="Shape 46"/>
          <p:cNvSpPr/>
          <p:nvPr/>
        </p:nvSpPr>
        <p:spPr>
          <a:xfrm>
            <a:off x="8037576" y="4343400"/>
            <a:ext cx="1645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10728" y="4498848"/>
            <a:ext cx="1499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B2942"/>
                </a:solidFill>
              </a:rPr>
              <a:t>CLAIMS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110728" y="4818888"/>
            <a:ext cx="1499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Analytics + documents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9921240" y="4343400"/>
            <a:ext cx="1645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994392" y="4498848"/>
            <a:ext cx="1499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B2942"/>
                </a:solidFill>
              </a:rPr>
              <a:t>ANALYST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9994392" y="4818888"/>
            <a:ext cx="1499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Base analytics read</a:t>
            </a:r>
            <a:endParaRPr lang="en-US" sz="730" dirty="0"/>
          </a:p>
        </p:txBody>
      </p:sp>
      <p:sp>
        <p:nvSpPr>
          <p:cNvPr id="54" name="Shape 52"/>
          <p:cNvSpPr/>
          <p:nvPr/>
        </p:nvSpPr>
        <p:spPr>
          <a:xfrm>
            <a:off x="502920" y="5404104"/>
            <a:ext cx="11183112" cy="539496"/>
          </a:xfrm>
          <a:prstGeom prst="roundRect">
            <a:avLst>
              <a:gd name="adj" fmla="val 11864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9808" y="5596128"/>
            <a:ext cx="10698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PII at query time  •  no duplicate datasets  •  structural tags  •  controlled agent visibility  •  auditable tool execution</a:t>
            </a:r>
            <a:endParaRPr lang="en-US" sz="910" dirty="0"/>
          </a:p>
        </p:txBody>
      </p:sp>
      <p:sp>
        <p:nvSpPr>
          <p:cNvPr id="56" name="Shape 54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GOVERNANCE IS A CROSS-CUTTING CONTROL PLANE, NOT A FINAL CHECKPOINT</a:t>
            </a:r>
            <a:endParaRPr lang="en-US" sz="820" dirty="0"/>
          </a:p>
        </p:txBody>
      </p:sp>
      <p:sp>
        <p:nvSpPr>
          <p:cNvPr id="5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OUTCOME FRAMEWORK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KPIs and business value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 balanced scorecard across six insurance decision domains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44728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691640"/>
            <a:ext cx="73152" cy="116128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92808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B2942"/>
                </a:solidFill>
              </a:rPr>
              <a:t>Underwriting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758952" y="22951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Premium • active policies • loss ratio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251960" y="1691640"/>
            <a:ext cx="344728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691640"/>
            <a:ext cx="73152" cy="11612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1892808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B2942"/>
                </a:solidFill>
              </a:rPr>
              <a:t>Claims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07992" y="22951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Volume • resolution time • workload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8001000" y="1691640"/>
            <a:ext cx="344728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1691640"/>
            <a:ext cx="73152" cy="1161288"/>
          </a:xfrm>
          <a:prstGeom prst="rect">
            <a:avLst/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892808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B2942"/>
                </a:solidFill>
              </a:rPr>
              <a:t>Fraud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57032" y="22951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High-risk claims • exposure • prevalence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502920" y="3136392"/>
            <a:ext cx="344728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136392"/>
            <a:ext cx="73152" cy="1161288"/>
          </a:xfrm>
          <a:prstGeom prst="rect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333756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B2942"/>
                </a:solidFill>
              </a:rPr>
              <a:t>Retention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758952" y="37398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Revenue at risk • churn • complaints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251960" y="3136392"/>
            <a:ext cx="344728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136392"/>
            <a:ext cx="73152" cy="1161288"/>
          </a:xfrm>
          <a:prstGeom prst="rect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07992" y="333756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B2942"/>
                </a:solidFill>
              </a:rPr>
              <a:t>Pricing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4507992" y="37398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Price ratio • share • scenario impact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01000" y="3136392"/>
            <a:ext cx="344728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01000" y="3136392"/>
            <a:ext cx="73152" cy="1161288"/>
          </a:xfrm>
          <a:prstGeom prst="rect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57032" y="333756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B2942"/>
                </a:solidFill>
              </a:rPr>
              <a:t>Data Quality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8257032" y="37398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Composite score • rule health • trends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502920" y="4718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20C7D9"/>
                </a:solidFill>
              </a:rPr>
              <a:t>EXPERIENCE KPIs  •  NEW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5038344"/>
            <a:ext cx="2048256" cy="749808"/>
          </a:xfrm>
          <a:prstGeom prst="roundRect">
            <a:avLst>
              <a:gd name="adj" fmla="val 8537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520293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B2942"/>
                </a:solidFill>
              </a:rPr>
              <a:t>Voice adoption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630936" y="54772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64748B"/>
                </a:solidFill>
              </a:rPr>
              <a:t>% prompts initiated by microphone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2752344" y="5038344"/>
            <a:ext cx="2048256" cy="749808"/>
          </a:xfrm>
          <a:prstGeom prst="roundRect">
            <a:avLst>
              <a:gd name="adj" fmla="val 8537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80360" y="520293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B2942"/>
                </a:solidFill>
              </a:rPr>
              <a:t>Transcription success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2880360" y="54772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64748B"/>
                </a:solidFill>
              </a:rPr>
              <a:t>% voice sessions producing reviewable text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5001768" y="5038344"/>
            <a:ext cx="2048256" cy="749808"/>
          </a:xfrm>
          <a:prstGeom prst="roundRect">
            <a:avLst>
              <a:gd name="adj" fmla="val 8537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29784" y="520293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B2942"/>
                </a:solidFill>
              </a:rPr>
              <a:t>Translation usage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5129784" y="54772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64748B"/>
                </a:solidFill>
              </a:rPr>
              <a:t>% prompts auto-translated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7251192" y="5038344"/>
            <a:ext cx="2048256" cy="749808"/>
          </a:xfrm>
          <a:prstGeom prst="roundRect">
            <a:avLst>
              <a:gd name="adj" fmla="val 8537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9208" y="520293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B2942"/>
                </a:solidFill>
              </a:rPr>
              <a:t>Review-to-send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379208" y="54772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64748B"/>
                </a:solidFill>
              </a:rPr>
              <a:t>% translated prompts sent after review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9500616" y="5038344"/>
            <a:ext cx="2048256" cy="749808"/>
          </a:xfrm>
          <a:prstGeom prst="roundRect">
            <a:avLst>
              <a:gd name="adj" fmla="val 8537"/>
            </a:avLst>
          </a:prstGeom>
          <a:solidFill>
            <a:srgbClr val="EDF9FB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28632" y="520293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B2942"/>
                </a:solidFill>
              </a:rPr>
              <a:t>Language coverage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9628632" y="54772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64748B"/>
                </a:solidFill>
              </a:rPr>
              <a:t>Distinct detected languages used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MEASURE BUSINESS OUTCOMES AND EXPERIENCE ADOPTION TO PROVE VALUE AT EXECUTIVE LEVEL</a:t>
            </a:r>
            <a:endParaRPr lang="en-US" sz="82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20C7D9"/>
                </a:solidFill>
              </a:rPr>
              <a:t>EXECUTIVE CLOSE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42"/>
                </a:solidFill>
              </a:rPr>
              <a:t>Summary and next steps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1978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 production-ready foundation with a clear path to scale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1627632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/>
        </p:spPr>
      </p:sp>
      <p:sp>
        <p:nvSpPr>
          <p:cNvPr id="6" name="Shape 4"/>
          <p:cNvSpPr/>
          <p:nvPr/>
        </p:nvSpPr>
        <p:spPr>
          <a:xfrm>
            <a:off x="502920" y="1627632"/>
            <a:ext cx="64008" cy="822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7373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942"/>
                </a:solidFill>
              </a:rPr>
              <a:t>18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7512" y="2103120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governed tables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86584" y="1627632"/>
            <a:ext cx="1627632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/>
        </p:spPr>
      </p:sp>
      <p:sp>
        <p:nvSpPr>
          <p:cNvPr id="10" name="Shape 8"/>
          <p:cNvSpPr/>
          <p:nvPr/>
        </p:nvSpPr>
        <p:spPr>
          <a:xfrm>
            <a:off x="2386584" y="1627632"/>
            <a:ext cx="64008" cy="822960"/>
          </a:xfrm>
          <a:prstGeom prst="rect">
            <a:avLst/>
          </a:prstGeom>
          <a:solidFill>
            <a:srgbClr val="24B47E"/>
          </a:solidFill>
          <a:ln w="12700">
            <a:solidFill>
              <a:srgbClr val="24B4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51176" y="17373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942"/>
                </a:solidFill>
              </a:rPr>
              <a:t>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51176" y="2103120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semantic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70248" y="1627632"/>
            <a:ext cx="1627632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/>
        </p:spPr>
      </p:sp>
      <p:sp>
        <p:nvSpPr>
          <p:cNvPr id="14" name="Shape 12"/>
          <p:cNvSpPr/>
          <p:nvPr/>
        </p:nvSpPr>
        <p:spPr>
          <a:xfrm>
            <a:off x="4270248" y="1627632"/>
            <a:ext cx="64008" cy="822960"/>
          </a:xfrm>
          <a:prstGeom prst="rect">
            <a:avLst/>
          </a:prstGeom>
          <a:solidFill>
            <a:srgbClr val="7157D9"/>
          </a:solidFill>
          <a:ln w="12700">
            <a:solidFill>
              <a:srgbClr val="715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7373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942"/>
                </a:solidFill>
              </a:rPr>
              <a:t>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34840" y="2103120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Cortex Agents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53912" y="1627632"/>
            <a:ext cx="1627632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/>
        </p:spPr>
      </p:sp>
      <p:sp>
        <p:nvSpPr>
          <p:cNvPr id="18" name="Shape 16"/>
          <p:cNvSpPr/>
          <p:nvPr/>
        </p:nvSpPr>
        <p:spPr>
          <a:xfrm>
            <a:off x="6153912" y="1627632"/>
            <a:ext cx="64008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504" y="17373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942"/>
                </a:solidFill>
              </a:rPr>
              <a:t>25+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18504" y="2103120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verified queries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037576" y="1627632"/>
            <a:ext cx="1627632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/>
        </p:spPr>
      </p:sp>
      <p:sp>
        <p:nvSpPr>
          <p:cNvPr id="22" name="Shape 20"/>
          <p:cNvSpPr/>
          <p:nvPr/>
        </p:nvSpPr>
        <p:spPr>
          <a:xfrm>
            <a:off x="8037576" y="1627632"/>
            <a:ext cx="64008" cy="822960"/>
          </a:xfrm>
          <a:prstGeom prst="rect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02168" y="17373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942"/>
                </a:solidFill>
              </a:rPr>
              <a:t>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02168" y="2103120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voice-enabled pages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921240" y="1627632"/>
            <a:ext cx="1627632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/>
        </p:spPr>
      </p:sp>
      <p:sp>
        <p:nvSpPr>
          <p:cNvPr id="26" name="Shape 24"/>
          <p:cNvSpPr/>
          <p:nvPr/>
        </p:nvSpPr>
        <p:spPr>
          <a:xfrm>
            <a:off x="9921240" y="1627632"/>
            <a:ext cx="64008" cy="822960"/>
          </a:xfrm>
          <a:prstGeom prst="rect">
            <a:avLst/>
          </a:prstGeom>
          <a:solidFill>
            <a:srgbClr val="EF5B5B"/>
          </a:solidFill>
          <a:ln w="12700">
            <a:solidFill>
              <a:srgbClr val="EF5B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85832" y="17373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942"/>
                </a:solidFill>
              </a:rPr>
              <a:t>1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085832" y="2103120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MCP connector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2798064"/>
            <a:ext cx="541324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07238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4748B"/>
                </a:solidFill>
              </a:rPr>
              <a:t>WHAT IS NOW DIFFERENT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49808" y="3566160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3465576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72B3A"/>
                </a:solidFill>
              </a:rPr>
              <a:t>Every page accepts voice input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9808" y="3877056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3776472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72B3A"/>
                </a:solidFill>
              </a:rPr>
              <a:t>Non-English prompts are translated automatically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49808" y="418795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4087368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72B3A"/>
                </a:solidFill>
              </a:rPr>
              <a:t>Users review translated text before sending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49808" y="4498848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4398264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72B3A"/>
                </a:solidFill>
              </a:rPr>
              <a:t>Agents receive a normalized English prompt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49808" y="480974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4709160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72B3A"/>
                </a:solidFill>
              </a:rPr>
              <a:t>Governance and citations stay intact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9808" y="5120640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5020056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72B3A"/>
                </a:solidFill>
              </a:rPr>
              <a:t>Insights can flow into Jira through MCP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72200" y="2798064"/>
            <a:ext cx="5513832" cy="2606040"/>
          </a:xfrm>
          <a:prstGeom prst="roundRect">
            <a:avLst>
              <a:gd name="adj" fmla="val 2456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46520" y="307238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0C7D9"/>
                </a:solidFill>
              </a:rPr>
              <a:t>PRODUCTION READINESS PATH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19088" y="3557016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0" y="3456432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</a:rPr>
              <a:t>Connect production sources via Openflow / CDC</a:t>
            </a:r>
            <a:endParaRPr lang="en-US" sz="940" dirty="0"/>
          </a:p>
        </p:txBody>
      </p:sp>
      <p:sp>
        <p:nvSpPr>
          <p:cNvPr id="47" name="Shape 45"/>
          <p:cNvSpPr/>
          <p:nvPr/>
        </p:nvSpPr>
        <p:spPr>
          <a:xfrm>
            <a:off x="6419088" y="3867912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767328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</a:rPr>
              <a:t>Benchmark agent quality with Cortex Evaluations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6419088" y="4178808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4078224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</a:rPr>
              <a:t>Harden network, MFA and audit controls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6419088" y="4489704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83680" y="4389120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</a:rPr>
              <a:t>Load test at production data volumes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6419088" y="4800600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0" y="4700016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</a:rPr>
              <a:t>Onboard role-based user cohorts</a:t>
            </a:r>
            <a:endParaRPr lang="en-US" sz="940" dirty="0"/>
          </a:p>
        </p:txBody>
      </p:sp>
      <p:sp>
        <p:nvSpPr>
          <p:cNvPr id="55" name="Shape 53"/>
          <p:cNvSpPr/>
          <p:nvPr/>
        </p:nvSpPr>
        <p:spPr>
          <a:xfrm>
            <a:off x="6419088" y="5111496"/>
            <a:ext cx="64008" cy="64008"/>
          </a:xfrm>
          <a:prstGeom prst="ellipse">
            <a:avLst/>
          </a:prstGeom>
          <a:solidFill>
            <a:srgbClr val="20C7D9"/>
          </a:solidFill>
          <a:ln w="12700">
            <a:solidFill>
              <a:srgbClr val="20C7D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83680" y="5010912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FFFFFF"/>
                </a:solidFill>
              </a:rPr>
              <a:t>Promote CI/CD from dev to staging to prod</a:t>
            </a:r>
            <a:endParaRPr lang="en-US" sz="940" dirty="0"/>
          </a:p>
        </p:txBody>
      </p:sp>
      <p:sp>
        <p:nvSpPr>
          <p:cNvPr id="57" name="Shape 55"/>
          <p:cNvSpPr/>
          <p:nvPr/>
        </p:nvSpPr>
        <p:spPr>
          <a:xfrm>
            <a:off x="502920" y="6144768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0B2942"/>
          </a:solidFill>
          <a:ln w="12700">
            <a:solidFill>
              <a:srgbClr val="0B29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800" y="6217920"/>
            <a:ext cx="10789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35" dirty="0">
                <a:solidFill>
                  <a:srgbClr val="FFFFFF"/>
                </a:solidFill>
              </a:rPr>
              <a:t>VOICE IN, INTELLIGENCE OUT — A GOVERNED, MULTILINGUAL AI HUB FOR INSURANCE</a:t>
            </a:r>
            <a:endParaRPr lang="en-US" sz="82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8368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1511</Words>
  <Application>Microsoft Office PowerPoint</Application>
  <PresentationFormat>Widescreen</PresentationFormat>
  <Paragraphs>381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Capgemini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AI Hub — Solution Architecture Deep Dive</dc:title>
  <dc:subject>Insurance AI Hub Architecture</dc:subject>
  <dc:creator>Agnihotri, Rakesh</dc:creator>
  <cp:lastModifiedBy>Agnihotri, Rakesh</cp:lastModifiedBy>
  <cp:revision>2</cp:revision>
  <dcterms:created xsi:type="dcterms:W3CDTF">2026-09-14T07:10:59Z</dcterms:created>
  <dcterms:modified xsi:type="dcterms:W3CDTF">2026-09-14T07:15:52Z</dcterms:modified>
</cp:coreProperties>
</file>